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 Light"/>
      <p:regular r:id="rId7"/>
      <p:bold r:id="rId8"/>
      <p:italic r:id="rId9"/>
      <p:boldItalic r:id="rId10"/>
    </p:embeddedFont>
    <p:embeddedFont>
      <p:font typeface="Inter"/>
      <p:regular r:id="rId11"/>
      <p:bold r:id="rId12"/>
      <p:italic r:id="rId13"/>
      <p:boldItalic r:id="rId14"/>
    </p:embeddedFont>
    <p:embeddedFont>
      <p:font typeface="Helvetica Neue"/>
      <p:regular r:id="rId15"/>
      <p:bold r:id="rId16"/>
      <p:italic r:id="rId17"/>
      <p:boldItalic r:id="rId18"/>
    </p:embeddedFont>
    <p:embeddedFont>
      <p:font typeface="Helvetica Neue Ligh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.fntdata"/><Relationship Id="rId11" Type="http://schemas.openxmlformats.org/officeDocument/2006/relationships/font" Target="fonts/Inter-regular.fntdata"/><Relationship Id="rId22" Type="http://schemas.openxmlformats.org/officeDocument/2006/relationships/font" Target="fonts/HelveticaNeueLight-boldItalic.fntdata"/><Relationship Id="rId10" Type="http://schemas.openxmlformats.org/officeDocument/2006/relationships/font" Target="fonts/InterLight-boldItalic.fntdata"/><Relationship Id="rId21" Type="http://schemas.openxmlformats.org/officeDocument/2006/relationships/font" Target="fonts/HelveticaNeueLight-italic.fntdata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Light-italic.fntdata"/><Relationship Id="rId15" Type="http://schemas.openxmlformats.org/officeDocument/2006/relationships/font" Target="fonts/HelveticaNeue-regular.fntdata"/><Relationship Id="rId14" Type="http://schemas.openxmlformats.org/officeDocument/2006/relationships/font" Target="fonts/Inter-boldItalic.fntdata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Light-regular.fntdata"/><Relationship Id="rId6" Type="http://schemas.openxmlformats.org/officeDocument/2006/relationships/slide" Target="slides/slide1.xml"/><Relationship Id="rId18" Type="http://schemas.openxmlformats.org/officeDocument/2006/relationships/font" Target="fonts/HelveticaNeue-boldItalic.fntdata"/><Relationship Id="rId7" Type="http://schemas.openxmlformats.org/officeDocument/2006/relationships/font" Target="fonts/InterLight-regular.fntdata"/><Relationship Id="rId8" Type="http://schemas.openxmlformats.org/officeDocument/2006/relationships/font" Target="fonts/Inter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699a63006_5_2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699a63006_5_2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 3 1">
  <p:cSld name="Text Content_4_1_2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3908119" y="4849763"/>
            <a:ext cx="1077000" cy="11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/Column slide 1">
  <p:cSld name="CUSTOM_1_1_1_1_1_1_1_3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11;p3"/>
          <p:cNvCxnSpPr/>
          <p:nvPr/>
        </p:nvCxnSpPr>
        <p:spPr>
          <a:xfrm>
            <a:off x="466781" y="817685"/>
            <a:ext cx="403800" cy="0"/>
          </a:xfrm>
          <a:prstGeom prst="straightConnector1">
            <a:avLst/>
          </a:prstGeom>
          <a:noFill/>
          <a:ln cap="flat" cmpd="sng" w="5397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3"/>
          <p:cNvSpPr txBox="1"/>
          <p:nvPr>
            <p:ph type="title"/>
          </p:nvPr>
        </p:nvSpPr>
        <p:spPr>
          <a:xfrm>
            <a:off x="359288" y="201863"/>
            <a:ext cx="8717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2300"/>
              <a:buFont typeface="Inter Light"/>
              <a:buNone/>
              <a:defRPr b="0" i="0" sz="2300" u="none" cap="none" strike="noStrike">
                <a:solidFill>
                  <a:srgbClr val="1C43B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246495" y="47019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Blue  1" showMasterSp="0">
  <p:cSld name="Section Title Blue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/>
        </p:nvSpPr>
        <p:spPr>
          <a:xfrm>
            <a:off x="3785472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© IDfy 2025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"/>
          <p:cNvSpPr txBox="1"/>
          <p:nvPr>
            <p:ph type="title"/>
          </p:nvPr>
        </p:nvSpPr>
        <p:spPr>
          <a:xfrm>
            <a:off x="299873" y="926175"/>
            <a:ext cx="5622600" cy="1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Helvetica Neue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ingle line 1">
  <p:cSld name="Text Content_4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5"/>
          <p:cNvCxnSpPr/>
          <p:nvPr/>
        </p:nvCxnSpPr>
        <p:spPr>
          <a:xfrm>
            <a:off x="353406" y="2989256"/>
            <a:ext cx="561300" cy="0"/>
          </a:xfrm>
          <a:prstGeom prst="straightConnector1">
            <a:avLst/>
          </a:prstGeom>
          <a:noFill/>
          <a:ln cap="flat" cmpd="sng" w="4047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5"/>
          <p:cNvSpPr txBox="1"/>
          <p:nvPr>
            <p:ph type="title"/>
          </p:nvPr>
        </p:nvSpPr>
        <p:spPr>
          <a:xfrm>
            <a:off x="353400" y="1992394"/>
            <a:ext cx="71088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1C43B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335194" y="3033919"/>
            <a:ext cx="41466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1100"/>
              <a:buFont typeface="Inter Light"/>
              <a:buNone/>
              <a:defRPr b="0" i="0" sz="1100" u="none" cap="none" strike="noStrike">
                <a:solidFill>
                  <a:srgbClr val="CE1010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46495" y="48162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5" title="IDfy red.png"/>
          <p:cNvPicPr preferRelativeResize="0"/>
          <p:nvPr/>
        </p:nvPicPr>
        <p:blipFill rotWithShape="1">
          <a:blip r:embed="rId2">
            <a:alphaModFix/>
          </a:blip>
          <a:srcRect b="0" l="4137" r="4137" t="0"/>
          <a:stretch/>
        </p:blipFill>
        <p:spPr>
          <a:xfrm>
            <a:off x="278044" y="226069"/>
            <a:ext cx="966226" cy="62235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/>
        </p:nvSpPr>
        <p:spPr>
          <a:xfrm>
            <a:off x="278044" y="4446563"/>
            <a:ext cx="2641200" cy="30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marR="0" rtl="0" algn="l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Trust Matters</a:t>
            </a:r>
            <a:r>
              <a:rPr b="1" i="0" lang="en" sz="1100" u="none" cap="none" strike="noStrike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 i="0" sz="1100" u="none" cap="none" strike="noStrike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8" showMasterSp="0">
  <p:cSld name="Chart with text_14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/>
          <p:nvPr>
            <p:ph type="title"/>
          </p:nvPr>
        </p:nvSpPr>
        <p:spPr>
          <a:xfrm>
            <a:off x="45504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455044" y="1281600"/>
            <a:ext cx="7550400" cy="3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7"/>
          <p:cNvSpPr txBox="1"/>
          <p:nvPr/>
        </p:nvSpPr>
        <p:spPr>
          <a:xfrm>
            <a:off x="3768503" y="4826597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 6">
  <p:cSld name="Text Content_7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05991" y="273844"/>
            <a:ext cx="79863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409012" y="1369219"/>
            <a:ext cx="79803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1pPr>
            <a:lvl2pPr indent="-317500" lvl="1" marL="9144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2pPr>
            <a:lvl3pPr indent="-317500" lvl="2" marL="1371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3pPr>
            <a:lvl4pPr indent="-317500" lvl="3" marL="18288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4pPr>
            <a:lvl5pPr indent="-317500" lvl="4" marL="22860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5pPr>
            <a:lvl6pPr indent="-317500" lvl="5" marL="2743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6pPr>
            <a:lvl7pPr indent="-317500" lvl="6" marL="32004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7pPr>
            <a:lvl8pPr indent="-317500" lvl="7" marL="3657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8pPr>
            <a:lvl9pPr indent="-317500" lvl="8" marL="41148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 3 2">
  <p:cSld name="Text Content_4_9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05991" y="273844"/>
            <a:ext cx="79863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409012" y="1369219"/>
            <a:ext cx="79803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1pPr>
            <a:lvl2pPr indent="-317500" lvl="1" marL="9144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2pPr>
            <a:lvl3pPr indent="-317500" lvl="2" marL="1371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3pPr>
            <a:lvl4pPr indent="-317500" lvl="3" marL="18288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4pPr>
            <a:lvl5pPr indent="-317500" lvl="4" marL="22860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5pPr>
            <a:lvl6pPr indent="-317500" lvl="5" marL="2743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6pPr>
            <a:lvl7pPr indent="-317500" lvl="6" marL="32004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7pPr>
            <a:lvl8pPr indent="-317500" lvl="7" marL="3657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8pPr>
            <a:lvl9pPr indent="-317500" lvl="8" marL="41148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 sz="1100"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6 3" showMasterSp="0">
  <p:cSld name="Chart with text_13_3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10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 txBox="1"/>
          <p:nvPr>
            <p:ph type="title"/>
          </p:nvPr>
        </p:nvSpPr>
        <p:spPr>
          <a:xfrm>
            <a:off x="45504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455044" y="1281600"/>
            <a:ext cx="7550400" cy="3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5 2" showMasterSp="0">
  <p:cSld name="Chart with text_4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1"/>
          <p:cNvSpPr txBox="1"/>
          <p:nvPr/>
        </p:nvSpPr>
        <p:spPr>
          <a:xfrm>
            <a:off x="3787628" y="4826709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</a:t>
            </a:r>
            <a:r>
              <a:rPr lang="en" sz="600">
                <a:solidFill>
                  <a:srgbClr val="808080"/>
                </a:solidFill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" name="Google Shape;5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/>
          <p:nvPr>
            <p:ph type="title"/>
          </p:nvPr>
        </p:nvSpPr>
        <p:spPr>
          <a:xfrm>
            <a:off x="455044" y="215100"/>
            <a:ext cx="72927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455044" y="1281600"/>
            <a:ext cx="7550400" cy="3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7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gular slide 1">
  <p:cSld name="CUSTOM_1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466781" y="817685"/>
            <a:ext cx="403800" cy="0"/>
          </a:xfrm>
          <a:prstGeom prst="straightConnector1">
            <a:avLst/>
          </a:prstGeom>
          <a:noFill/>
          <a:ln cap="flat" cmpd="sng" w="4047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blue circle with black background&#10;&#10;Description automatically generated" id="56" name="Google Shape;56;p12"/>
          <p:cNvPicPr preferRelativeResize="0"/>
          <p:nvPr/>
        </p:nvPicPr>
        <p:blipFill rotWithShape="1">
          <a:blip r:embed="rId2">
            <a:alphaModFix/>
          </a:blip>
          <a:srcRect b="0" l="62566" r="0" t="0"/>
          <a:stretch/>
        </p:blipFill>
        <p:spPr>
          <a:xfrm>
            <a:off x="0" y="3318581"/>
            <a:ext cx="530963" cy="1418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2"/>
          <p:cNvSpPr txBox="1"/>
          <p:nvPr>
            <p:ph type="title"/>
          </p:nvPr>
        </p:nvSpPr>
        <p:spPr>
          <a:xfrm>
            <a:off x="359288" y="201863"/>
            <a:ext cx="8717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2300"/>
              <a:buFont typeface="Inter Light"/>
              <a:buNone/>
              <a:defRPr b="0" sz="2300">
                <a:solidFill>
                  <a:srgbClr val="1C43B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246495" y="47019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1">
  <p:cSld name="Text Conte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405994" y="162638"/>
            <a:ext cx="70278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100"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413986" y="1051575"/>
            <a:ext cx="75618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17500" lvl="0" marL="457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184779" y="4803520"/>
            <a:ext cx="2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gular slide 2">
  <p:cSld name="CUSTOM_1_1_1_1_1_1_3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4"/>
          <p:cNvCxnSpPr/>
          <p:nvPr/>
        </p:nvCxnSpPr>
        <p:spPr>
          <a:xfrm>
            <a:off x="466781" y="817685"/>
            <a:ext cx="403800" cy="0"/>
          </a:xfrm>
          <a:prstGeom prst="straightConnector1">
            <a:avLst/>
          </a:prstGeom>
          <a:noFill/>
          <a:ln cap="flat" cmpd="sng" w="4047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6" name="Google Shape;6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dots in a circle&#10;&#10;Description automatically generated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-363" r="75637" t="0"/>
          <a:stretch/>
        </p:blipFill>
        <p:spPr>
          <a:xfrm rot="10800000">
            <a:off x="4" y="2812704"/>
            <a:ext cx="502875" cy="2033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dots in a circle&#10;&#10;Description automatically generated" id="68" name="Google Shape;68;p14"/>
          <p:cNvPicPr preferRelativeResize="0"/>
          <p:nvPr/>
        </p:nvPicPr>
        <p:blipFill rotWithShape="1">
          <a:blip r:embed="rId3">
            <a:alphaModFix/>
          </a:blip>
          <a:srcRect b="0" l="-363" r="75637" t="0"/>
          <a:stretch/>
        </p:blipFill>
        <p:spPr>
          <a:xfrm flipH="1" rot="10800000">
            <a:off x="8632714" y="895584"/>
            <a:ext cx="511294" cy="203371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>
            <p:ph type="title"/>
          </p:nvPr>
        </p:nvSpPr>
        <p:spPr>
          <a:xfrm>
            <a:off x="359288" y="201863"/>
            <a:ext cx="8717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2300"/>
              <a:buFont typeface="Inter Light"/>
              <a:buNone/>
              <a:defRPr b="0" sz="2300">
                <a:solidFill>
                  <a:srgbClr val="1C43B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246495" y="47019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 4">
  <p:cSld name="Text Content_14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455044" y="386549"/>
            <a:ext cx="7392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455044" y="1510200"/>
            <a:ext cx="8191500" cy="3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lv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1pPr>
            <a:lvl2pPr lvl="1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2pPr>
            <a:lvl3pPr lvl="2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3pPr>
            <a:lvl4pPr lvl="3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4pPr>
            <a:lvl5pPr lvl="4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5pPr>
            <a:lvl6pPr lvl="5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6pPr>
            <a:lvl7pPr lvl="6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7pPr>
            <a:lvl8pPr lvl="7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8pPr>
            <a:lvl9pPr lvl="8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5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gular slide 2 1">
  <p:cSld name="CUSTOM_1_1_1_1_1_1_4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76;p16"/>
          <p:cNvCxnSpPr/>
          <p:nvPr/>
        </p:nvCxnSpPr>
        <p:spPr>
          <a:xfrm>
            <a:off x="466781" y="817685"/>
            <a:ext cx="403800" cy="0"/>
          </a:xfrm>
          <a:prstGeom prst="straightConnector1">
            <a:avLst/>
          </a:prstGeom>
          <a:noFill/>
          <a:ln cap="flat" cmpd="sng" w="4047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7" name="Google Shape;77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dots in a circle&#10;&#10;Description automatically generated" id="78" name="Google Shape;78;p16"/>
          <p:cNvPicPr preferRelativeResize="0"/>
          <p:nvPr/>
        </p:nvPicPr>
        <p:blipFill rotWithShape="1">
          <a:blip r:embed="rId3">
            <a:alphaModFix/>
          </a:blip>
          <a:srcRect b="0" l="-363" r="75637" t="0"/>
          <a:stretch/>
        </p:blipFill>
        <p:spPr>
          <a:xfrm rot="10800000">
            <a:off x="4" y="2812704"/>
            <a:ext cx="502875" cy="2033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dots in a circle&#10;&#10;Description automatically generated" id="79" name="Google Shape;79;p16"/>
          <p:cNvPicPr preferRelativeResize="0"/>
          <p:nvPr/>
        </p:nvPicPr>
        <p:blipFill rotWithShape="1">
          <a:blip r:embed="rId3">
            <a:alphaModFix/>
          </a:blip>
          <a:srcRect b="0" l="-363" r="75637" t="0"/>
          <a:stretch/>
        </p:blipFill>
        <p:spPr>
          <a:xfrm flipH="1" rot="10800000">
            <a:off x="8632714" y="895584"/>
            <a:ext cx="511294" cy="203371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>
            <p:ph type="title"/>
          </p:nvPr>
        </p:nvSpPr>
        <p:spPr>
          <a:xfrm>
            <a:off x="359288" y="201863"/>
            <a:ext cx="8717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2300"/>
              <a:buFont typeface="Inter Light"/>
              <a:buNone/>
              <a:defRPr b="0" sz="2300">
                <a:solidFill>
                  <a:srgbClr val="1C43B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246495" y="47019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Content 3">
  <p:cSld name="Text Content_4_1_3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3908119" y="4849763"/>
            <a:ext cx="1077000" cy="111300"/>
          </a:xfrm>
          <a:prstGeom prst="rect">
            <a:avLst/>
          </a:prstGeom>
          <a:solidFill>
            <a:schemeClr val="lt1"/>
          </a:solidFill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768503" y="4826597"/>
            <a:ext cx="135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Confidential © IDfy 2025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  1">
  <p:cSld name="Text Content_2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455044" y="386549"/>
            <a:ext cx="73923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131944" y="4803525"/>
            <a:ext cx="32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1010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CE101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455044" y="1510200"/>
            <a:ext cx="8191500" cy="3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gular slide 3">
  <p:cSld name="CUSTOM_1_1_1_1_1_1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19"/>
          <p:cNvCxnSpPr/>
          <p:nvPr/>
        </p:nvCxnSpPr>
        <p:spPr>
          <a:xfrm>
            <a:off x="466781" y="817685"/>
            <a:ext cx="403800" cy="0"/>
          </a:xfrm>
          <a:prstGeom prst="straightConnector1">
            <a:avLst/>
          </a:prstGeom>
          <a:noFill/>
          <a:ln cap="flat" cmpd="sng" w="40475">
            <a:solidFill>
              <a:srgbClr val="CE101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9698" y="165093"/>
            <a:ext cx="528553" cy="34044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>
            <p:ph type="title"/>
          </p:nvPr>
        </p:nvSpPr>
        <p:spPr>
          <a:xfrm>
            <a:off x="359288" y="201863"/>
            <a:ext cx="8717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2300"/>
              <a:buFont typeface="Inter Light"/>
              <a:buNone/>
              <a:defRPr b="0" sz="2300">
                <a:solidFill>
                  <a:srgbClr val="1C43B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grpSp>
        <p:nvGrpSpPr>
          <p:cNvPr id="94" name="Google Shape;94;p19"/>
          <p:cNvGrpSpPr/>
          <p:nvPr/>
        </p:nvGrpSpPr>
        <p:grpSpPr>
          <a:xfrm rot="-5400000">
            <a:off x="-4703767" y="1197097"/>
            <a:ext cx="9621181" cy="279330"/>
            <a:chOff x="210" y="0"/>
            <a:chExt cx="12828241" cy="372440"/>
          </a:xfrm>
        </p:grpSpPr>
        <p:pic>
          <p:nvPicPr>
            <p:cNvPr descr="A black background with blue dots&#10;&#10;Description automatically generated" id="95" name="Google Shape;95;p19"/>
            <p:cNvPicPr preferRelativeResize="0"/>
            <p:nvPr/>
          </p:nvPicPr>
          <p:blipFill rotWithShape="1">
            <a:blip r:embed="rId3">
              <a:alphaModFix/>
            </a:blip>
            <a:srcRect b="0" l="0" r="0" t="78799"/>
            <a:stretch/>
          </p:blipFill>
          <p:spPr>
            <a:xfrm>
              <a:off x="210" y="0"/>
              <a:ext cx="1756826" cy="37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blue dots&#10;&#10;Description automatically generated" id="96" name="Google Shape;96;p19"/>
            <p:cNvPicPr preferRelativeResize="0"/>
            <p:nvPr/>
          </p:nvPicPr>
          <p:blipFill rotWithShape="1">
            <a:blip r:embed="rId3">
              <a:alphaModFix/>
            </a:blip>
            <a:srcRect b="0" l="0" r="0" t="78799"/>
            <a:stretch/>
          </p:blipFill>
          <p:spPr>
            <a:xfrm>
              <a:off x="1845564" y="0"/>
              <a:ext cx="1756826" cy="37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blue dots&#10;&#10;Description automatically generated" id="97" name="Google Shape;97;p19"/>
            <p:cNvPicPr preferRelativeResize="0"/>
            <p:nvPr/>
          </p:nvPicPr>
          <p:blipFill rotWithShape="1">
            <a:blip r:embed="rId3">
              <a:alphaModFix/>
            </a:blip>
            <a:srcRect b="0" l="0" r="0" t="78799"/>
            <a:stretch/>
          </p:blipFill>
          <p:spPr>
            <a:xfrm>
              <a:off x="3692979" y="0"/>
              <a:ext cx="1756826" cy="37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blue dots&#10;&#10;Description automatically generated" id="98" name="Google Shape;98;p19"/>
            <p:cNvPicPr preferRelativeResize="0"/>
            <p:nvPr/>
          </p:nvPicPr>
          <p:blipFill rotWithShape="1">
            <a:blip r:embed="rId3">
              <a:alphaModFix/>
            </a:blip>
            <a:srcRect b="0" l="0" r="0" t="78799"/>
            <a:stretch/>
          </p:blipFill>
          <p:spPr>
            <a:xfrm>
              <a:off x="5538333" y="0"/>
              <a:ext cx="1756826" cy="37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blue dots&#10;&#10;Description automatically generated" id="99" name="Google Shape;99;p19"/>
            <p:cNvPicPr preferRelativeResize="0"/>
            <p:nvPr/>
          </p:nvPicPr>
          <p:blipFill rotWithShape="1">
            <a:blip r:embed="rId3">
              <a:alphaModFix/>
            </a:blip>
            <a:srcRect b="0" l="0" r="0" t="78799"/>
            <a:stretch/>
          </p:blipFill>
          <p:spPr>
            <a:xfrm>
              <a:off x="7385748" y="0"/>
              <a:ext cx="1756826" cy="37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blue dots&#10;&#10;Description automatically generated" id="100" name="Google Shape;100;p19"/>
            <p:cNvPicPr preferRelativeResize="0"/>
            <p:nvPr/>
          </p:nvPicPr>
          <p:blipFill rotWithShape="1">
            <a:blip r:embed="rId3">
              <a:alphaModFix/>
            </a:blip>
            <a:srcRect b="0" l="0" r="0" t="78799"/>
            <a:stretch/>
          </p:blipFill>
          <p:spPr>
            <a:xfrm>
              <a:off x="9231102" y="0"/>
              <a:ext cx="1756826" cy="372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black background with blue dots&#10;&#10;Description automatically generated" id="101" name="Google Shape;101;p19"/>
            <p:cNvPicPr preferRelativeResize="0"/>
            <p:nvPr/>
          </p:nvPicPr>
          <p:blipFill rotWithShape="1">
            <a:blip r:embed="rId3">
              <a:alphaModFix/>
            </a:blip>
            <a:srcRect b="0" l="0" r="0" t="78799"/>
            <a:stretch/>
          </p:blipFill>
          <p:spPr>
            <a:xfrm>
              <a:off x="11071625" y="0"/>
              <a:ext cx="1756826" cy="372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246495" y="47019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buNone/>
              <a:defRPr b="1" sz="1100">
                <a:solidFill>
                  <a:srgbClr val="CE101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>
            <a:off x="4795988" y="1029281"/>
            <a:ext cx="4102500" cy="3973800"/>
          </a:xfrm>
          <a:prstGeom prst="roundRect">
            <a:avLst>
              <a:gd fmla="val 11469" name="adj"/>
            </a:avLst>
          </a:prstGeom>
          <a:noFill/>
          <a:ln cap="flat" cmpd="sng" w="14300">
            <a:solidFill>
              <a:srgbClr val="CC01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511350" y="1908543"/>
            <a:ext cx="3703800" cy="3094500"/>
          </a:xfrm>
          <a:prstGeom prst="roundRect">
            <a:avLst>
              <a:gd fmla="val 11469" name="adj"/>
            </a:avLst>
          </a:prstGeom>
          <a:noFill/>
          <a:ln cap="flat" cmpd="sng" w="14300">
            <a:solidFill>
              <a:srgbClr val="CC01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568500" y="1029281"/>
            <a:ext cx="3586500" cy="468600"/>
          </a:xfrm>
          <a:prstGeom prst="roundRect">
            <a:avLst>
              <a:gd fmla="val 11469" name="adj"/>
            </a:avLst>
          </a:prstGeom>
          <a:noFill/>
          <a:ln cap="flat" cmpd="sng" w="14300">
            <a:solidFill>
              <a:srgbClr val="CC01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667622" y="1152186"/>
            <a:ext cx="3395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Merchant to share website link</a:t>
            </a:r>
            <a:endParaRPr b="1"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430238" y="171975"/>
            <a:ext cx="84282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02272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Online Merchants : Risk Signals through </a:t>
            </a:r>
            <a:r>
              <a:rPr b="1" lang="en" sz="2000">
                <a:latin typeface="Helvetica Neue"/>
                <a:ea typeface="Helvetica Neue"/>
                <a:cs typeface="Helvetica Neue"/>
                <a:sym typeface="Helvetica Neue"/>
              </a:rPr>
              <a:t>Website Scan</a:t>
            </a:r>
            <a:endParaRPr b="1"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1936013" y="897956"/>
            <a:ext cx="857700" cy="27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Input</a:t>
            </a:r>
            <a:endParaRPr b="1" i="1"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21"/>
          <p:cNvSpPr/>
          <p:nvPr/>
        </p:nvSpPr>
        <p:spPr>
          <a:xfrm>
            <a:off x="602869" y="3474404"/>
            <a:ext cx="132300" cy="136200"/>
          </a:xfrm>
          <a:prstGeom prst="ellipse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802669" y="3552122"/>
            <a:ext cx="37038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18" name="Google Shape;118;p21"/>
          <p:cNvCxnSpPr>
            <a:stCxn id="119" idx="0"/>
            <a:endCxn id="116" idx="0"/>
          </p:cNvCxnSpPr>
          <p:nvPr/>
        </p:nvCxnSpPr>
        <p:spPr>
          <a:xfrm>
            <a:off x="669019" y="2147487"/>
            <a:ext cx="0" cy="1326900"/>
          </a:xfrm>
          <a:prstGeom prst="straightConnector1">
            <a:avLst/>
          </a:prstGeom>
          <a:noFill/>
          <a:ln cap="flat" cmpd="sng" w="7150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9" name="Google Shape;119;p21"/>
          <p:cNvSpPr/>
          <p:nvPr/>
        </p:nvSpPr>
        <p:spPr>
          <a:xfrm>
            <a:off x="602869" y="2147487"/>
            <a:ext cx="132300" cy="136200"/>
          </a:xfrm>
          <a:prstGeom prst="ellipse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802669" y="2040703"/>
            <a:ext cx="41025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Website Compliance checks </a:t>
            </a:r>
            <a:r>
              <a:rPr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342900" rtl="0" algn="l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1100"/>
              <a:buFont typeface="Inter"/>
              <a:buChar char="-"/>
            </a:pPr>
            <a:r>
              <a:rPr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As per IT Act, check for liveness, </a:t>
            </a:r>
            <a:endParaRPr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Redirection</a:t>
            </a:r>
            <a:endParaRPr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602869" y="2833287"/>
            <a:ext cx="132300" cy="136200"/>
          </a:xfrm>
          <a:prstGeom prst="ellipse">
            <a:avLst/>
          </a:prstGeom>
          <a:solidFill>
            <a:srgbClr val="1C43B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802669" y="2714709"/>
            <a:ext cx="303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MCC Prediction </a:t>
            </a:r>
            <a:endParaRPr b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342900" rtl="0" algn="l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1100"/>
              <a:buFont typeface="Inter"/>
              <a:buChar char="-"/>
            </a:pPr>
            <a:r>
              <a:rPr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Establish Line of Business - top 2 MCC from directory of 400+ codes </a:t>
            </a:r>
            <a:r>
              <a:rPr b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802669" y="3378825"/>
            <a:ext cx="303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Risk Checks</a:t>
            </a:r>
            <a:endParaRPr b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342900" rtl="0" algn="l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1100"/>
              <a:buFont typeface="Inter"/>
              <a:buChar char="-"/>
            </a:pPr>
            <a:r>
              <a:rPr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Basics of Website : Home Page, Contact Us, Policy etc.</a:t>
            </a:r>
            <a:endParaRPr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342900" rtl="0" algn="l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1100"/>
              <a:buFont typeface="Inter"/>
              <a:buChar char="-"/>
            </a:pPr>
            <a:r>
              <a:rPr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Business Specific context on website</a:t>
            </a:r>
            <a:endParaRPr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342900" rtl="0" algn="l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1100"/>
              <a:buFont typeface="Inter"/>
              <a:buChar char="-"/>
            </a:pPr>
            <a:r>
              <a:rPr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Restricted words and contraband items</a:t>
            </a:r>
            <a:endParaRPr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34950" lvl="0" marL="342900" rtl="0" algn="l">
              <a:spcBef>
                <a:spcPts val="0"/>
              </a:spcBef>
              <a:spcAft>
                <a:spcPts val="0"/>
              </a:spcAft>
              <a:buClr>
                <a:srgbClr val="1C43B9"/>
              </a:buClr>
              <a:buSzPts val="1100"/>
              <a:buFont typeface="Inter"/>
              <a:buChar char="-"/>
            </a:pPr>
            <a:r>
              <a:rPr i="1" lang="en" sz="1100">
                <a:solidFill>
                  <a:srgbClr val="1C43B9"/>
                </a:solidFill>
                <a:latin typeface="Inter"/>
                <a:ea typeface="Inter"/>
                <a:cs typeface="Inter"/>
                <a:sym typeface="Inter"/>
              </a:rPr>
              <a:t>Potential impersonation</a:t>
            </a:r>
            <a:endParaRPr i="1" sz="1100">
              <a:solidFill>
                <a:srgbClr val="1C43B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6402600" y="897956"/>
            <a:ext cx="937200" cy="27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Output </a:t>
            </a:r>
            <a:endParaRPr b="1"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1209246" y="1781156"/>
            <a:ext cx="2223600" cy="271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IDfy’s Decisioning  Model</a:t>
            </a:r>
            <a:endParaRPr b="1" i="1"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9878" r="10070" t="9975"/>
          <a:stretch/>
        </p:blipFill>
        <p:spPr>
          <a:xfrm>
            <a:off x="4972594" y="1778481"/>
            <a:ext cx="3703726" cy="232009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 rot="5400000">
            <a:off x="3631132" y="2637806"/>
            <a:ext cx="1865400" cy="153600"/>
          </a:xfrm>
          <a:prstGeom prst="triangle">
            <a:avLst>
              <a:gd fmla="val 50915" name="adj"/>
            </a:avLst>
          </a:prstGeom>
          <a:solidFill>
            <a:srgbClr val="80808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8" name="Google Shape;128;p21"/>
          <p:cNvSpPr/>
          <p:nvPr/>
        </p:nvSpPr>
        <p:spPr>
          <a:xfrm rot="10800000">
            <a:off x="1429282" y="1600318"/>
            <a:ext cx="1865100" cy="153600"/>
          </a:xfrm>
          <a:prstGeom prst="triangle">
            <a:avLst>
              <a:gd fmla="val 50915" name="adj"/>
            </a:avLst>
          </a:prstGeom>
          <a:solidFill>
            <a:srgbClr val="808080"/>
          </a:solidFill>
          <a:ln>
            <a:noFill/>
          </a:ln>
        </p:spPr>
        <p:txBody>
          <a:bodyPr anchorCtr="0" anchor="ctr" bIns="51425" lIns="51425" spcFirstLastPara="1" rIns="51425" wrap="square" tIns="5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