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91" r:id="rId6"/>
    <p:sldMasterId id="2147483792" r:id="rId7"/>
    <p:sldMasterId id="2147483793" r:id="rId8"/>
    <p:sldMasterId id="2147483794" r:id="rId9"/>
    <p:sldMasterId id="2147483795" r:id="rId10"/>
    <p:sldMasterId id="214748379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</p:sldIdLst>
  <p:sldSz cy="5143500" cx="9144000"/>
  <p:notesSz cx="6858000" cy="9144000"/>
  <p:embeddedFontLst>
    <p:embeddedFont>
      <p:font typeface="Roboto"/>
      <p:regular r:id="rId101"/>
      <p:bold r:id="rId102"/>
      <p:italic r:id="rId103"/>
      <p:boldItalic r:id="rId104"/>
    </p:embeddedFont>
    <p:embeddedFont>
      <p:font typeface="Tahoma"/>
      <p:regular r:id="rId105"/>
      <p:bold r:id="rId106"/>
    </p:embeddedFont>
    <p:embeddedFont>
      <p:font typeface="Helvetica Neue"/>
      <p:regular r:id="rId107"/>
      <p:bold r:id="rId108"/>
      <p:italic r:id="rId109"/>
      <p:boldItalic r:id="rId110"/>
    </p:embeddedFont>
    <p:embeddedFont>
      <p:font typeface="Helvetica Neue Light"/>
      <p:regular r:id="rId111"/>
      <p:bold r:id="rId112"/>
      <p:italic r:id="rId113"/>
      <p:boldItalic r:id="rId1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darsh Ravindra"/>
  <p:cmAuthor clrIdx="1" id="1" initials="" lastIdx="4" name="Vivek Singh"/>
  <p:cmAuthor clrIdx="2" id="2" initials="" lastIdx="2" name="Shivam Bangi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4D7E3E-E010-427D-B9FD-51E2891AF019}">
  <a:tblStyle styleId="{104D7E3E-E010-427D-B9FD-51E2891AF0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23733C8-E407-47DE-8A6F-B6DA574A500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8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107" Type="http://schemas.openxmlformats.org/officeDocument/2006/relationships/font" Target="fonts/HelveticaNeue-regular.fntdata"/><Relationship Id="rId106" Type="http://schemas.openxmlformats.org/officeDocument/2006/relationships/font" Target="fonts/Tahoma-bold.fntdata"/><Relationship Id="rId105" Type="http://schemas.openxmlformats.org/officeDocument/2006/relationships/font" Target="fonts/Tahoma-regular.fntdata"/><Relationship Id="rId104" Type="http://schemas.openxmlformats.org/officeDocument/2006/relationships/font" Target="fonts/Roboto-boldItalic.fntdata"/><Relationship Id="rId109" Type="http://schemas.openxmlformats.org/officeDocument/2006/relationships/font" Target="fonts/HelveticaNeue-italic.fntdata"/><Relationship Id="rId108" Type="http://schemas.openxmlformats.org/officeDocument/2006/relationships/font" Target="fonts/HelveticaNeue-bold.fntdata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9" Type="http://schemas.openxmlformats.org/officeDocument/2006/relationships/slide" Target="slides/slide37.xml"/><Relationship Id="rId103" Type="http://schemas.openxmlformats.org/officeDocument/2006/relationships/font" Target="fonts/Roboto-italic.fntdata"/><Relationship Id="rId102" Type="http://schemas.openxmlformats.org/officeDocument/2006/relationships/font" Target="fonts/Roboto-bold.fntdata"/><Relationship Id="rId101" Type="http://schemas.openxmlformats.org/officeDocument/2006/relationships/font" Target="fonts/Roboto-regular.fntdata"/><Relationship Id="rId100" Type="http://schemas.openxmlformats.org/officeDocument/2006/relationships/slide" Target="slides/slide88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9" Type="http://schemas.openxmlformats.org/officeDocument/2006/relationships/slide" Target="slides/slide17.xml"/><Relationship Id="rId95" Type="http://schemas.openxmlformats.org/officeDocument/2006/relationships/slide" Target="slides/slide83.xml"/><Relationship Id="rId94" Type="http://schemas.openxmlformats.org/officeDocument/2006/relationships/slide" Target="slides/slide82.xml"/><Relationship Id="rId97" Type="http://schemas.openxmlformats.org/officeDocument/2006/relationships/slide" Target="slides/slide85.xml"/><Relationship Id="rId96" Type="http://schemas.openxmlformats.org/officeDocument/2006/relationships/slide" Target="slides/slide84.xml"/><Relationship Id="rId11" Type="http://schemas.openxmlformats.org/officeDocument/2006/relationships/slideMaster" Target="slideMasters/slideMaster6.xml"/><Relationship Id="rId99" Type="http://schemas.openxmlformats.org/officeDocument/2006/relationships/slide" Target="slides/slide87.xml"/><Relationship Id="rId10" Type="http://schemas.openxmlformats.org/officeDocument/2006/relationships/slideMaster" Target="slideMasters/slideMaster5.xml"/><Relationship Id="rId98" Type="http://schemas.openxmlformats.org/officeDocument/2006/relationships/slide" Target="slides/slide86.xml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91" Type="http://schemas.openxmlformats.org/officeDocument/2006/relationships/slide" Target="slides/slide79.xml"/><Relationship Id="rId90" Type="http://schemas.openxmlformats.org/officeDocument/2006/relationships/slide" Target="slides/slide78.xml"/><Relationship Id="rId93" Type="http://schemas.openxmlformats.org/officeDocument/2006/relationships/slide" Target="slides/slide81.xml"/><Relationship Id="rId92" Type="http://schemas.openxmlformats.org/officeDocument/2006/relationships/slide" Target="slides/slide80.xml"/><Relationship Id="rId15" Type="http://schemas.openxmlformats.org/officeDocument/2006/relationships/slide" Target="slides/slide3.xml"/><Relationship Id="rId110" Type="http://schemas.openxmlformats.org/officeDocument/2006/relationships/font" Target="fonts/HelveticaNeue-boldItalic.fntdata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14" Type="http://schemas.openxmlformats.org/officeDocument/2006/relationships/font" Target="fonts/HelveticaNeueLight-boldItalic.fntdata"/><Relationship Id="rId18" Type="http://schemas.openxmlformats.org/officeDocument/2006/relationships/slide" Target="slides/slide6.xml"/><Relationship Id="rId113" Type="http://schemas.openxmlformats.org/officeDocument/2006/relationships/font" Target="fonts/HelveticaNeueLight-italic.fntdata"/><Relationship Id="rId112" Type="http://schemas.openxmlformats.org/officeDocument/2006/relationships/font" Target="fonts/HelveticaNeueLight-bold.fntdata"/><Relationship Id="rId111" Type="http://schemas.openxmlformats.org/officeDocument/2006/relationships/font" Target="fonts/HelveticaNeueLight-regular.fntdata"/><Relationship Id="rId84" Type="http://schemas.openxmlformats.org/officeDocument/2006/relationships/slide" Target="slides/slide72.xml"/><Relationship Id="rId83" Type="http://schemas.openxmlformats.org/officeDocument/2006/relationships/slide" Target="slides/slide71.xml"/><Relationship Id="rId86" Type="http://schemas.openxmlformats.org/officeDocument/2006/relationships/slide" Target="slides/slide74.xml"/><Relationship Id="rId85" Type="http://schemas.openxmlformats.org/officeDocument/2006/relationships/slide" Target="slides/slide73.xml"/><Relationship Id="rId88" Type="http://schemas.openxmlformats.org/officeDocument/2006/relationships/slide" Target="slides/slide76.xml"/><Relationship Id="rId87" Type="http://schemas.openxmlformats.org/officeDocument/2006/relationships/slide" Target="slides/slide75.xml"/><Relationship Id="rId89" Type="http://schemas.openxmlformats.org/officeDocument/2006/relationships/slide" Target="slides/slide77.xml"/><Relationship Id="rId80" Type="http://schemas.openxmlformats.org/officeDocument/2006/relationships/slide" Target="slides/slide68.xml"/><Relationship Id="rId82" Type="http://schemas.openxmlformats.org/officeDocument/2006/relationships/slide" Target="slides/slide70.xml"/><Relationship Id="rId81" Type="http://schemas.openxmlformats.org/officeDocument/2006/relationships/slide" Target="slides/slide69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4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73" Type="http://schemas.openxmlformats.org/officeDocument/2006/relationships/slide" Target="slides/slide61.xml"/><Relationship Id="rId72" Type="http://schemas.openxmlformats.org/officeDocument/2006/relationships/slide" Target="slides/slide60.xml"/><Relationship Id="rId75" Type="http://schemas.openxmlformats.org/officeDocument/2006/relationships/slide" Target="slides/slide63.xml"/><Relationship Id="rId74" Type="http://schemas.openxmlformats.org/officeDocument/2006/relationships/slide" Target="slides/slide62.xml"/><Relationship Id="rId77" Type="http://schemas.openxmlformats.org/officeDocument/2006/relationships/slide" Target="slides/slide65.xml"/><Relationship Id="rId76" Type="http://schemas.openxmlformats.org/officeDocument/2006/relationships/slide" Target="slides/slide64.xml"/><Relationship Id="rId79" Type="http://schemas.openxmlformats.org/officeDocument/2006/relationships/slide" Target="slides/slide67.xml"/><Relationship Id="rId78" Type="http://schemas.openxmlformats.org/officeDocument/2006/relationships/slide" Target="slides/slide66.xml"/><Relationship Id="rId71" Type="http://schemas.openxmlformats.org/officeDocument/2006/relationships/slide" Target="slides/slide59.xml"/><Relationship Id="rId70" Type="http://schemas.openxmlformats.org/officeDocument/2006/relationships/slide" Target="slides/slide58.xml"/><Relationship Id="rId62" Type="http://schemas.openxmlformats.org/officeDocument/2006/relationships/slide" Target="slides/slide50.xml"/><Relationship Id="rId61" Type="http://schemas.openxmlformats.org/officeDocument/2006/relationships/slide" Target="slides/slide49.xml"/><Relationship Id="rId64" Type="http://schemas.openxmlformats.org/officeDocument/2006/relationships/slide" Target="slides/slide52.xml"/><Relationship Id="rId63" Type="http://schemas.openxmlformats.org/officeDocument/2006/relationships/slide" Target="slides/slide51.xml"/><Relationship Id="rId66" Type="http://schemas.openxmlformats.org/officeDocument/2006/relationships/slide" Target="slides/slide54.xml"/><Relationship Id="rId65" Type="http://schemas.openxmlformats.org/officeDocument/2006/relationships/slide" Target="slides/slide53.xml"/><Relationship Id="rId68" Type="http://schemas.openxmlformats.org/officeDocument/2006/relationships/slide" Target="slides/slide56.xml"/><Relationship Id="rId67" Type="http://schemas.openxmlformats.org/officeDocument/2006/relationships/slide" Target="slides/slide55.xml"/><Relationship Id="rId60" Type="http://schemas.openxmlformats.org/officeDocument/2006/relationships/slide" Target="slides/slide48.xml"/><Relationship Id="rId69" Type="http://schemas.openxmlformats.org/officeDocument/2006/relationships/slide" Target="slides/slide57.xml"/><Relationship Id="rId51" Type="http://schemas.openxmlformats.org/officeDocument/2006/relationships/slide" Target="slides/slide39.xml"/><Relationship Id="rId50" Type="http://schemas.openxmlformats.org/officeDocument/2006/relationships/slide" Target="slides/slide38.xml"/><Relationship Id="rId53" Type="http://schemas.openxmlformats.org/officeDocument/2006/relationships/slide" Target="slides/slide41.xml"/><Relationship Id="rId52" Type="http://schemas.openxmlformats.org/officeDocument/2006/relationships/slide" Target="slides/slide40.xml"/><Relationship Id="rId55" Type="http://schemas.openxmlformats.org/officeDocument/2006/relationships/slide" Target="slides/slide43.xml"/><Relationship Id="rId54" Type="http://schemas.openxmlformats.org/officeDocument/2006/relationships/slide" Target="slides/slide42.xml"/><Relationship Id="rId57" Type="http://schemas.openxmlformats.org/officeDocument/2006/relationships/slide" Target="slides/slide45.xml"/><Relationship Id="rId56" Type="http://schemas.openxmlformats.org/officeDocument/2006/relationships/slide" Target="slides/slide44.xml"/><Relationship Id="rId59" Type="http://schemas.openxmlformats.org/officeDocument/2006/relationships/slide" Target="slides/slide47.xml"/><Relationship Id="rId58" Type="http://schemas.openxmlformats.org/officeDocument/2006/relationships/slide" Target="slides/slide46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1-12T10:56:05.379">
    <p:pos x="6000" y="0"/>
    <p:text>Add pre-check op results in note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4-10-30T07:42:01.448">
    <p:pos x="6000" y="0"/>
    <p:text>Validate numbers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4-10-31T05:55:22.036">
    <p:pos x="197" y="2541"/>
    <p:text>Are we sure we want to do this? We might end up building a lot of adaptors for this, which becomes a big maintenance overhead.</p:text>
  </p:cm>
  <p:cm authorId="1" idx="2" dt="2024-10-30T10:10:23.611">
    <p:pos x="197" y="2541"/>
    <p:text>Lets think through what is possible keeping tradeoff between customisation and maintenance in mind, accordingly will tweak but want to offer agility as an important value prop</p:text>
  </p:cm>
  <p:cm authorId="2" idx="2" dt="2024-10-31T05:55:22.036">
    <p:pos x="197" y="2541"/>
    <p:text>Fair point, we can keep this in the slides, but I think we should internally sync up on what we want to provide as a part of this offering.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4-10-29T10:54:11.517">
    <p:pos x="6000" y="0"/>
    <p:text>Add slide on customer service model - if any standard exists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4" dt="2024-10-28T09:55:24.596">
    <p:pos x="6000" y="0"/>
    <p:text>Add on compliance front - Data privacy/PII masking, any play of DPDPA 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usiness-standard.com/finance/personal-finance/2-000-ghost-customers-how-a-rs-150-cr-loan-fraud-unfolded-in-mizoram-124042900201_1.html" TargetMode="External"/><Relationship Id="rId3" Type="http://schemas.openxmlformats.org/officeDocument/2006/relationships/hyperlink" Target="https://timesofindia.indiatimes.com/city/noida/-gang-opens-salary-accounts-with-forged-docus-cheats-banks-of-23cr/articleshow/100290300.cms" TargetMode="External"/><Relationship Id="rId4" Type="http://schemas.openxmlformats.org/officeDocument/2006/relationships/hyperlink" Target="https://www.hindustantimes.com/india-news/2000-ghost-customers-a-fake-bank-account-150-cr-vehicle-load-fraud-in-mizoram-101714201547930.html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e291a3720d_0_4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e291a3720d_0_4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1ad1675244_0_8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31ad1675244_0_8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1ad1675244_0_9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1ad1675244_0_9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0f3e26e550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0f3e26e550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1ad16752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1ad16752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1ad1675244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1ad167524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1ad1675244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1ad1675244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1ad1675244_0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1ad1675244_0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1ad1675244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1ad1675244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1ad1675244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1ad1675244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1ad1675244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1ad1675244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1ad1675244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1ad1675244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145cd56d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145cd5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1ad1675244_0_1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1ad1675244_0_1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0f3e26e55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30f3e26e55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0f3e26e5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30f3e26e5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145cd56de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145cd56de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13b22cc0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313b22cc0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177219001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177219001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13b22cc0e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313b22cc0e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177219001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177219001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177219001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177219001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13b22cc0e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313b22cc0e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177219001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3177219001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12c02cd92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12c02cd92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1ad1675244_0_1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1" name="Google Shape;1311;g31ad1675244_0_1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12c02cd92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312c02cd92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https://www.business-standard.com/finance/personal-finance/2-000-ghost-customers-how-a-rs-150-cr-loan-fraud-unfolded-in-mizoram-124042900201_1.html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https://timesofindia.indiatimes.com/city/noida/-gang-opens-salary-accounts-with-forged-docus-cheats-banks-of-23cr/articleshow/100290300.cms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https://www.hindustantimes.com/india-news/2000-ghost-customers-a-fake-bank-account-150-cr-vehicle-load-fraud-in-mizoram-101714201547930.html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16081842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316081842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16081842d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16081842d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0f3e26e55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30f3e26e55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1774205bd5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1774205bd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30f3e26e550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30f3e26e550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0f3e26e550_0_2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0f3e26e550_0_2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0f3e26e55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30f3e26e55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0f3e26e55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0f3e26e55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3177219001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3177219001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30f3e26e550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30f3e26e550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0f3e26e55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0f3e26e55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12c02cd92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312c02cd9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30f3e26e55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30f3e26e55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30f3e26e55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30f3e26e55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30f3e26e55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30f3e26e55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0f3e26e55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0f3e26e55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0f3e26e55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0f3e26e55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30f3e26e550_0_1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g30f3e26e550_0_1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0f3e26e55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0f3e26e55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e2ad8ac4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2e2ad8ac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g2e2ad8ac42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e2ad8ac42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0e10f6800a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0e10f6800a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g2e2ad8ac42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g2e2ad8ac42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2e2ad8ac4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e2ad8ac4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28008053b65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28008053b65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28008053b65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28008053b65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e2ad8ac42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e2ad8ac42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2e2ad8ac42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2e2ad8ac42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g2e2ad8ac42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" name="Google Shape;1735;g2e2ad8ac42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8008053b65_1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g28008053b65_1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8008053b65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8008053b65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g2e2ad8ac42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9" name="Google Shape;1779;g2e2ad8ac42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2e2ad8ac42b_0_6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e2ad8ac42b_0_6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2e2ad8ac42b_0_5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2e2ad8ac42b_0_5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e2ad8ac42b_0_6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e2ad8ac42b_0_6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g2e2ad8ac42b_0_7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4" name="Google Shape;1904;g2e2ad8ac42b_0_7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28f725649f8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28f725649f8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g28f725649f8_0_12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6" name="Google Shape;1916;g28f725649f8_0_12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8f725649f8_0_12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8f725649f8_0_12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2e7ca3b243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2e7ca3b243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2e32caa85a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2e32caa85a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2e291a3720d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g2e291a3720d_0_6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28f725649f8_0_1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28f725649f8_0_1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28f725649f8_0_13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g28f725649f8_0_13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28f725649f8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28f725649f8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28f725649f8_0_1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28f725649f8_0_1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28f725649f8_0_11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8" name="Google Shape;2038;g28f725649f8_0_11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g2e291a372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7" name="Google Shape;2057;g2e291a372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g28f725649f8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4" name="Google Shape;2064;g28f725649f8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28f725649f8_0_1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28f725649f8_0_1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e291a3720d_0_6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e291a3720d_0_6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28f725649f8_0_13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28f725649f8_0_13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e291a3720d_0_6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0" name="Google Shape;2110;g2e291a3720d_0_6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28f725649f8_0_13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28f725649f8_0_13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f725649f8_0_13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f725649f8_0_13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28f725649f8_0_13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 your underwiring processes to the AI century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Enable 1st level of document fit &amp; fraud check at the top of the funnel even before processing the data.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Format agnostic LLM based models to get extraction done within seconds compared to manual ops led extraction.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Perform deep scans for pattern based insights inplace of keyword match for derived analysis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Solution designed with frauds and technology of tomorrow by understanding &amp; taking feedback from credit teams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We work with the industry leaders to constantly detect fraud very early in the journey and release security updates OTA</a:t>
            </a:r>
            <a:endParaRPr/>
          </a:p>
        </p:txBody>
      </p:sp>
      <p:sp>
        <p:nvSpPr>
          <p:cNvPr id="2168" name="Google Shape;2168;g28f725649f8_0_13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28f725649f8_0_13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 your underwiring processes to the AI century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Enable 1st level of document fit &amp; fraud check at the top of the funnel even before processing the data.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Format agnostic LLM based models to get extraction done within seconds compared to manual ops led extraction.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Perform deep scans for pattern based insights inplace of keyword match for derived analysis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Solution designed with frauds and technology of tomorrow by understanding &amp; taking feedback from credit teams</a:t>
            </a:r>
            <a:endParaRPr sz="12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-"/>
            </a:pPr>
            <a:r>
              <a:rPr lang="en" sz="1200">
                <a:solidFill>
                  <a:srgbClr val="0D0D0D"/>
                </a:solidFill>
                <a:highlight>
                  <a:schemeClr val="lt1"/>
                </a:highlight>
              </a:rPr>
              <a:t>We work with the industry leaders to constantly detect fraud very early in the journey and release security updates OTA</a:t>
            </a:r>
            <a:endParaRPr/>
          </a:p>
        </p:txBody>
      </p:sp>
      <p:sp>
        <p:nvSpPr>
          <p:cNvPr id="2175" name="Google Shape;2175;g28f725649f8_0_13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28f725649f8_0_13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g28f725649f8_0_13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28f725649f8_0_13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3" name="Google Shape;2203;g28f725649f8_0_13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2e2ad8ac42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2e2ad8ac42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g2e9d73fa1e3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4" name="Google Shape;2214;g2e9d73fa1e3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jpg"/><Relationship Id="rId3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jp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jpg"/><Relationship Id="rId3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jpg"/><Relationship Id="rId3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jpg"/><Relationship Id="rId3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jp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jp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jpg"/><Relationship Id="rId3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jp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jpg"/><Relationship Id="rId3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jpg"/><Relationship Id="rId3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jpg"/><Relationship Id="rId3" Type="http://schemas.openxmlformats.org/officeDocument/2006/relationships/image" Target="../media/image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jpg"/><Relationship Id="rId3" Type="http://schemas.openxmlformats.org/officeDocument/2006/relationships/image" Target="../media/image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jpg"/><Relationship Id="rId3" Type="http://schemas.openxmlformats.org/officeDocument/2006/relationships/image" Target="../media/image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jpg"/><Relationship Id="rId3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jpg"/><Relationship Id="rId3" Type="http://schemas.openxmlformats.org/officeDocument/2006/relationships/image" Target="../media/image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jpg"/><Relationship Id="rId3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jpg"/><Relationship Id="rId3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5.jpg"/><Relationship Id="rId3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9.jpg"/><Relationship Id="rId3" Type="http://schemas.openxmlformats.org/officeDocument/2006/relationships/image" Target="../media/image1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jpg"/><Relationship Id="rId3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jpg"/><Relationship Id="rId3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1.jpg"/><Relationship Id="rId3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jpg"/><Relationship Id="rId3" Type="http://schemas.openxmlformats.org/officeDocument/2006/relationships/image" Target="../media/image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jpg"/><Relationship Id="rId3" Type="http://schemas.openxmlformats.org/officeDocument/2006/relationships/image" Target="../media/image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jpg"/><Relationship Id="rId3" Type="http://schemas.openxmlformats.org/officeDocument/2006/relationships/image" Target="../media/image5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jpg"/><Relationship Id="rId3" Type="http://schemas.openxmlformats.org/officeDocument/2006/relationships/image" Target="../media/image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6.jpg"/><Relationship Id="rId3" Type="http://schemas.openxmlformats.org/officeDocument/2006/relationships/image" Target="../media/image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jpg"/><Relationship Id="rId3" Type="http://schemas.openxmlformats.org/officeDocument/2006/relationships/image" Target="../media/image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5.jpg"/><Relationship Id="rId3" Type="http://schemas.openxmlformats.org/officeDocument/2006/relationships/image" Target="../media/image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9.jpg"/><Relationship Id="rId3" Type="http://schemas.openxmlformats.org/officeDocument/2006/relationships/image" Target="../media/image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7.jpg"/><Relationship Id="rId3" Type="http://schemas.openxmlformats.org/officeDocument/2006/relationships/image" Target="../media/image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6.jpg"/><Relationship Id="rId3" Type="http://schemas.openxmlformats.org/officeDocument/2006/relationships/image" Target="../media/image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1.jpg"/><Relationship Id="rId3" Type="http://schemas.openxmlformats.org/officeDocument/2006/relationships/image" Target="../media/image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0.jpg"/><Relationship Id="rId3" Type="http://schemas.openxmlformats.org/officeDocument/2006/relationships/image" Target="../media/image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0.jpg"/><Relationship Id="rId3" Type="http://schemas.openxmlformats.org/officeDocument/2006/relationships/image" Target="../media/image5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jpg"/><Relationship Id="rId3" Type="http://schemas.openxmlformats.org/officeDocument/2006/relationships/image" Target="../media/image5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3.jpg"/><Relationship Id="rId3" Type="http://schemas.openxmlformats.org/officeDocument/2006/relationships/image" Target="../media/image5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jpg"/><Relationship Id="rId3" Type="http://schemas.openxmlformats.org/officeDocument/2006/relationships/image" Target="../media/image5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jpg"/><Relationship Id="rId3" Type="http://schemas.openxmlformats.org/officeDocument/2006/relationships/image" Target="../media/image5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jpg"/><Relationship Id="rId3" Type="http://schemas.openxmlformats.org/officeDocument/2006/relationships/image" Target="../media/image5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1.jpg"/><Relationship Id="rId3" Type="http://schemas.openxmlformats.org/officeDocument/2006/relationships/image" Target="../media/image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2.jpg"/><Relationship Id="rId3" Type="http://schemas.openxmlformats.org/officeDocument/2006/relationships/image" Target="../media/image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5.jpg"/><Relationship Id="rId3" Type="http://schemas.openxmlformats.org/officeDocument/2006/relationships/image" Target="../media/image1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9.jpg"/><Relationship Id="rId3" Type="http://schemas.openxmlformats.org/officeDocument/2006/relationships/image" Target="../media/image1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7.jpg"/><Relationship Id="rId3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6.jpg"/><Relationship Id="rId3" Type="http://schemas.openxmlformats.org/officeDocument/2006/relationships/image" Target="../media/image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1.jpg"/><Relationship Id="rId3" Type="http://schemas.openxmlformats.org/officeDocument/2006/relationships/image" Target="../media/image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0.jpg"/><Relationship Id="rId3" Type="http://schemas.openxmlformats.org/officeDocument/2006/relationships/image" Target="../media/image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jp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3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33" y="177340"/>
            <a:ext cx="841774" cy="84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5358" y="4633073"/>
            <a:ext cx="1394160" cy="22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8651" y="273844"/>
            <a:ext cx="741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5789" y="390302"/>
            <a:ext cx="645625" cy="4158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828675" y="1369219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33" y="177340"/>
            <a:ext cx="841774" cy="8417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7444058" y="4767263"/>
            <a:ext cx="1699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https://www.idfy.com/</a:t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 Blue" showMasterSp="0">
  <p:cSld name="TITLE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1" y="1"/>
            <a:ext cx="6694800" cy="5143500"/>
          </a:xfrm>
          <a:prstGeom prst="rect">
            <a:avLst/>
          </a:prstGeom>
          <a:solidFill>
            <a:srgbClr val="2742B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4" id="71" name="Google Shape;71;p15"/>
          <p:cNvPicPr preferRelativeResize="0"/>
          <p:nvPr/>
        </p:nvPicPr>
        <p:blipFill rotWithShape="1">
          <a:blip r:embed="rId2">
            <a:alphaModFix/>
          </a:blip>
          <a:srcRect b="0" l="57167" r="10961" t="0"/>
          <a:stretch/>
        </p:blipFill>
        <p:spPr>
          <a:xfrm>
            <a:off x="6682562" y="0"/>
            <a:ext cx="246144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435648" y="841772"/>
            <a:ext cx="5934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pic>
        <p:nvPicPr>
          <p:cNvPr descr="Picture 14"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6920" y="4333358"/>
            <a:ext cx="1506637" cy="2861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2"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406" y="4058576"/>
            <a:ext cx="1124311" cy="7232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36871" y="2808902"/>
            <a:ext cx="59346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  <a:defRPr b="1" sz="3000">
                <a:solidFill>
                  <a:srgbClr val="FFFFFF"/>
                </a:solidFill>
              </a:defRPr>
            </a:lvl1pPr>
            <a:lvl2pPr indent="-2286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b="1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4419600" y="4629150"/>
            <a:ext cx="213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CE101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showMasterSp="0">
  <p:cSld name="Chart with 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39789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397894" y="1281600"/>
            <a:ext cx="7550400" cy="3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3">
  <p:cSld name="Text Content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">
  <p:cSld name="Text Content_5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455044" y="500849"/>
            <a:ext cx="7392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476325" y="1338750"/>
            <a:ext cx="8191500" cy="3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Red" showMasterSp="0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101" name="Google Shape;101;p20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" showMasterSp="0">
  <p:cSld name="TITLE_AND_BODY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107" name="Google Shape;107;p21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" showMasterSp="0">
  <p:cSld name="TITLE_AND_BODY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112" name="Google Shape;112;p22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hite" showMasterSp="0">
  <p:cSld name="TITLE_AND_BODY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>
            <p:ph type="title"/>
          </p:nvPr>
        </p:nvSpPr>
        <p:spPr>
          <a:xfrm>
            <a:off x="206381" y="2907881"/>
            <a:ext cx="74526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Helvetica Neue"/>
              <a:buNone/>
              <a:defRPr>
                <a:solidFill>
                  <a:srgbClr val="434343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9pPr>
          </a:lstStyle>
          <a:p/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94" y="1588670"/>
            <a:ext cx="1194677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2002977" y="1568538"/>
            <a:ext cx="23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45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1" showMasterSp="0">
  <p:cSld name="1_Title Slide Light Grey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2" showMasterSp="0">
  <p:cSld name="1_Title Slide Light Grey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3" showMasterSp="0">
  <p:cSld name="1_Title Slide Light Grey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219"/>
            <a:ext cx="9144000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4" showMasterSp="0">
  <p:cSld name="1_Title Slide Light Grey_1_1_1_3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7150" y="-22228"/>
            <a:ext cx="9183466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5" showMasterSp="0">
  <p:cSld name="1_Title Slide Light Grey_1_1_1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6" showMasterSp="0">
  <p:cSld name="1_Title Slide Light Grey_1_1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9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Blue " showMasterSp="0">
  <p:cSld name="Section Title Blue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9744" y="-22219"/>
            <a:ext cx="9183490" cy="518793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 Red" showMasterSp="0">
  <p:cSld name="Section Title  Dark Gre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" y="14"/>
            <a:ext cx="9143976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1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1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Light Grey " showMasterSp="0">
  <p:cSld name="Section Title Light Gre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0469" y="-56662"/>
            <a:ext cx="9244762" cy="52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2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2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171" name="Google Shape;1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for charts">
  <p:cSld name="Text Conte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showMasterSp="0">
  <p:cSld name="Chart with 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4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4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79" name="Google Shape;179;p34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Object placehol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sp>
        <p:nvSpPr>
          <p:cNvPr id="182" name="Google Shape;182;p35"/>
          <p:cNvSpPr txBox="1"/>
          <p:nvPr>
            <p:ph type="title"/>
          </p:nvPr>
        </p:nvSpPr>
        <p:spPr>
          <a:xfrm>
            <a:off x="455044" y="224306"/>
            <a:ext cx="71088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183" name="Google Shape;183;p35"/>
          <p:cNvSpPr txBox="1"/>
          <p:nvPr>
            <p:ph idx="1" type="subTitle"/>
          </p:nvPr>
        </p:nvSpPr>
        <p:spPr>
          <a:xfrm>
            <a:off x="455044" y="1290806"/>
            <a:ext cx="73923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or add number blue" showMasterSp="0">
  <p:cSld name="Bold Statetement Whit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6"/>
          <p:cNvSpPr txBox="1"/>
          <p:nvPr>
            <p:ph type="title"/>
          </p:nvPr>
        </p:nvSpPr>
        <p:spPr>
          <a:xfrm>
            <a:off x="392494" y="715894"/>
            <a:ext cx="37515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187" name="Google Shape;187;p36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36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189" name="Google Shape;1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with numbers - red" showMasterSp="0">
  <p:cSld name="Bold Statetement White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9444" y="-27816"/>
            <a:ext cx="9242890" cy="51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7"/>
          <p:cNvSpPr txBox="1"/>
          <p:nvPr>
            <p:ph type="title"/>
          </p:nvPr>
        </p:nvSpPr>
        <p:spPr>
          <a:xfrm>
            <a:off x="392494" y="715894"/>
            <a:ext cx="40428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193" name="Google Shape;193;p37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3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Blue option 1" showMasterSp="0">
  <p:cSld name="Thank You Blu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8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38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2" showMasterSp="0">
  <p:cSld name="Thank you Red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9"/>
          <p:cNvSpPr txBox="1"/>
          <p:nvPr>
            <p:ph idx="2"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205" name="Google Shape;205;p39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6" name="Google Shape;2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blue option 3" showMasterSp="0">
  <p:cSld name="Thank you Dark Grey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/>
          <p:nvPr>
            <p:ph type="title"/>
          </p:nvPr>
        </p:nvSpPr>
        <p:spPr>
          <a:xfrm>
            <a:off x="342900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210" name="Google Shape;210;p40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1" name="Google Shape;2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4" showMasterSp="0">
  <p:cSld name="Thank you Light Gre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1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215" name="Google Shape;215;p41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" name="Google Shape;21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grey option 5" showMasterSp="0">
  <p:cSld name="Thank you Light Grey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2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220" name="Google Shape;220;p42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1" name="Google Shape;2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Light Grey option 6" showMasterSp="0">
  <p:cSld name="Thank you Light Grey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3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" name="Google Shape;22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00" y="-19275"/>
            <a:ext cx="9144000" cy="51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3"/>
          <p:cNvSpPr txBox="1"/>
          <p:nvPr>
            <p:ph type="title"/>
          </p:nvPr>
        </p:nvSpPr>
        <p:spPr>
          <a:xfrm>
            <a:off x="248850" y="4725919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226" name="Google Shape;2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3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ext Content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405994" y="162638"/>
            <a:ext cx="7027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230" name="Google Shape;230;p44"/>
          <p:cNvSpPr txBox="1"/>
          <p:nvPr>
            <p:ph idx="1" type="body"/>
          </p:nvPr>
        </p:nvSpPr>
        <p:spPr>
          <a:xfrm>
            <a:off x="413986" y="1051575"/>
            <a:ext cx="75618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1" showMasterSp="0">
  <p:cSld name="Chart with 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45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5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37" name="Google Shape;237;p45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2" showMasterSp="0">
  <p:cSld name="Chart with text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46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6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43" name="Google Shape;243;p46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">
  <p:cSld name="Text Content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7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246" name="Google Shape;246;p47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7" name="Google Shape;247;p47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text" showMasterSp="0">
  <p:cSld name="Chart with text_3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250" name="Google Shape;250;p48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8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8"/>
          <p:cNvSpPr txBox="1"/>
          <p:nvPr>
            <p:ph idx="1" type="body"/>
          </p:nvPr>
        </p:nvSpPr>
        <p:spPr>
          <a:xfrm>
            <a:off x="4687077" y="1620884"/>
            <a:ext cx="3998400" cy="29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/>
            </a:lvl1pPr>
            <a:lvl2pPr indent="-3429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/>
            </a:lvl2pPr>
            <a:lvl3pPr indent="-3429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/>
            </a:lvl3pPr>
            <a:lvl4pPr indent="-3429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/>
            </a:lvl4pPr>
            <a:lvl5pPr indent="-3429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3" name="Google Shape;253;p48"/>
          <p:cNvSpPr txBox="1"/>
          <p:nvPr>
            <p:ph idx="2" type="body"/>
          </p:nvPr>
        </p:nvSpPr>
        <p:spPr>
          <a:xfrm>
            <a:off x="512303" y="1620884"/>
            <a:ext cx="3998400" cy="29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254" name="Google Shape;25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1980" y="4678008"/>
            <a:ext cx="517313" cy="333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">
  <p:cSld name="Text Content_3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9"/>
          <p:cNvSpPr txBox="1"/>
          <p:nvPr>
            <p:ph type="title"/>
          </p:nvPr>
        </p:nvSpPr>
        <p:spPr>
          <a:xfrm>
            <a:off x="455044" y="500849"/>
            <a:ext cx="7392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57" name="Google Shape;257;p49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49"/>
          <p:cNvSpPr txBox="1"/>
          <p:nvPr>
            <p:ph idx="1" type="subTitle"/>
          </p:nvPr>
        </p:nvSpPr>
        <p:spPr>
          <a:xfrm>
            <a:off x="476325" y="1338750"/>
            <a:ext cx="81915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3 1">
  <p:cSld name="Text Content_4_2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0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261" name="Google Shape;261;p50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2" name="Google Shape;262;p50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50"/>
          <p:cNvSpPr txBox="1"/>
          <p:nvPr/>
        </p:nvSpPr>
        <p:spPr>
          <a:xfrm>
            <a:off x="3768503" y="4826597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Red" showMasterSp="0" type="tx">
  <p:cSld name="TITLE_AND_BOD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2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2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274" name="Google Shape;274;p52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275" name="Google Shape;27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" showMasterSp="0">
  <p:cSld name="TITLE_AND_BODY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3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3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280" name="Google Shape;280;p53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281" name="Google Shape;2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" showMasterSp="0">
  <p:cSld name="TITLE_AND_BODY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54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4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285" name="Google Shape;285;p54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286" name="Google Shape;28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hite" showMasterSp="0">
  <p:cSld name="TITLE_AND_BODY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55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55"/>
          <p:cNvSpPr txBox="1"/>
          <p:nvPr>
            <p:ph type="title"/>
          </p:nvPr>
        </p:nvSpPr>
        <p:spPr>
          <a:xfrm>
            <a:off x="206381" y="2907881"/>
            <a:ext cx="74526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300"/>
              <a:buFont typeface="Helvetica Neue"/>
              <a:buNone/>
              <a:defRPr>
                <a:solidFill>
                  <a:srgbClr val="434343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9pPr>
          </a:lstStyle>
          <a:p/>
        </p:txBody>
      </p:sp>
      <p:pic>
        <p:nvPicPr>
          <p:cNvPr id="291" name="Google Shape;29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94" y="1588670"/>
            <a:ext cx="1194677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5"/>
          <p:cNvSpPr txBox="1"/>
          <p:nvPr/>
        </p:nvSpPr>
        <p:spPr>
          <a:xfrm>
            <a:off x="2002977" y="1568538"/>
            <a:ext cx="23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45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0344" y="4627556"/>
            <a:ext cx="1273990" cy="2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1" showMasterSp="0">
  <p:cSld name="1_Title Slide Light Grey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6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297" name="Google Shape;297;p56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6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2" showMasterSp="0">
  <p:cSld name="1_Title Slide Light Grey_1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57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03" name="Google Shape;303;p57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04" name="Google Shape;30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3" showMasterSp="0">
  <p:cSld name="1_Title Slide Light Grey_1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219"/>
            <a:ext cx="9144000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8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09" name="Google Shape;309;p58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10" name="Google Shape;31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8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4" showMasterSp="0">
  <p:cSld name="1_Title Slide Light Grey_1_1_1_3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7150" y="-22228"/>
            <a:ext cx="9183466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9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15" name="Google Shape;315;p59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16" name="Google Shape;31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9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5" showMasterSp="0">
  <p:cSld name="1_Title Slide Light Grey_1_1_1_2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60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21" name="Google Shape;321;p60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2" name="Google Shape;32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60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6" showMasterSp="0">
  <p:cSld name="1_Title Slide Light Grey_1_1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61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27" name="Google Shape;327;p61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8" name="Google Shape;3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61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Blue " showMasterSp="0">
  <p:cSld name="Section Title Blu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9744" y="-22219"/>
            <a:ext cx="9183490" cy="518793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2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2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334" name="Google Shape;33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 Red" showMasterSp="0">
  <p:cSld name="Section Title  Dark Gre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" y="14"/>
            <a:ext cx="9143976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63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63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339" name="Google Shape;33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Light Grey " showMasterSp="0">
  <p:cSld name="Section Title Light Gre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0469" y="-56662"/>
            <a:ext cx="9244762" cy="52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64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4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344" name="Google Shape;34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for charts">
  <p:cSld name="Text Conten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5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showMasterSp="0">
  <p:cSld name="Chart with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6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66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66"/>
          <p:cNvSpPr txBox="1"/>
          <p:nvPr>
            <p:ph type="title"/>
          </p:nvPr>
        </p:nvSpPr>
        <p:spPr>
          <a:xfrm>
            <a:off x="39789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66"/>
          <p:cNvSpPr txBox="1"/>
          <p:nvPr>
            <p:ph idx="1" type="subTitle"/>
          </p:nvPr>
        </p:nvSpPr>
        <p:spPr>
          <a:xfrm>
            <a:off x="397894" y="1281600"/>
            <a:ext cx="75504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Object placehold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sp>
        <p:nvSpPr>
          <p:cNvPr id="355" name="Google Shape;355;p67"/>
          <p:cNvSpPr txBox="1"/>
          <p:nvPr>
            <p:ph type="title"/>
          </p:nvPr>
        </p:nvSpPr>
        <p:spPr>
          <a:xfrm>
            <a:off x="397894" y="215100"/>
            <a:ext cx="71088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356" name="Google Shape;356;p67"/>
          <p:cNvSpPr txBox="1"/>
          <p:nvPr>
            <p:ph idx="1" type="subTitle"/>
          </p:nvPr>
        </p:nvSpPr>
        <p:spPr>
          <a:xfrm>
            <a:off x="397894" y="1281600"/>
            <a:ext cx="73923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or add number blue" showMasterSp="0">
  <p:cSld name="Bold Statetement White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8"/>
          <p:cNvSpPr txBox="1"/>
          <p:nvPr>
            <p:ph type="title"/>
          </p:nvPr>
        </p:nvSpPr>
        <p:spPr>
          <a:xfrm>
            <a:off x="392494" y="715894"/>
            <a:ext cx="37515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360" name="Google Shape;360;p68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1" name="Google Shape;361;p68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362" name="Google Shape;36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with numbers - red" showMasterSp="0">
  <p:cSld name="Bold Statetement White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9444" y="-27816"/>
            <a:ext cx="9242890" cy="51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69"/>
          <p:cNvSpPr txBox="1"/>
          <p:nvPr>
            <p:ph type="title"/>
          </p:nvPr>
        </p:nvSpPr>
        <p:spPr>
          <a:xfrm>
            <a:off x="392494" y="715894"/>
            <a:ext cx="40428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366" name="Google Shape;366;p69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7" name="Google Shape;367;p69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368" name="Google Shape;36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Blue option 1" showMasterSp="0">
  <p:cSld name="Thank You Blue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70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372" name="Google Shape;372;p70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3" name="Google Shape;37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2" showMasterSp="0">
  <p:cSld name="Thank you Red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1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376" name="Google Shape;376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71"/>
          <p:cNvSpPr txBox="1"/>
          <p:nvPr>
            <p:ph idx="2"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71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9" name="Google Shape;37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blue option 3" showMasterSp="0">
  <p:cSld name="Thank you Dark Gre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72"/>
          <p:cNvSpPr txBox="1"/>
          <p:nvPr>
            <p:ph type="title"/>
          </p:nvPr>
        </p:nvSpPr>
        <p:spPr>
          <a:xfrm>
            <a:off x="342900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383" name="Google Shape;383;p72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4" name="Google Shape;38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4" showMasterSp="0">
  <p:cSld name="Thank you Light Grey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3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73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9" name="Google Shape;38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grey option 5" showMasterSp="0">
  <p:cSld name="Thank you Light Grey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74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393" name="Google Shape;393;p74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4" name="Google Shape;39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Light Grey option 6" showMasterSp="0">
  <p:cSld name="Thank you Light Grey_1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5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7" name="Google Shape;397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00" y="-19275"/>
            <a:ext cx="9144000" cy="51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75"/>
          <p:cNvSpPr txBox="1"/>
          <p:nvPr>
            <p:ph type="title"/>
          </p:nvPr>
        </p:nvSpPr>
        <p:spPr>
          <a:xfrm>
            <a:off x="248850" y="4725919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399" name="Google Shape;39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75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ext Content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6"/>
          <p:cNvSpPr txBox="1"/>
          <p:nvPr>
            <p:ph type="title"/>
          </p:nvPr>
        </p:nvSpPr>
        <p:spPr>
          <a:xfrm>
            <a:off x="405994" y="162638"/>
            <a:ext cx="7027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403" name="Google Shape;403;p76"/>
          <p:cNvSpPr txBox="1"/>
          <p:nvPr>
            <p:ph idx="1" type="body"/>
          </p:nvPr>
        </p:nvSpPr>
        <p:spPr>
          <a:xfrm>
            <a:off x="413986" y="1051575"/>
            <a:ext cx="75618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76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Red" showMasterSp="0" type="tx">
  <p:cSld name="TITLE_AND_BOD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78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78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415" name="Google Shape;415;p78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" showMasterSp="0">
  <p:cSld name="TITLE_AND_BODY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79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79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420" name="Google Shape;420;p79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" showMasterSp="0">
  <p:cSld name="TITLE_AND_BODY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80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80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424" name="Google Shape;424;p80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425" name="Google Shape;4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hite" showMasterSp="0">
  <p:cSld name="TITLE_AND_BODY_1_1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81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81"/>
          <p:cNvSpPr txBox="1"/>
          <p:nvPr>
            <p:ph type="title"/>
          </p:nvPr>
        </p:nvSpPr>
        <p:spPr>
          <a:xfrm>
            <a:off x="206381" y="2907881"/>
            <a:ext cx="74526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Helvetica Neue"/>
              <a:buNone/>
              <a:defRPr>
                <a:solidFill>
                  <a:srgbClr val="434343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9pPr>
          </a:lstStyle>
          <a:p/>
        </p:txBody>
      </p:sp>
      <p:pic>
        <p:nvPicPr>
          <p:cNvPr id="429" name="Google Shape;42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94" y="1588670"/>
            <a:ext cx="1194677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81"/>
          <p:cNvSpPr txBox="1"/>
          <p:nvPr/>
        </p:nvSpPr>
        <p:spPr>
          <a:xfrm>
            <a:off x="2002977" y="1568538"/>
            <a:ext cx="23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45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1" showMasterSp="0">
  <p:cSld name="1_Title Slide Light Grey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82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34" name="Google Shape;434;p82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35" name="Google Shape;43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82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2" showMasterSp="0">
  <p:cSld name="1_Title Slide Light Grey_1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83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40" name="Google Shape;440;p83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1" name="Google Shape;44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83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3" showMasterSp="0">
  <p:cSld name="1_Title Slide Light Grey_1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219"/>
            <a:ext cx="9144000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84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46" name="Google Shape;446;p84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7" name="Google Shape;44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84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4" showMasterSp="0">
  <p:cSld name="1_Title Slide Light Grey_1_1_1_3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7150" y="-22228"/>
            <a:ext cx="9183466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5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52" name="Google Shape;452;p85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53" name="Google Shape;45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85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5" showMasterSp="0">
  <p:cSld name="1_Title Slide Light Grey_1_1_1_2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86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58" name="Google Shape;458;p86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59" name="Google Shape;45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6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6" showMasterSp="0">
  <p:cSld name="1_Title Slide Light Grey_1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87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64" name="Google Shape;464;p87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65" name="Google Shape;46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8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Blue " showMasterSp="0">
  <p:cSld name="Section Title Blue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88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 Red" showMasterSp="0">
  <p:cSld name="Section Title  Dark Gre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9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for charts">
  <p:cSld name="Text Content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showMasterSp="0">
  <p:cSld name="Chart with text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1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91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91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79" name="Google Shape;479;p91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Object placeholder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2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sp>
        <p:nvSpPr>
          <p:cNvPr id="482" name="Google Shape;482;p92"/>
          <p:cNvSpPr txBox="1"/>
          <p:nvPr>
            <p:ph type="title"/>
          </p:nvPr>
        </p:nvSpPr>
        <p:spPr>
          <a:xfrm>
            <a:off x="455044" y="224306"/>
            <a:ext cx="71088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83" name="Google Shape;483;p92"/>
          <p:cNvSpPr txBox="1"/>
          <p:nvPr>
            <p:ph idx="1" type="subTitle"/>
          </p:nvPr>
        </p:nvSpPr>
        <p:spPr>
          <a:xfrm>
            <a:off x="455044" y="1290806"/>
            <a:ext cx="73923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or add number blue" showMasterSp="0">
  <p:cSld name="Bold Statetement White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93"/>
          <p:cNvSpPr txBox="1"/>
          <p:nvPr>
            <p:ph type="title"/>
          </p:nvPr>
        </p:nvSpPr>
        <p:spPr>
          <a:xfrm>
            <a:off x="392494" y="715894"/>
            <a:ext cx="37515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487" name="Google Shape;487;p93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8" name="Google Shape;488;p93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489" name="Google Shape;48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with numbers - red" showMasterSp="0">
  <p:cSld name="Bold Statetement White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9444" y="-27816"/>
            <a:ext cx="9242890" cy="51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94"/>
          <p:cNvSpPr txBox="1"/>
          <p:nvPr>
            <p:ph type="title"/>
          </p:nvPr>
        </p:nvSpPr>
        <p:spPr>
          <a:xfrm>
            <a:off x="392494" y="715894"/>
            <a:ext cx="40428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493" name="Google Shape;493;p94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94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495" name="Google Shape;49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Blue option 1" showMasterSp="0">
  <p:cSld name="Thank You Blue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95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499" name="Google Shape;499;p95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0" name="Google Shape;50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2" showMasterSp="0">
  <p:cSld name="Thank you Red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6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503" name="Google Shape;503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96"/>
          <p:cNvSpPr txBox="1"/>
          <p:nvPr>
            <p:ph idx="2"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96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06" name="Google Shape;50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blue option 3" showMasterSp="0">
  <p:cSld name="Thank you Dark Grey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97"/>
          <p:cNvSpPr txBox="1"/>
          <p:nvPr>
            <p:ph type="title"/>
          </p:nvPr>
        </p:nvSpPr>
        <p:spPr>
          <a:xfrm>
            <a:off x="342900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510" name="Google Shape;510;p97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1" name="Google Shape;51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4" showMasterSp="0">
  <p:cSld name="Thank you Light Grey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98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516" name="Google Shape;516;p98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17" name="Google Shape;51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grey option 5" showMasterSp="0">
  <p:cSld name="Thank you Light Grey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99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521" name="Google Shape;521;p99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2" name="Google Shape;52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Light Grey option 6" showMasterSp="0">
  <p:cSld name="Thank you Light Grey_1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0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25" name="Google Shape;525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00" y="-19275"/>
            <a:ext cx="9144000" cy="51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00"/>
          <p:cNvSpPr txBox="1"/>
          <p:nvPr>
            <p:ph type="title"/>
          </p:nvPr>
        </p:nvSpPr>
        <p:spPr>
          <a:xfrm>
            <a:off x="248850" y="4725919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527" name="Google Shape;52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00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ext Content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01"/>
          <p:cNvSpPr txBox="1"/>
          <p:nvPr>
            <p:ph type="title"/>
          </p:nvPr>
        </p:nvSpPr>
        <p:spPr>
          <a:xfrm>
            <a:off x="405994" y="162638"/>
            <a:ext cx="7027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532" name="Google Shape;532;p101"/>
          <p:cNvSpPr txBox="1"/>
          <p:nvPr>
            <p:ph idx="1" type="body"/>
          </p:nvPr>
        </p:nvSpPr>
        <p:spPr>
          <a:xfrm>
            <a:off x="413986" y="1051575"/>
            <a:ext cx="75618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3" name="Google Shape;533;p101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Red" showMasterSp="0" type="tx">
  <p:cSld name="TITLE_AND_BODY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103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03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544" name="Google Shape;544;p103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" showMasterSp="0">
  <p:cSld name="TITLE_AND_BODY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04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04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549" name="Google Shape;549;p104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" showMasterSp="0">
  <p:cSld name="TITLE_AND_BODY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105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05"/>
          <p:cNvSpPr txBox="1"/>
          <p:nvPr>
            <p:ph type="title"/>
          </p:nvPr>
        </p:nvSpPr>
        <p:spPr>
          <a:xfrm>
            <a:off x="206381" y="2770857"/>
            <a:ext cx="59346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b="0" sz="2100"/>
            </a:lvl9pPr>
          </a:lstStyle>
          <a:p/>
        </p:txBody>
      </p:sp>
      <p:sp>
        <p:nvSpPr>
          <p:cNvPr id="553" name="Google Shape;553;p105"/>
          <p:cNvSpPr txBox="1"/>
          <p:nvPr>
            <p:ph idx="2" type="title"/>
          </p:nvPr>
        </p:nvSpPr>
        <p:spPr>
          <a:xfrm>
            <a:off x="206381" y="1435556"/>
            <a:ext cx="74526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defRPr sz="32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 sz="3200"/>
            </a:lvl9pPr>
          </a:lstStyle>
          <a:p/>
        </p:txBody>
      </p:sp>
      <p:pic>
        <p:nvPicPr>
          <p:cNvPr id="554" name="Google Shape;554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hite" showMasterSp="0">
  <p:cSld name="TITLE_AND_BODY_1_1_1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06"/>
          <p:cNvPicPr preferRelativeResize="0"/>
          <p:nvPr/>
        </p:nvPicPr>
        <p:blipFill rotWithShape="1">
          <a:blip r:embed="rId2">
            <a:alphaModFix/>
          </a:blip>
          <a:srcRect b="0" l="328" r="328" t="0"/>
          <a:stretch/>
        </p:blipFill>
        <p:spPr>
          <a:xfrm>
            <a:off x="-9" y="-16912"/>
            <a:ext cx="9144016" cy="51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06"/>
          <p:cNvSpPr txBox="1"/>
          <p:nvPr>
            <p:ph type="title"/>
          </p:nvPr>
        </p:nvSpPr>
        <p:spPr>
          <a:xfrm>
            <a:off x="206381" y="2907881"/>
            <a:ext cx="7452600" cy="6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Font typeface="Helvetica Neue"/>
              <a:buNone/>
              <a:defRPr>
                <a:solidFill>
                  <a:srgbClr val="434343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/>
            </a:lvl9pPr>
          </a:lstStyle>
          <a:p/>
        </p:txBody>
      </p:sp>
      <p:pic>
        <p:nvPicPr>
          <p:cNvPr id="558" name="Google Shape;55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394" y="1588670"/>
            <a:ext cx="1194677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06"/>
          <p:cNvSpPr txBox="1"/>
          <p:nvPr/>
        </p:nvSpPr>
        <p:spPr>
          <a:xfrm>
            <a:off x="2002977" y="1568538"/>
            <a:ext cx="23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45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1" showMasterSp="0">
  <p:cSld name="1_Title Slide Light Grey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07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63" name="Google Shape;563;p107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4" name="Google Shape;564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0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2" showMasterSp="0">
  <p:cSld name="1_Title Slide Light Grey_1_1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08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69" name="Google Shape;569;p108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70" name="Google Shape;57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08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3" showMasterSp="0">
  <p:cSld name="1_Title Slide Light Grey_1_1_1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2219"/>
            <a:ext cx="9144000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09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75" name="Google Shape;575;p109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76" name="Google Shape;57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09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4" showMasterSp="0">
  <p:cSld name="1_Title Slide Light Grey_1_1_1_3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7150" y="-22228"/>
            <a:ext cx="9183466" cy="5165718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10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81" name="Google Shape;581;p110"/>
          <p:cNvSpPr txBox="1"/>
          <p:nvPr>
            <p:ph idx="1" type="subTitle"/>
          </p:nvPr>
        </p:nvSpPr>
        <p:spPr>
          <a:xfrm>
            <a:off x="39746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82" name="Google Shape;582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110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red option 5" showMasterSp="0">
  <p:cSld name="1_Title Slide Light Grey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11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87" name="Google Shape;587;p111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88" name="Google Shape;588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11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blue option 6" showMasterSp="0">
  <p:cSld name="1_Title Slide Light Grey_1_1_1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12"/>
          <p:cNvSpPr txBox="1"/>
          <p:nvPr>
            <p:ph type="title"/>
          </p:nvPr>
        </p:nvSpPr>
        <p:spPr>
          <a:xfrm>
            <a:off x="428625" y="1639219"/>
            <a:ext cx="4309200" cy="10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>
                <a:solidFill>
                  <a:schemeClr val="dk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93" name="Google Shape;593;p112"/>
          <p:cNvSpPr txBox="1"/>
          <p:nvPr>
            <p:ph idx="1" type="subTitle"/>
          </p:nvPr>
        </p:nvSpPr>
        <p:spPr>
          <a:xfrm>
            <a:off x="454613" y="2795963"/>
            <a:ext cx="4371600" cy="3609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94" name="Google Shape;59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2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12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Blue " showMasterSp="0">
  <p:cSld name="Section Title Blue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9744" y="-22219"/>
            <a:ext cx="9183490" cy="5187937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13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4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13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600" name="Google Shape;600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 Red" showMasterSp="0">
  <p:cSld name="Section Title  Dark Grey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" y="14"/>
            <a:ext cx="9143976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14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4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14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605" name="Google Shape;605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Light Grey " showMasterSp="0">
  <p:cSld name="Section Title Light Grey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0469" y="-56662"/>
            <a:ext cx="9244762" cy="52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15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4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15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Helvetica Neue"/>
              <a:buNone/>
              <a:defRPr sz="4500">
                <a:solidFill>
                  <a:srgbClr val="FFFFFF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pic>
        <p:nvPicPr>
          <p:cNvPr id="610" name="Google Shape;610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for charts">
  <p:cSld name="Text Content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16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showMasterSp="0">
  <p:cSld name="Chart with text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7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5" name="Google Shape;615;p117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17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618" name="Google Shape;618;p117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Object placeholder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18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sp>
        <p:nvSpPr>
          <p:cNvPr id="621" name="Google Shape;621;p118"/>
          <p:cNvSpPr txBox="1"/>
          <p:nvPr>
            <p:ph type="title"/>
          </p:nvPr>
        </p:nvSpPr>
        <p:spPr>
          <a:xfrm>
            <a:off x="455044" y="224306"/>
            <a:ext cx="71088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622" name="Google Shape;622;p118"/>
          <p:cNvSpPr txBox="1"/>
          <p:nvPr>
            <p:ph idx="1" type="subTitle"/>
          </p:nvPr>
        </p:nvSpPr>
        <p:spPr>
          <a:xfrm>
            <a:off x="455044" y="1290806"/>
            <a:ext cx="7392300" cy="32817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or add number blue" showMasterSp="0">
  <p:cSld name="Bold Statetement Whit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19"/>
          <p:cNvSpPr txBox="1"/>
          <p:nvPr>
            <p:ph type="title"/>
          </p:nvPr>
        </p:nvSpPr>
        <p:spPr>
          <a:xfrm>
            <a:off x="392494" y="715894"/>
            <a:ext cx="37515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626" name="Google Shape;626;p119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p119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628" name="Google Shape;628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or add number blue 1" showMasterSp="0">
  <p:cSld name="Bold Statetement White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20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120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632" name="Google Shape;632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20"/>
          <p:cNvSpPr/>
          <p:nvPr/>
        </p:nvSpPr>
        <p:spPr>
          <a:xfrm>
            <a:off x="6167900" y="-6900"/>
            <a:ext cx="2976300" cy="5157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120"/>
          <p:cNvSpPr txBox="1"/>
          <p:nvPr>
            <p:ph type="title"/>
          </p:nvPr>
        </p:nvSpPr>
        <p:spPr>
          <a:xfrm>
            <a:off x="455049" y="224300"/>
            <a:ext cx="56385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with numbers - red" showMasterSp="0">
  <p:cSld name="Bold Statetement White_1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9444" y="-27816"/>
            <a:ext cx="9242890" cy="51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21"/>
          <p:cNvSpPr txBox="1"/>
          <p:nvPr>
            <p:ph type="title"/>
          </p:nvPr>
        </p:nvSpPr>
        <p:spPr>
          <a:xfrm>
            <a:off x="392494" y="715894"/>
            <a:ext cx="40428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sz="4500">
                <a:solidFill>
                  <a:schemeClr val="dk1"/>
                </a:solidFill>
              </a:defRPr>
            </a:lvl1pPr>
            <a:lvl2pPr lvl="1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2pPr>
            <a:lvl3pPr lvl="2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3pPr>
            <a:lvl4pPr lvl="3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4pPr>
            <a:lvl5pPr lvl="4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5pPr>
            <a:lvl6pPr lvl="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6pPr>
            <a:lvl7pPr lvl="6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7pPr>
            <a:lvl8pPr lvl="7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8pPr>
            <a:lvl9pPr lvl="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/>
            </a:lvl9pPr>
          </a:lstStyle>
          <a:p/>
        </p:txBody>
      </p:sp>
      <p:sp>
        <p:nvSpPr>
          <p:cNvPr id="638" name="Google Shape;638;p121"/>
          <p:cNvSpPr txBox="1"/>
          <p:nvPr/>
        </p:nvSpPr>
        <p:spPr>
          <a:xfrm>
            <a:off x="3795079" y="4826709"/>
            <a:ext cx="1356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i="0" lang="en" sz="7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Confidential © IDfy 202</a:t>
            </a:r>
            <a:r>
              <a:rPr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i="0" sz="7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9" name="Google Shape;639;p121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1pPr>
            <a:lvl2pPr lvl="1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2pPr>
            <a:lvl3pPr lvl="2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3pPr>
            <a:lvl4pPr lvl="3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4pPr>
            <a:lvl5pPr lvl="4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5pPr>
            <a:lvl6pPr lvl="5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6pPr>
            <a:lvl7pPr lvl="6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7pPr>
            <a:lvl8pPr lvl="7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8pPr>
            <a:lvl9pPr lvl="8" rtl="0" algn="r">
              <a:buClr>
                <a:srgbClr val="FFFFFF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None/>
            </a:pPr>
            <a:r>
              <a:t/>
            </a:r>
            <a:endParaRPr/>
          </a:p>
        </p:txBody>
      </p:sp>
      <p:pic>
        <p:nvPicPr>
          <p:cNvPr id="640" name="Google Shape;640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919" y="32681"/>
            <a:ext cx="614441" cy="61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Blue option 1" showMasterSp="0">
  <p:cSld name="Thank You Blue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22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122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45" name="Google Shape;645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2" showMasterSp="0">
  <p:cSld name="Thank you Red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3"/>
          <p:cNvSpPr txBox="1"/>
          <p:nvPr>
            <p:ph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648" name="Google Shape;648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123"/>
          <p:cNvSpPr txBox="1"/>
          <p:nvPr>
            <p:ph idx="2" type="title"/>
          </p:nvPr>
        </p:nvSpPr>
        <p:spPr>
          <a:xfrm>
            <a:off x="186056" y="4736475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650" name="Google Shape;650;p123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51" name="Google Shape;651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blue option 3" showMasterSp="0">
  <p:cSld name="Thank you Dark Grey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24"/>
          <p:cNvSpPr txBox="1"/>
          <p:nvPr>
            <p:ph type="title"/>
          </p:nvPr>
        </p:nvSpPr>
        <p:spPr>
          <a:xfrm>
            <a:off x="342900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655" name="Google Shape;655;p124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56" name="Google Shape;656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Red option 4" showMasterSp="0">
  <p:cSld name="Thank you Light Grey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25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661" name="Google Shape;661;p125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62" name="Google Shape;662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grey option 5" showMasterSp="0">
  <p:cSld name="Thank you Light Grey_1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26"/>
          <p:cNvSpPr txBox="1"/>
          <p:nvPr>
            <p:ph type="title"/>
          </p:nvPr>
        </p:nvSpPr>
        <p:spPr>
          <a:xfrm>
            <a:off x="310406" y="3453394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666" name="Google Shape;666;p126"/>
          <p:cNvSpPr txBox="1"/>
          <p:nvPr/>
        </p:nvSpPr>
        <p:spPr>
          <a:xfrm>
            <a:off x="103238" y="460597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67" name="Google Shape;667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Light Grey option 6" showMasterSp="0">
  <p:cSld name="Thank you Light Grey_1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27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0" name="Google Shape;670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00" y="-19275"/>
            <a:ext cx="9144000" cy="51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127"/>
          <p:cNvSpPr txBox="1"/>
          <p:nvPr>
            <p:ph type="title"/>
          </p:nvPr>
        </p:nvSpPr>
        <p:spPr>
          <a:xfrm>
            <a:off x="248850" y="4725919"/>
            <a:ext cx="4429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sz="1800">
                <a:solidFill>
                  <a:srgbClr val="FFFFFF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/>
            </a:lvl9pPr>
          </a:lstStyle>
          <a:p/>
        </p:txBody>
      </p:sp>
      <p:pic>
        <p:nvPicPr>
          <p:cNvPr id="672" name="Google Shape;672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50" y="155700"/>
            <a:ext cx="770478" cy="770478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27"/>
          <p:cNvSpPr txBox="1"/>
          <p:nvPr/>
        </p:nvSpPr>
        <p:spPr>
          <a:xfrm>
            <a:off x="7550006" y="4770225"/>
            <a:ext cx="1551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https://www.idfy.com/</a:t>
            </a:r>
            <a:endParaRPr b="1" sz="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ext Content_1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8"/>
          <p:cNvSpPr txBox="1"/>
          <p:nvPr>
            <p:ph type="title"/>
          </p:nvPr>
        </p:nvSpPr>
        <p:spPr>
          <a:xfrm>
            <a:off x="405994" y="162638"/>
            <a:ext cx="7027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77" name="Google Shape;677;p128"/>
          <p:cNvSpPr txBox="1"/>
          <p:nvPr>
            <p:ph idx="1" type="body"/>
          </p:nvPr>
        </p:nvSpPr>
        <p:spPr>
          <a:xfrm>
            <a:off x="413986" y="1051575"/>
            <a:ext cx="75618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8" name="Google Shape;678;p128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5" name="Google Shape;685;p1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6" name="Google Shape;686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9" name="Google Shape;689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1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3" name="Google Shape;693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6" name="Google Shape;696;p1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7" name="Google Shape;697;p1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8" name="Google Shape;698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4" name="Google Shape;704;p1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5" name="Google Shape;705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8" name="Google Shape;708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2" name="Google Shape;712;p1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3" name="Google Shape;713;p1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4" name="Google Shape;714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17" name="Google Shape;717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0" name="Google Shape;720;p1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1" name="Google Shape;721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4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7" name="Google Shape;727;p14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28" name="Google Shape;728;p1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29" name="Google Shape;729;p1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0" name="Google Shape;730;p1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1" name="Google Shape;731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33" y="177340"/>
            <a:ext cx="841774" cy="84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5358" y="4633073"/>
            <a:ext cx="1394160" cy="22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showMasterSp="0">
  <p:cSld name="Chart with text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42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42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6" name="Google Shape;736;p1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42"/>
          <p:cNvSpPr txBox="1"/>
          <p:nvPr>
            <p:ph type="title"/>
          </p:nvPr>
        </p:nvSpPr>
        <p:spPr>
          <a:xfrm>
            <a:off x="39789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738" name="Google Shape;738;p142"/>
          <p:cNvSpPr txBox="1"/>
          <p:nvPr>
            <p:ph idx="1" type="subTitle"/>
          </p:nvPr>
        </p:nvSpPr>
        <p:spPr>
          <a:xfrm>
            <a:off x="397894" y="1281600"/>
            <a:ext cx="7550400" cy="32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43"/>
          <p:cNvSpPr txBox="1"/>
          <p:nvPr>
            <p:ph type="title"/>
          </p:nvPr>
        </p:nvSpPr>
        <p:spPr>
          <a:xfrm>
            <a:off x="628651" y="273844"/>
            <a:ext cx="741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p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2" name="Google Shape;742;p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3" name="Google Shape;743;p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4" name="Google Shape;744;p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5789" y="390302"/>
            <a:ext cx="645625" cy="41584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143"/>
          <p:cNvSpPr/>
          <p:nvPr/>
        </p:nvSpPr>
        <p:spPr>
          <a:xfrm>
            <a:off x="828675" y="1369219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6" name="Google Shape;746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33" y="177340"/>
            <a:ext cx="841774" cy="841774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43"/>
          <p:cNvSpPr txBox="1"/>
          <p:nvPr/>
        </p:nvSpPr>
        <p:spPr>
          <a:xfrm>
            <a:off x="7444058" y="4767263"/>
            <a:ext cx="1699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https://www.idfy.com/</a:t>
            </a:r>
            <a:endParaRPr b="0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 placeholder">
  <p:cSld name="Object placeholder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44"/>
          <p:cNvSpPr txBox="1"/>
          <p:nvPr>
            <p:ph type="title"/>
          </p:nvPr>
        </p:nvSpPr>
        <p:spPr>
          <a:xfrm>
            <a:off x="405991" y="273844"/>
            <a:ext cx="79863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51" name="Google Shape;751;p144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sz="900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000">
              <a:solidFill>
                <a:schemeClr val="dk2"/>
              </a:solidFill>
            </a:endParaRPr>
          </a:p>
        </p:txBody>
      </p:sp>
      <p:sp>
        <p:nvSpPr>
          <p:cNvPr id="752" name="Google Shape;752;p144"/>
          <p:cNvSpPr txBox="1"/>
          <p:nvPr>
            <p:ph idx="1" type="body"/>
          </p:nvPr>
        </p:nvSpPr>
        <p:spPr>
          <a:xfrm>
            <a:off x="512303" y="1324336"/>
            <a:ext cx="7773600" cy="29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697" y="165092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45"/>
          <p:cNvSpPr txBox="1"/>
          <p:nvPr>
            <p:ph type="title"/>
          </p:nvPr>
        </p:nvSpPr>
        <p:spPr>
          <a:xfrm>
            <a:off x="570774" y="248243"/>
            <a:ext cx="6612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5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6" name="Google Shape;756;p145"/>
          <p:cNvSpPr txBox="1"/>
          <p:nvPr>
            <p:ph idx="1" type="body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57" name="Google Shape;757;p14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14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9" name="Google Shape;759;p14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">
  <p:cSld name="Text Content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46"/>
          <p:cNvSpPr txBox="1"/>
          <p:nvPr>
            <p:ph type="title"/>
          </p:nvPr>
        </p:nvSpPr>
        <p:spPr>
          <a:xfrm>
            <a:off x="455044" y="386549"/>
            <a:ext cx="7392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762" name="Google Shape;762;p146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46"/>
          <p:cNvSpPr txBox="1"/>
          <p:nvPr>
            <p:ph idx="1" type="subTitle"/>
          </p:nvPr>
        </p:nvSpPr>
        <p:spPr>
          <a:xfrm>
            <a:off x="455044" y="1510200"/>
            <a:ext cx="81915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1pPr>
            <a:lvl2pPr lvl="1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2pPr>
            <a:lvl3pPr lvl="2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3pPr>
            <a:lvl4pPr lvl="3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4pPr>
            <a:lvl5pPr lvl="4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5pPr>
            <a:lvl6pPr lvl="5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6pPr>
            <a:lvl7pPr lvl="6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7pPr>
            <a:lvl8pPr lvl="7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8pPr>
            <a:lvl9pPr lvl="8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">
  <p:cSld name="Text Content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47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66" name="Google Shape;766;p147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7" name="Google Shape;767;p147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1">
  <p:cSld name="Text Content_2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48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70" name="Google Shape;770;p148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1" name="Google Shape;771;p148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Blue" showMasterSp="0">
  <p:cSld name="Bold statement Blue">
    <p:bg>
      <p:bgPr>
        <a:solidFill>
          <a:srgbClr val="1C43B9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49"/>
          <p:cNvSpPr txBox="1"/>
          <p:nvPr>
            <p:ph idx="12" type="sldNum"/>
          </p:nvPr>
        </p:nvSpPr>
        <p:spPr>
          <a:xfrm>
            <a:off x="20893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CE1010"/>
              </a:solidFill>
            </a:endParaRPr>
          </a:p>
        </p:txBody>
      </p:sp>
      <p:sp>
        <p:nvSpPr>
          <p:cNvPr id="774" name="Google Shape;774;p149"/>
          <p:cNvSpPr txBox="1"/>
          <p:nvPr>
            <p:ph type="title"/>
          </p:nvPr>
        </p:nvSpPr>
        <p:spPr>
          <a:xfrm>
            <a:off x="405991" y="405695"/>
            <a:ext cx="77958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rtl="0" algn="l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Helvetica Neue"/>
              <a:buNone/>
              <a:defRPr sz="6600">
                <a:solidFill>
                  <a:srgbClr val="FFFFFF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75" name="Google Shape;775;p149"/>
          <p:cNvSpPr txBox="1"/>
          <p:nvPr/>
        </p:nvSpPr>
        <p:spPr>
          <a:xfrm>
            <a:off x="3728231" y="4826597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chemeClr val="lt1"/>
                </a:solidFill>
              </a:rPr>
              <a:t>3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6" name="Google Shape;776;p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98397" y="4512366"/>
            <a:ext cx="664481" cy="66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4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39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3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45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27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4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72.xml"/><Relationship Id="rId27" Type="http://schemas.openxmlformats.org/officeDocument/2006/relationships/theme" Target="../theme/theme6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93.xml"/><Relationship Id="rId24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95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97.xml"/><Relationship Id="rId5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9.xml"/><Relationship Id="rId8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0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18.xml"/><Relationship Id="rId21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19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26" Type="http://schemas.openxmlformats.org/officeDocument/2006/relationships/slideLayout" Target="../slideLayouts/slideLayout122.xml"/><Relationship Id="rId25" Type="http://schemas.openxmlformats.org/officeDocument/2006/relationships/slideLayout" Target="../slideLayouts/slideLayout121.xml"/><Relationship Id="rId28" Type="http://schemas.openxmlformats.org/officeDocument/2006/relationships/theme" Target="../theme/theme7.xml"/><Relationship Id="rId27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14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43.xml"/><Relationship Id="rId21" Type="http://schemas.openxmlformats.org/officeDocument/2006/relationships/theme" Target="../theme/theme1.xml"/><Relationship Id="rId1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0.xml"/><Relationship Id="rId16" Type="http://schemas.openxmlformats.org/officeDocument/2006/relationships/slideLayout" Target="../slideLayouts/slideLayout139.xml"/><Relationship Id="rId19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30225" y="1117931"/>
            <a:ext cx="77742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2385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3850" lvl="1" marL="914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3850" lvl="2" marL="1371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23850" lvl="3" marL="1828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23850" lvl="4" marL="22860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23850" lvl="5" marL="2743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23850" lvl="6" marL="3200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23850" lvl="7" marL="3657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23850" lvl="8" marL="4114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3" name="Google Shape;93;p19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20893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title"/>
          </p:nvPr>
        </p:nvSpPr>
        <p:spPr>
          <a:xfrm>
            <a:off x="275981" y="165094"/>
            <a:ext cx="7371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1"/>
          <p:cNvSpPr txBox="1"/>
          <p:nvPr>
            <p:ph idx="1" type="body"/>
          </p:nvPr>
        </p:nvSpPr>
        <p:spPr>
          <a:xfrm>
            <a:off x="413006" y="1051575"/>
            <a:ext cx="77742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2385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3850" lvl="1" marL="914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3850" lvl="2" marL="1371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23850" lvl="3" marL="1828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23850" lvl="4" marL="22860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23850" lvl="5" marL="2743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23850" lvl="6" marL="3200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23850" lvl="7" marL="3657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23850" lvl="8" marL="4114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6" name="Google Shape;266;p51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1"/>
          <p:cNvSpPr txBox="1"/>
          <p:nvPr>
            <p:ph idx="12" type="sldNum"/>
          </p:nvPr>
        </p:nvSpPr>
        <p:spPr>
          <a:xfrm>
            <a:off x="20893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8" name="Google Shape;268;p5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1"/>
          <p:cNvSpPr txBox="1"/>
          <p:nvPr>
            <p:ph type="title"/>
          </p:nvPr>
        </p:nvSpPr>
        <p:spPr>
          <a:xfrm>
            <a:off x="275981" y="202388"/>
            <a:ext cx="7371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Font typeface="Helvetica Neue"/>
              <a:buNone/>
              <a:defRPr b="1" sz="33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7"/>
          <p:cNvSpPr txBox="1"/>
          <p:nvPr>
            <p:ph idx="1" type="body"/>
          </p:nvPr>
        </p:nvSpPr>
        <p:spPr>
          <a:xfrm>
            <a:off x="330225" y="1117931"/>
            <a:ext cx="77742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2385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3850" lvl="1" marL="914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3850" lvl="2" marL="1371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23850" lvl="3" marL="1828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23850" lvl="4" marL="22860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23850" lvl="5" marL="2743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23850" lvl="6" marL="3200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23850" lvl="7" marL="3657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23850" lvl="8" marL="4114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7" name="Google Shape;407;p77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7"/>
          <p:cNvSpPr txBox="1"/>
          <p:nvPr>
            <p:ph idx="12" type="sldNum"/>
          </p:nvPr>
        </p:nvSpPr>
        <p:spPr>
          <a:xfrm>
            <a:off x="20893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9" name="Google Shape;409;p7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77"/>
          <p:cNvSpPr txBox="1"/>
          <p:nvPr>
            <p:ph type="title"/>
          </p:nvPr>
        </p:nvSpPr>
        <p:spPr>
          <a:xfrm>
            <a:off x="275981" y="165094"/>
            <a:ext cx="7371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02"/>
          <p:cNvSpPr txBox="1"/>
          <p:nvPr>
            <p:ph idx="1" type="body"/>
          </p:nvPr>
        </p:nvSpPr>
        <p:spPr>
          <a:xfrm>
            <a:off x="330225" y="1117931"/>
            <a:ext cx="77742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2385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3850" lvl="1" marL="914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3850" lvl="2" marL="1371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23850" lvl="3" marL="1828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23850" lvl="4" marL="22860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23850" lvl="5" marL="2743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23850" lvl="6" marL="32004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23850" lvl="7" marL="36576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23850" lvl="8" marL="41148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•"/>
              <a:defRPr b="0" i="0" sz="15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6" name="Google Shape;536;p102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02"/>
          <p:cNvSpPr txBox="1"/>
          <p:nvPr>
            <p:ph idx="12" type="sldNum"/>
          </p:nvPr>
        </p:nvSpPr>
        <p:spPr>
          <a:xfrm>
            <a:off x="20893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10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02"/>
          <p:cNvSpPr txBox="1"/>
          <p:nvPr>
            <p:ph type="title"/>
          </p:nvPr>
        </p:nvSpPr>
        <p:spPr>
          <a:xfrm>
            <a:off x="275981" y="165094"/>
            <a:ext cx="7371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  <p:sldLayoutId id="2147483768" r:id="rId25"/>
    <p:sldLayoutId id="2147483769" r:id="rId26"/>
    <p:sldLayoutId id="2147483770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46962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1" name="Google Shape;681;p1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82" name="Google Shape;682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4.png"/><Relationship Id="rId22" Type="http://schemas.openxmlformats.org/officeDocument/2006/relationships/image" Target="../media/image126.png"/><Relationship Id="rId21" Type="http://schemas.openxmlformats.org/officeDocument/2006/relationships/image" Target="../media/image124.png"/><Relationship Id="rId24" Type="http://schemas.openxmlformats.org/officeDocument/2006/relationships/image" Target="../media/image125.png"/><Relationship Id="rId23" Type="http://schemas.openxmlformats.org/officeDocument/2006/relationships/image" Target="../media/image118.png"/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5.png"/><Relationship Id="rId4" Type="http://schemas.openxmlformats.org/officeDocument/2006/relationships/image" Target="../media/image111.png"/><Relationship Id="rId9" Type="http://schemas.openxmlformats.org/officeDocument/2006/relationships/image" Target="../media/image113.png"/><Relationship Id="rId26" Type="http://schemas.openxmlformats.org/officeDocument/2006/relationships/image" Target="../media/image122.png"/><Relationship Id="rId25" Type="http://schemas.openxmlformats.org/officeDocument/2006/relationships/image" Target="../media/image129.png"/><Relationship Id="rId27" Type="http://schemas.openxmlformats.org/officeDocument/2006/relationships/image" Target="../media/image134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2.png"/><Relationship Id="rId8" Type="http://schemas.openxmlformats.org/officeDocument/2006/relationships/image" Target="../media/image108.png"/><Relationship Id="rId11" Type="http://schemas.openxmlformats.org/officeDocument/2006/relationships/image" Target="../media/image110.png"/><Relationship Id="rId10" Type="http://schemas.openxmlformats.org/officeDocument/2006/relationships/image" Target="../media/image105.png"/><Relationship Id="rId13" Type="http://schemas.openxmlformats.org/officeDocument/2006/relationships/image" Target="../media/image117.png"/><Relationship Id="rId12" Type="http://schemas.openxmlformats.org/officeDocument/2006/relationships/image" Target="../media/image112.png"/><Relationship Id="rId15" Type="http://schemas.openxmlformats.org/officeDocument/2006/relationships/image" Target="../media/image120.png"/><Relationship Id="rId14" Type="http://schemas.openxmlformats.org/officeDocument/2006/relationships/image" Target="../media/image109.png"/><Relationship Id="rId17" Type="http://schemas.openxmlformats.org/officeDocument/2006/relationships/image" Target="../media/image115.png"/><Relationship Id="rId16" Type="http://schemas.openxmlformats.org/officeDocument/2006/relationships/image" Target="../media/image116.png"/><Relationship Id="rId19" Type="http://schemas.openxmlformats.org/officeDocument/2006/relationships/image" Target="../media/image123.png"/><Relationship Id="rId18" Type="http://schemas.openxmlformats.org/officeDocument/2006/relationships/image" Target="../media/image1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7.png"/><Relationship Id="rId4" Type="http://schemas.openxmlformats.org/officeDocument/2006/relationships/image" Target="../media/image1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7.png"/><Relationship Id="rId4" Type="http://schemas.openxmlformats.org/officeDocument/2006/relationships/image" Target="../media/image130.png"/><Relationship Id="rId5" Type="http://schemas.openxmlformats.org/officeDocument/2006/relationships/image" Target="../media/image1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5.png"/><Relationship Id="rId4" Type="http://schemas.openxmlformats.org/officeDocument/2006/relationships/image" Target="../media/image132.png"/><Relationship Id="rId5" Type="http://schemas.openxmlformats.org/officeDocument/2006/relationships/image" Target="../media/image131.png"/><Relationship Id="rId6" Type="http://schemas.openxmlformats.org/officeDocument/2006/relationships/image" Target="../media/image1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4.png"/><Relationship Id="rId4" Type="http://schemas.openxmlformats.org/officeDocument/2006/relationships/image" Target="../media/image175.png"/><Relationship Id="rId9" Type="http://schemas.openxmlformats.org/officeDocument/2006/relationships/image" Target="../media/image165.png"/><Relationship Id="rId5" Type="http://schemas.openxmlformats.org/officeDocument/2006/relationships/image" Target="../media/image159.png"/><Relationship Id="rId6" Type="http://schemas.openxmlformats.org/officeDocument/2006/relationships/image" Target="../media/image145.png"/><Relationship Id="rId7" Type="http://schemas.openxmlformats.org/officeDocument/2006/relationships/image" Target="../media/image140.png"/><Relationship Id="rId8" Type="http://schemas.openxmlformats.org/officeDocument/2006/relationships/image" Target="../media/image17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1.png"/><Relationship Id="rId4" Type="http://schemas.openxmlformats.org/officeDocument/2006/relationships/image" Target="../media/image1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5.png"/><Relationship Id="rId4" Type="http://schemas.openxmlformats.org/officeDocument/2006/relationships/image" Target="../media/image19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1.png"/><Relationship Id="rId4" Type="http://schemas.openxmlformats.org/officeDocument/2006/relationships/image" Target="../media/image1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4.png"/><Relationship Id="rId4" Type="http://schemas.openxmlformats.org/officeDocument/2006/relationships/image" Target="../media/image146.png"/><Relationship Id="rId5" Type="http://schemas.openxmlformats.org/officeDocument/2006/relationships/image" Target="../media/image1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1.png"/><Relationship Id="rId4" Type="http://schemas.openxmlformats.org/officeDocument/2006/relationships/image" Target="../media/image1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0.png"/><Relationship Id="rId4" Type="http://schemas.openxmlformats.org/officeDocument/2006/relationships/image" Target="../media/image1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9.png"/><Relationship Id="rId4" Type="http://schemas.openxmlformats.org/officeDocument/2006/relationships/image" Target="../media/image203.png"/><Relationship Id="rId5" Type="http://schemas.openxmlformats.org/officeDocument/2006/relationships/image" Target="../media/image175.png"/><Relationship Id="rId6" Type="http://schemas.openxmlformats.org/officeDocument/2006/relationships/image" Target="../media/image158.png"/><Relationship Id="rId7" Type="http://schemas.openxmlformats.org/officeDocument/2006/relationships/image" Target="../media/image1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3.png"/><Relationship Id="rId4" Type="http://schemas.openxmlformats.org/officeDocument/2006/relationships/image" Target="../media/image167.png"/><Relationship Id="rId9" Type="http://schemas.openxmlformats.org/officeDocument/2006/relationships/image" Target="../media/image171.png"/><Relationship Id="rId5" Type="http://schemas.openxmlformats.org/officeDocument/2006/relationships/image" Target="../media/image161.png"/><Relationship Id="rId6" Type="http://schemas.openxmlformats.org/officeDocument/2006/relationships/image" Target="../media/image169.png"/><Relationship Id="rId7" Type="http://schemas.openxmlformats.org/officeDocument/2006/relationships/image" Target="../media/image172.png"/><Relationship Id="rId8" Type="http://schemas.openxmlformats.org/officeDocument/2006/relationships/image" Target="../media/image160.png"/><Relationship Id="rId10" Type="http://schemas.openxmlformats.org/officeDocument/2006/relationships/image" Target="../media/image16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1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8.png"/><Relationship Id="rId4" Type="http://schemas.openxmlformats.org/officeDocument/2006/relationships/image" Target="../media/image210.png"/><Relationship Id="rId5" Type="http://schemas.openxmlformats.org/officeDocument/2006/relationships/image" Target="../media/image18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4.png"/><Relationship Id="rId4" Type="http://schemas.openxmlformats.org/officeDocument/2006/relationships/image" Target="../media/image145.png"/><Relationship Id="rId5" Type="http://schemas.openxmlformats.org/officeDocument/2006/relationships/image" Target="../media/image1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notesSlide" Target="../notesSlides/notesSlide30.xml"/><Relationship Id="rId3" Type="http://schemas.openxmlformats.org/officeDocument/2006/relationships/comments" Target="../comments/comment2.xml"/><Relationship Id="rId4" Type="http://schemas.openxmlformats.org/officeDocument/2006/relationships/image" Target="../media/image177.png"/><Relationship Id="rId5" Type="http://schemas.openxmlformats.org/officeDocument/2006/relationships/image" Target="../media/image174.png"/><Relationship Id="rId6" Type="http://schemas.openxmlformats.org/officeDocument/2006/relationships/image" Target="../media/image173.png"/><Relationship Id="rId7" Type="http://schemas.openxmlformats.org/officeDocument/2006/relationships/image" Target="../media/image17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3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6.png"/><Relationship Id="rId4" Type="http://schemas.openxmlformats.org/officeDocument/2006/relationships/image" Target="../media/image190.png"/><Relationship Id="rId9" Type="http://schemas.openxmlformats.org/officeDocument/2006/relationships/image" Target="../media/image179.png"/><Relationship Id="rId5" Type="http://schemas.openxmlformats.org/officeDocument/2006/relationships/image" Target="../media/image193.png"/><Relationship Id="rId6" Type="http://schemas.openxmlformats.org/officeDocument/2006/relationships/image" Target="../media/image187.png"/><Relationship Id="rId7" Type="http://schemas.openxmlformats.org/officeDocument/2006/relationships/image" Target="../media/image182.png"/><Relationship Id="rId8" Type="http://schemas.openxmlformats.org/officeDocument/2006/relationships/image" Target="../media/image195.png"/><Relationship Id="rId11" Type="http://schemas.openxmlformats.org/officeDocument/2006/relationships/image" Target="../media/image194.png"/><Relationship Id="rId10" Type="http://schemas.openxmlformats.org/officeDocument/2006/relationships/image" Target="../media/image19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1.png"/><Relationship Id="rId4" Type="http://schemas.openxmlformats.org/officeDocument/2006/relationships/image" Target="../media/image1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Relationship Id="rId3" Type="http://schemas.openxmlformats.org/officeDocument/2006/relationships/comments" Target="../comments/comment4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comments" Target="../comments/comment5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4.png"/><Relationship Id="rId4" Type="http://schemas.openxmlformats.org/officeDocument/2006/relationships/image" Target="../media/image2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4.png"/><Relationship Id="rId4" Type="http://schemas.openxmlformats.org/officeDocument/2006/relationships/image" Target="../media/image2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1.png"/><Relationship Id="rId4" Type="http://schemas.openxmlformats.org/officeDocument/2006/relationships/image" Target="../media/image19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64.png"/><Relationship Id="rId4" Type="http://schemas.openxmlformats.org/officeDocument/2006/relationships/image" Target="../media/image2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64.png"/><Relationship Id="rId4" Type="http://schemas.openxmlformats.org/officeDocument/2006/relationships/image" Target="../media/image21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1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91.png"/><Relationship Id="rId4" Type="http://schemas.openxmlformats.org/officeDocument/2006/relationships/image" Target="../media/image19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1.png"/><Relationship Id="rId4" Type="http://schemas.openxmlformats.org/officeDocument/2006/relationships/image" Target="../media/image15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3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76.png"/><Relationship Id="rId4" Type="http://schemas.openxmlformats.org/officeDocument/2006/relationships/image" Target="../media/image190.png"/><Relationship Id="rId9" Type="http://schemas.openxmlformats.org/officeDocument/2006/relationships/image" Target="../media/image196.png"/><Relationship Id="rId5" Type="http://schemas.openxmlformats.org/officeDocument/2006/relationships/image" Target="../media/image193.png"/><Relationship Id="rId6" Type="http://schemas.openxmlformats.org/officeDocument/2006/relationships/image" Target="../media/image187.png"/><Relationship Id="rId7" Type="http://schemas.openxmlformats.org/officeDocument/2006/relationships/image" Target="../media/image182.png"/><Relationship Id="rId8" Type="http://schemas.openxmlformats.org/officeDocument/2006/relationships/image" Target="../media/image19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76.png"/><Relationship Id="rId4" Type="http://schemas.openxmlformats.org/officeDocument/2006/relationships/image" Target="../media/image190.png"/><Relationship Id="rId9" Type="http://schemas.openxmlformats.org/officeDocument/2006/relationships/image" Target="../media/image196.png"/><Relationship Id="rId5" Type="http://schemas.openxmlformats.org/officeDocument/2006/relationships/image" Target="../media/image193.png"/><Relationship Id="rId6" Type="http://schemas.openxmlformats.org/officeDocument/2006/relationships/image" Target="../media/image187.png"/><Relationship Id="rId7" Type="http://schemas.openxmlformats.org/officeDocument/2006/relationships/image" Target="../media/image182.png"/><Relationship Id="rId8" Type="http://schemas.openxmlformats.org/officeDocument/2006/relationships/image" Target="../media/image19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76.png"/><Relationship Id="rId4" Type="http://schemas.openxmlformats.org/officeDocument/2006/relationships/image" Target="../media/image190.png"/><Relationship Id="rId9" Type="http://schemas.openxmlformats.org/officeDocument/2006/relationships/image" Target="../media/image179.png"/><Relationship Id="rId5" Type="http://schemas.openxmlformats.org/officeDocument/2006/relationships/image" Target="../media/image193.png"/><Relationship Id="rId6" Type="http://schemas.openxmlformats.org/officeDocument/2006/relationships/image" Target="../media/image187.png"/><Relationship Id="rId7" Type="http://schemas.openxmlformats.org/officeDocument/2006/relationships/image" Target="../media/image182.png"/><Relationship Id="rId8" Type="http://schemas.openxmlformats.org/officeDocument/2006/relationships/image" Target="../media/image195.png"/><Relationship Id="rId11" Type="http://schemas.openxmlformats.org/officeDocument/2006/relationships/image" Target="../media/image194.png"/><Relationship Id="rId10" Type="http://schemas.openxmlformats.org/officeDocument/2006/relationships/image" Target="../media/image19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0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77.png"/><Relationship Id="rId4" Type="http://schemas.openxmlformats.org/officeDocument/2006/relationships/image" Target="../media/image174.png"/><Relationship Id="rId5" Type="http://schemas.openxmlformats.org/officeDocument/2006/relationships/image" Target="../media/image173.png"/><Relationship Id="rId6" Type="http://schemas.openxmlformats.org/officeDocument/2006/relationships/image" Target="../media/image17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06.png"/><Relationship Id="rId4" Type="http://schemas.openxmlformats.org/officeDocument/2006/relationships/image" Target="../media/image20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77.png"/><Relationship Id="rId4" Type="http://schemas.openxmlformats.org/officeDocument/2006/relationships/image" Target="../media/image174.png"/><Relationship Id="rId5" Type="http://schemas.openxmlformats.org/officeDocument/2006/relationships/image" Target="../media/image173.png"/><Relationship Id="rId6" Type="http://schemas.openxmlformats.org/officeDocument/2006/relationships/image" Target="../media/image17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0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09.png"/><Relationship Id="rId4" Type="http://schemas.openxmlformats.org/officeDocument/2006/relationships/image" Target="../media/image213.png"/><Relationship Id="rId5" Type="http://schemas.openxmlformats.org/officeDocument/2006/relationships/image" Target="../media/image21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2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14.png"/><Relationship Id="rId4" Type="http://schemas.openxmlformats.org/officeDocument/2006/relationships/image" Target="../media/image215.png"/><Relationship Id="rId5" Type="http://schemas.openxmlformats.org/officeDocument/2006/relationships/image" Target="../media/image21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16.png"/><Relationship Id="rId4" Type="http://schemas.openxmlformats.org/officeDocument/2006/relationships/image" Target="../media/image217.png"/><Relationship Id="rId5" Type="http://schemas.openxmlformats.org/officeDocument/2006/relationships/image" Target="../media/image218.png"/><Relationship Id="rId6" Type="http://schemas.openxmlformats.org/officeDocument/2006/relationships/image" Target="../media/image205.png"/><Relationship Id="rId7" Type="http://schemas.openxmlformats.org/officeDocument/2006/relationships/image" Target="../media/image21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20.png"/><Relationship Id="rId4" Type="http://schemas.openxmlformats.org/officeDocument/2006/relationships/image" Target="../media/image21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2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76.png"/><Relationship Id="rId4" Type="http://schemas.openxmlformats.org/officeDocument/2006/relationships/image" Target="../media/image190.png"/><Relationship Id="rId9" Type="http://schemas.openxmlformats.org/officeDocument/2006/relationships/image" Target="../media/image179.png"/><Relationship Id="rId5" Type="http://schemas.openxmlformats.org/officeDocument/2006/relationships/image" Target="../media/image193.png"/><Relationship Id="rId6" Type="http://schemas.openxmlformats.org/officeDocument/2006/relationships/image" Target="../media/image187.png"/><Relationship Id="rId7" Type="http://schemas.openxmlformats.org/officeDocument/2006/relationships/image" Target="../media/image182.png"/><Relationship Id="rId8" Type="http://schemas.openxmlformats.org/officeDocument/2006/relationships/image" Target="../media/image195.png"/><Relationship Id="rId11" Type="http://schemas.openxmlformats.org/officeDocument/2006/relationships/image" Target="../media/image194.png"/><Relationship Id="rId10" Type="http://schemas.openxmlformats.org/officeDocument/2006/relationships/image" Target="../media/image19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50"/>
          <p:cNvSpPr txBox="1"/>
          <p:nvPr>
            <p:ph idx="4294967295" type="ctrTitle"/>
          </p:nvPr>
        </p:nvSpPr>
        <p:spPr>
          <a:xfrm>
            <a:off x="2008621" y="2208100"/>
            <a:ext cx="36084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" sz="1278">
                <a:solidFill>
                  <a:schemeClr val="lt1"/>
                </a:solidFill>
              </a:rPr>
              <a:t>Eliminate Fraud. Establish Trust.</a:t>
            </a:r>
            <a:endParaRPr b="1" sz="1278">
              <a:solidFill>
                <a:schemeClr val="lt1"/>
              </a:solidFill>
            </a:endParaRPr>
          </a:p>
        </p:txBody>
      </p:sp>
      <p:sp>
        <p:nvSpPr>
          <p:cNvPr id="782" name="Google Shape;782;p150"/>
          <p:cNvSpPr txBox="1"/>
          <p:nvPr>
            <p:ph idx="4294967295" type="ctrTitle"/>
          </p:nvPr>
        </p:nvSpPr>
        <p:spPr>
          <a:xfrm>
            <a:off x="492243" y="1866919"/>
            <a:ext cx="74166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" sz="2200">
                <a:solidFill>
                  <a:schemeClr val="lt1"/>
                </a:solidFill>
              </a:rPr>
              <a:t>IDfy Transaction Intelligence Platform</a:t>
            </a:r>
            <a:endParaRPr b="1"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51"/>
          <p:cNvSpPr txBox="1"/>
          <p:nvPr>
            <p:ph type="title"/>
          </p:nvPr>
        </p:nvSpPr>
        <p:spPr>
          <a:xfrm>
            <a:off x="177056" y="107813"/>
            <a:ext cx="6917400" cy="609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We work with industry leaders across multiple sectors</a:t>
            </a:r>
            <a:endParaRPr sz="2000"/>
          </a:p>
        </p:txBody>
      </p:sp>
      <p:sp>
        <p:nvSpPr>
          <p:cNvPr id="788" name="Google Shape;788;p151"/>
          <p:cNvSpPr txBox="1"/>
          <p:nvPr/>
        </p:nvSpPr>
        <p:spPr>
          <a:xfrm>
            <a:off x="539021" y="1102451"/>
            <a:ext cx="4701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19275" spcFirstLastPara="1" rIns="19275" wrap="square" tIns="1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 Light"/>
              <a:buNone/>
            </a:pPr>
            <a:r>
              <a:rPr b="1" i="0" lang="en" sz="900" u="none" cap="none" strike="noStrike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Banks</a:t>
            </a:r>
            <a:endParaRPr b="1" i="0" sz="900" u="none" cap="none" strike="noStrike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9" name="Google Shape;789;p151"/>
          <p:cNvSpPr txBox="1"/>
          <p:nvPr/>
        </p:nvSpPr>
        <p:spPr>
          <a:xfrm>
            <a:off x="539020" y="1669483"/>
            <a:ext cx="1183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19275" spcFirstLastPara="1" rIns="19275" wrap="square" tIns="1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 Light"/>
              <a:buNone/>
            </a:pPr>
            <a:r>
              <a:rPr b="1" i="0" lang="en" sz="900" u="none" cap="none" strike="noStrike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Fintechs / NBFCs</a:t>
            </a:r>
            <a:endParaRPr b="1" i="0" sz="900" u="none" cap="none" strike="noStrike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0" name="Google Shape;790;p151"/>
          <p:cNvSpPr txBox="1"/>
          <p:nvPr/>
        </p:nvSpPr>
        <p:spPr>
          <a:xfrm>
            <a:off x="539021" y="3567855"/>
            <a:ext cx="8418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19275" spcFirstLastPara="1" rIns="19275" wrap="square" tIns="1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 Light"/>
              <a:buNone/>
            </a:pPr>
            <a:r>
              <a:rPr b="1" i="0" lang="en" sz="900" u="none" cap="none" strike="noStrike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E-Com &amp; Logistics</a:t>
            </a:r>
            <a:endParaRPr b="1" i="0" sz="900" u="none" cap="none" strike="noStrike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1" name="Google Shape;791;p151"/>
          <p:cNvSpPr txBox="1"/>
          <p:nvPr/>
        </p:nvSpPr>
        <p:spPr>
          <a:xfrm>
            <a:off x="539025" y="4176628"/>
            <a:ext cx="903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19275" spcFirstLastPara="1" rIns="19275" wrap="square" tIns="1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 Light"/>
              <a:buNone/>
            </a:pP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Misc.</a:t>
            </a:r>
            <a:endParaRPr b="1" i="0" sz="900" u="none" cap="none" strike="noStrike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2" name="Google Shape;792;p151"/>
          <p:cNvSpPr txBox="1"/>
          <p:nvPr/>
        </p:nvSpPr>
        <p:spPr>
          <a:xfrm>
            <a:off x="539020" y="2845766"/>
            <a:ext cx="1234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19275" spcFirstLastPara="1" rIns="19275" wrap="square" tIns="1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 Light"/>
              <a:buNone/>
            </a:pPr>
            <a:r>
              <a:rPr b="1" i="0" lang="en" sz="900" u="none" cap="none" strike="noStrike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Payments </a:t>
            </a:r>
            <a:endParaRPr b="1" i="0" sz="900" u="none" cap="none" strike="noStrike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PhonePe-Logo.wine.png" id="793" name="Google Shape;793;p151"/>
          <p:cNvPicPr preferRelativeResize="0"/>
          <p:nvPr/>
        </p:nvPicPr>
        <p:blipFill rotWithShape="1">
          <a:blip r:embed="rId3">
            <a:alphaModFix/>
          </a:blip>
          <a:srcRect b="32242" l="10697" r="10007" t="32489"/>
          <a:stretch/>
        </p:blipFill>
        <p:spPr>
          <a:xfrm>
            <a:off x="3022018" y="2838991"/>
            <a:ext cx="770531" cy="25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151"/>
          <p:cNvPicPr preferRelativeResize="0"/>
          <p:nvPr/>
        </p:nvPicPr>
        <p:blipFill rotWithShape="1">
          <a:blip r:embed="rId4">
            <a:alphaModFix/>
          </a:blip>
          <a:srcRect b="37521" l="13858" r="14002" t="35683"/>
          <a:stretch/>
        </p:blipFill>
        <p:spPr>
          <a:xfrm>
            <a:off x="2986421" y="1161979"/>
            <a:ext cx="841723" cy="100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151"/>
          <p:cNvPicPr preferRelativeResize="0"/>
          <p:nvPr/>
        </p:nvPicPr>
        <p:blipFill rotWithShape="1">
          <a:blip r:embed="rId5">
            <a:alphaModFix/>
          </a:blip>
          <a:srcRect b="24216" l="0" r="0" t="23083"/>
          <a:stretch/>
        </p:blipFill>
        <p:spPr>
          <a:xfrm>
            <a:off x="1803991" y="2816725"/>
            <a:ext cx="764976" cy="297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1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6443" y="1131408"/>
            <a:ext cx="940069" cy="16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1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1203" y="4166425"/>
            <a:ext cx="770550" cy="25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151"/>
          <p:cNvPicPr preferRelativeResize="0"/>
          <p:nvPr/>
        </p:nvPicPr>
        <p:blipFill rotWithShape="1">
          <a:blip r:embed="rId8">
            <a:alphaModFix/>
          </a:blip>
          <a:srcRect b="35038" l="0" r="0" t="35047"/>
          <a:stretch/>
        </p:blipFill>
        <p:spPr>
          <a:xfrm>
            <a:off x="1753228" y="3516434"/>
            <a:ext cx="866500" cy="259229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151"/>
          <p:cNvSpPr txBox="1"/>
          <p:nvPr/>
        </p:nvSpPr>
        <p:spPr>
          <a:xfrm>
            <a:off x="539020" y="2247875"/>
            <a:ext cx="12345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275" lIns="19275" spcFirstLastPara="1" rIns="19275" wrap="square" tIns="19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 Light"/>
              <a:buNone/>
            </a:pPr>
            <a:r>
              <a:rPr b="1" i="0" lang="en" sz="900" u="none" cap="none" strike="noStrike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Insurance</a:t>
            </a:r>
            <a:endParaRPr b="1" i="0" sz="900" u="none" cap="none" strike="noStrike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00" name="Google Shape;800;p151"/>
          <p:cNvPicPr preferRelativeResize="0"/>
          <p:nvPr/>
        </p:nvPicPr>
        <p:blipFill rotWithShape="1">
          <a:blip r:embed="rId9">
            <a:alphaModFix/>
          </a:blip>
          <a:srcRect b="35038" l="0" r="0" t="35047"/>
          <a:stretch/>
        </p:blipFill>
        <p:spPr>
          <a:xfrm>
            <a:off x="2925508" y="2245384"/>
            <a:ext cx="963551" cy="2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151"/>
          <p:cNvPicPr preferRelativeResize="0"/>
          <p:nvPr/>
        </p:nvPicPr>
        <p:blipFill rotWithShape="1">
          <a:blip r:embed="rId10">
            <a:alphaModFix/>
          </a:blip>
          <a:srcRect b="24669" l="0" r="0" t="33661"/>
          <a:stretch/>
        </p:blipFill>
        <p:spPr>
          <a:xfrm>
            <a:off x="4192957" y="2274035"/>
            <a:ext cx="739893" cy="230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151"/>
          <p:cNvPicPr preferRelativeResize="0"/>
          <p:nvPr/>
        </p:nvPicPr>
        <p:blipFill rotWithShape="1">
          <a:blip r:embed="rId11">
            <a:alphaModFix/>
          </a:blip>
          <a:srcRect b="16901" l="5437" r="0" t="25435"/>
          <a:stretch/>
        </p:blipFill>
        <p:spPr>
          <a:xfrm>
            <a:off x="4111028" y="1644473"/>
            <a:ext cx="903750" cy="308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151"/>
          <p:cNvPicPr preferRelativeResize="0"/>
          <p:nvPr/>
        </p:nvPicPr>
        <p:blipFill rotWithShape="1">
          <a:blip r:embed="rId12">
            <a:alphaModFix/>
          </a:blip>
          <a:srcRect b="29584" l="0" r="0" t="24599"/>
          <a:stretch/>
        </p:blipFill>
        <p:spPr>
          <a:xfrm>
            <a:off x="2998284" y="1658432"/>
            <a:ext cx="817998" cy="28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15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08858" y="4154366"/>
            <a:ext cx="596850" cy="281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151"/>
          <p:cNvPicPr preferRelativeResize="0"/>
          <p:nvPr/>
        </p:nvPicPr>
        <p:blipFill rotWithShape="1">
          <a:blip r:embed="rId14">
            <a:alphaModFix/>
          </a:blip>
          <a:srcRect b="16394" l="22059" r="21351" t="20138"/>
          <a:stretch/>
        </p:blipFill>
        <p:spPr>
          <a:xfrm>
            <a:off x="4390751" y="4166427"/>
            <a:ext cx="344306" cy="256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15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081128" y="2863849"/>
            <a:ext cx="963550" cy="202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151"/>
          <p:cNvPicPr preferRelativeResize="0"/>
          <p:nvPr/>
        </p:nvPicPr>
        <p:blipFill rotWithShape="1">
          <a:blip r:embed="rId16">
            <a:alphaModFix/>
          </a:blip>
          <a:srcRect b="23988" l="5671" r="3889" t="24335"/>
          <a:stretch/>
        </p:blipFill>
        <p:spPr>
          <a:xfrm>
            <a:off x="2998283" y="3523173"/>
            <a:ext cx="818000" cy="24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15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00929" y="950301"/>
            <a:ext cx="523950" cy="5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15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752479" y="2274035"/>
            <a:ext cx="868000" cy="230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151"/>
          <p:cNvPicPr preferRelativeResize="0"/>
          <p:nvPr/>
        </p:nvPicPr>
        <p:blipFill rotWithShape="1">
          <a:blip r:embed="rId19">
            <a:alphaModFix/>
          </a:blip>
          <a:srcRect b="33226" l="0" r="0" t="25986"/>
          <a:stretch/>
        </p:blipFill>
        <p:spPr>
          <a:xfrm>
            <a:off x="5240519" y="1065093"/>
            <a:ext cx="963550" cy="294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15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081122" y="3521877"/>
            <a:ext cx="963563" cy="2483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2" name="Google Shape;812;p151"/>
          <p:cNvGrpSpPr/>
          <p:nvPr/>
        </p:nvGrpSpPr>
        <p:grpSpPr>
          <a:xfrm>
            <a:off x="7248825" y="1601925"/>
            <a:ext cx="1790475" cy="745481"/>
            <a:chOff x="9614300" y="3210013"/>
            <a:chExt cx="2387300" cy="993975"/>
          </a:xfrm>
        </p:grpSpPr>
        <p:sp>
          <p:nvSpPr>
            <p:cNvPr id="813" name="Google Shape;813;p151"/>
            <p:cNvSpPr txBox="1"/>
            <p:nvPr/>
          </p:nvSpPr>
          <p:spPr>
            <a:xfrm>
              <a:off x="9614300" y="3210013"/>
              <a:ext cx="1828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60Mn+</a:t>
              </a:r>
              <a:endParaRPr b="1" i="0" sz="3000" u="none" cap="none" strike="noStrike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4" name="Google Shape;814;p151"/>
            <p:cNvSpPr txBox="1"/>
            <p:nvPr/>
          </p:nvSpPr>
          <p:spPr>
            <a:xfrm>
              <a:off x="9639700" y="3855088"/>
              <a:ext cx="23619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rPr b="1" lang="en" sz="800">
                  <a:solidFill>
                    <a:srgbClr val="50505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VERIFICATIONS PER MONTH</a:t>
              </a:r>
              <a:endParaRPr b="1" sz="800">
                <a:solidFill>
                  <a:srgbClr val="505050"/>
                </a:solidFill>
              </a:endParaRPr>
            </a:p>
          </p:txBody>
        </p:sp>
      </p:grpSp>
      <p:grpSp>
        <p:nvGrpSpPr>
          <p:cNvPr id="815" name="Google Shape;815;p151"/>
          <p:cNvGrpSpPr/>
          <p:nvPr/>
        </p:nvGrpSpPr>
        <p:grpSpPr>
          <a:xfrm>
            <a:off x="5661431" y="1591765"/>
            <a:ext cx="1456875" cy="765785"/>
            <a:chOff x="9614299" y="1713278"/>
            <a:chExt cx="1942500" cy="1021047"/>
          </a:xfrm>
        </p:grpSpPr>
        <p:sp>
          <p:nvSpPr>
            <p:cNvPr id="816" name="Google Shape;816;p151"/>
            <p:cNvSpPr txBox="1"/>
            <p:nvPr/>
          </p:nvSpPr>
          <p:spPr>
            <a:xfrm>
              <a:off x="9614299" y="1713278"/>
              <a:ext cx="1942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" sz="3000" u="none" cap="none" strike="noStrike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</a:t>
              </a:r>
              <a:r>
                <a:rPr b="1" lang="en" sz="3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</a:t>
              </a:r>
              <a:r>
                <a:rPr b="1" i="0" lang="en" sz="3000" u="none" cap="none" strike="noStrike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00+</a:t>
              </a:r>
              <a:endParaRPr b="0" i="0" sz="3000" u="none" cap="none" strike="noStrike">
                <a:solidFill>
                  <a:srgbClr val="274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51"/>
            <p:cNvSpPr txBox="1"/>
            <p:nvPr/>
          </p:nvSpPr>
          <p:spPr>
            <a:xfrm>
              <a:off x="9727800" y="2385425"/>
              <a:ext cx="15783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lang="en" sz="800">
                  <a:solidFill>
                    <a:srgbClr val="50505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CLIENTS SERVED</a:t>
              </a:r>
              <a:endParaRPr b="1" sz="800"/>
            </a:p>
          </p:txBody>
        </p:sp>
      </p:grpSp>
      <p:pic>
        <p:nvPicPr>
          <p:cNvPr id="818" name="Google Shape;818;p151"/>
          <p:cNvPicPr preferRelativeResize="0"/>
          <p:nvPr/>
        </p:nvPicPr>
        <p:blipFill rotWithShape="1">
          <a:blip r:embed="rId21">
            <a:alphaModFix/>
          </a:blip>
          <a:srcRect b="25961" l="0" r="0" t="24181"/>
          <a:stretch/>
        </p:blipFill>
        <p:spPr>
          <a:xfrm>
            <a:off x="5749162" y="3412199"/>
            <a:ext cx="1515963" cy="45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15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850691" y="3304847"/>
            <a:ext cx="607897" cy="5738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0" name="Google Shape;820;p151"/>
          <p:cNvCxnSpPr/>
          <p:nvPr/>
        </p:nvCxnSpPr>
        <p:spPr>
          <a:xfrm>
            <a:off x="5338106" y="1644469"/>
            <a:ext cx="0" cy="3108600"/>
          </a:xfrm>
          <a:prstGeom prst="straightConnector1">
            <a:avLst/>
          </a:prstGeom>
          <a:noFill/>
          <a:ln cap="flat" cmpd="sng" w="9525">
            <a:solidFill>
              <a:srgbClr val="1C43B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1" name="Google Shape;821;p151"/>
          <p:cNvGrpSpPr/>
          <p:nvPr/>
        </p:nvGrpSpPr>
        <p:grpSpPr>
          <a:xfrm>
            <a:off x="7396350" y="2378681"/>
            <a:ext cx="827400" cy="712069"/>
            <a:chOff x="9887275" y="4993413"/>
            <a:chExt cx="1103200" cy="949425"/>
          </a:xfrm>
        </p:grpSpPr>
        <p:sp>
          <p:nvSpPr>
            <p:cNvPr id="822" name="Google Shape;822;p151"/>
            <p:cNvSpPr txBox="1"/>
            <p:nvPr/>
          </p:nvSpPr>
          <p:spPr>
            <a:xfrm>
              <a:off x="9887275" y="4993413"/>
              <a:ext cx="1090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3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5+</a:t>
              </a:r>
              <a:endParaRPr b="1" sz="3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3" name="Google Shape;823;p151"/>
            <p:cNvSpPr txBox="1"/>
            <p:nvPr/>
          </p:nvSpPr>
          <p:spPr>
            <a:xfrm>
              <a:off x="9899975" y="5593938"/>
              <a:ext cx="10905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800">
                  <a:solidFill>
                    <a:srgbClr val="50505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COUNTRIES</a:t>
              </a:r>
              <a:endParaRPr b="1" sz="800">
                <a:solidFill>
                  <a:srgbClr val="505050"/>
                </a:solidFill>
              </a:endParaRPr>
            </a:p>
          </p:txBody>
        </p:sp>
      </p:grpSp>
      <p:grpSp>
        <p:nvGrpSpPr>
          <p:cNvPr id="824" name="Google Shape;824;p151"/>
          <p:cNvGrpSpPr/>
          <p:nvPr/>
        </p:nvGrpSpPr>
        <p:grpSpPr>
          <a:xfrm>
            <a:off x="5670900" y="2391094"/>
            <a:ext cx="1751156" cy="703050"/>
            <a:chOff x="9823700" y="3587000"/>
            <a:chExt cx="2334875" cy="937400"/>
          </a:xfrm>
        </p:grpSpPr>
        <p:sp>
          <p:nvSpPr>
            <p:cNvPr id="825" name="Google Shape;825;p151"/>
            <p:cNvSpPr txBox="1"/>
            <p:nvPr/>
          </p:nvSpPr>
          <p:spPr>
            <a:xfrm>
              <a:off x="9823700" y="3587000"/>
              <a:ext cx="21315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3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1000</a:t>
              </a:r>
              <a:r>
                <a:rPr b="1" lang="en" sz="3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</a:t>
              </a:r>
              <a:endParaRPr b="1" sz="3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6" name="Google Shape;826;p151"/>
            <p:cNvSpPr txBox="1"/>
            <p:nvPr/>
          </p:nvSpPr>
          <p:spPr>
            <a:xfrm>
              <a:off x="9925375" y="4175500"/>
              <a:ext cx="22332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800">
                  <a:solidFill>
                    <a:srgbClr val="50505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SIGNALS TO DETECT FRAUD</a:t>
              </a:r>
              <a:endParaRPr b="1" sz="800">
                <a:solidFill>
                  <a:srgbClr val="505050"/>
                </a:solidFill>
              </a:endParaRPr>
            </a:p>
          </p:txBody>
        </p:sp>
      </p:grpSp>
      <p:grpSp>
        <p:nvGrpSpPr>
          <p:cNvPr id="827" name="Google Shape;827;p151"/>
          <p:cNvGrpSpPr/>
          <p:nvPr/>
        </p:nvGrpSpPr>
        <p:grpSpPr>
          <a:xfrm>
            <a:off x="5749117" y="4085791"/>
            <a:ext cx="3213216" cy="636006"/>
            <a:chOff x="5821925" y="4830125"/>
            <a:chExt cx="5962546" cy="1179974"/>
          </a:xfrm>
        </p:grpSpPr>
        <p:pic>
          <p:nvPicPr>
            <p:cNvPr id="828" name="Google Shape;828;p151"/>
            <p:cNvPicPr preferRelativeResize="0"/>
            <p:nvPr/>
          </p:nvPicPr>
          <p:blipFill rotWithShape="1">
            <a:blip r:embed="rId23">
              <a:alphaModFix/>
            </a:blip>
            <a:srcRect b="5517" l="22196" r="22506" t="8947"/>
            <a:stretch/>
          </p:blipFill>
          <p:spPr>
            <a:xfrm>
              <a:off x="7182275" y="4830125"/>
              <a:ext cx="762835" cy="1179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9" name="Google Shape;829;p15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423817" y="5107901"/>
              <a:ext cx="1285581" cy="624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0" name="Google Shape;830;p15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821925" y="4979291"/>
              <a:ext cx="881643" cy="8816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1" name="Google Shape;831;p15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0146251" y="5073041"/>
              <a:ext cx="1638220" cy="6941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32" name="Google Shape;832;p15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884851" y="1519995"/>
            <a:ext cx="607900" cy="546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52"/>
          <p:cNvSpPr txBox="1"/>
          <p:nvPr>
            <p:ph type="title"/>
          </p:nvPr>
        </p:nvSpPr>
        <p:spPr>
          <a:xfrm>
            <a:off x="177056" y="107813"/>
            <a:ext cx="6917400" cy="609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Our offerings are within 3 pillars</a:t>
            </a:r>
            <a:endParaRPr sz="2000"/>
          </a:p>
        </p:txBody>
      </p:sp>
      <p:sp>
        <p:nvSpPr>
          <p:cNvPr id="838" name="Google Shape;838;p152"/>
          <p:cNvSpPr/>
          <p:nvPr/>
        </p:nvSpPr>
        <p:spPr>
          <a:xfrm>
            <a:off x="666750" y="1819275"/>
            <a:ext cx="8143800" cy="2752800"/>
          </a:xfrm>
          <a:prstGeom prst="roundRect">
            <a:avLst>
              <a:gd fmla="val 14274" name="adj"/>
            </a:avLst>
          </a:prstGeom>
          <a:noFill/>
          <a:ln cap="flat" cmpd="sng" w="28575">
            <a:solidFill>
              <a:srgbClr val="1C43B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9" name="Google Shape;839;p152"/>
          <p:cNvSpPr/>
          <p:nvPr/>
        </p:nvSpPr>
        <p:spPr>
          <a:xfrm>
            <a:off x="1056225" y="2861831"/>
            <a:ext cx="7595700" cy="1300500"/>
          </a:xfrm>
          <a:prstGeom prst="roundRect">
            <a:avLst>
              <a:gd fmla="val 20370" name="adj"/>
            </a:avLst>
          </a:prstGeom>
          <a:noFill/>
          <a:ln cap="flat" cmpd="sng" w="9525">
            <a:solidFill>
              <a:srgbClr val="1C43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0" name="Google Shape;840;p152"/>
          <p:cNvSpPr/>
          <p:nvPr/>
        </p:nvSpPr>
        <p:spPr>
          <a:xfrm>
            <a:off x="542925" y="1706888"/>
            <a:ext cx="8109000" cy="29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1" name="Google Shape;841;p152"/>
          <p:cNvSpPr/>
          <p:nvPr/>
        </p:nvSpPr>
        <p:spPr>
          <a:xfrm>
            <a:off x="1238250" y="4502925"/>
            <a:ext cx="6977400" cy="29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42" name="Google Shape;842;p152"/>
          <p:cNvGrpSpPr/>
          <p:nvPr/>
        </p:nvGrpSpPr>
        <p:grpSpPr>
          <a:xfrm>
            <a:off x="1428557" y="869636"/>
            <a:ext cx="1750512" cy="1750512"/>
            <a:chOff x="642575" y="1001450"/>
            <a:chExt cx="3051800" cy="3051800"/>
          </a:xfrm>
        </p:grpSpPr>
        <p:pic>
          <p:nvPicPr>
            <p:cNvPr id="843" name="Google Shape;843;p1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2575" y="1001450"/>
              <a:ext cx="3051800" cy="305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4" name="Google Shape;844;p152"/>
            <p:cNvSpPr/>
            <p:nvPr/>
          </p:nvSpPr>
          <p:spPr>
            <a:xfrm>
              <a:off x="945664" y="1304543"/>
              <a:ext cx="2445600" cy="2445600"/>
            </a:xfrm>
            <a:prstGeom prst="ellipse">
              <a:avLst/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5" name="Google Shape;845;p152"/>
            <p:cNvSpPr/>
            <p:nvPr/>
          </p:nvSpPr>
          <p:spPr>
            <a:xfrm>
              <a:off x="987875" y="1998325"/>
              <a:ext cx="2361000" cy="9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425" lIns="51425" spcFirstLastPara="1" rIns="51425" wrap="square" tIns="5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14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Onboarding</a:t>
              </a:r>
              <a:endParaRPr b="1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46" name="Google Shape;846;p152"/>
          <p:cNvGrpSpPr/>
          <p:nvPr/>
        </p:nvGrpSpPr>
        <p:grpSpPr>
          <a:xfrm>
            <a:off x="4165069" y="869667"/>
            <a:ext cx="1750512" cy="1750512"/>
            <a:chOff x="4570100" y="1001450"/>
            <a:chExt cx="3051800" cy="3051800"/>
          </a:xfrm>
        </p:grpSpPr>
        <p:pic>
          <p:nvPicPr>
            <p:cNvPr id="847" name="Google Shape;847;p1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70100" y="1001450"/>
              <a:ext cx="3051800" cy="305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" name="Google Shape;848;p152"/>
            <p:cNvSpPr/>
            <p:nvPr/>
          </p:nvSpPr>
          <p:spPr>
            <a:xfrm>
              <a:off x="4873189" y="1304543"/>
              <a:ext cx="2445600" cy="2445600"/>
            </a:xfrm>
            <a:prstGeom prst="ellipse">
              <a:avLst/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9" name="Google Shape;849;p152"/>
            <p:cNvSpPr/>
            <p:nvPr/>
          </p:nvSpPr>
          <p:spPr>
            <a:xfrm>
              <a:off x="4915400" y="1998325"/>
              <a:ext cx="2361000" cy="9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1425" lIns="51425" spcFirstLastPara="1" rIns="51425" wrap="square" tIns="5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14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Risk &amp; Fraud Prevention</a:t>
              </a:r>
              <a:endParaRPr b="1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50" name="Google Shape;850;p152"/>
          <p:cNvGrpSpPr/>
          <p:nvPr/>
        </p:nvGrpSpPr>
        <p:grpSpPr>
          <a:xfrm>
            <a:off x="6901491" y="869651"/>
            <a:ext cx="1750512" cy="1750512"/>
            <a:chOff x="8843125" y="1001450"/>
            <a:chExt cx="3051800" cy="3051800"/>
          </a:xfrm>
        </p:grpSpPr>
        <p:pic>
          <p:nvPicPr>
            <p:cNvPr id="851" name="Google Shape;851;p1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843125" y="1001450"/>
              <a:ext cx="3051800" cy="3051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" name="Google Shape;852;p152"/>
            <p:cNvSpPr/>
            <p:nvPr/>
          </p:nvSpPr>
          <p:spPr>
            <a:xfrm>
              <a:off x="9146214" y="1304543"/>
              <a:ext cx="2445600" cy="2445600"/>
            </a:xfrm>
            <a:prstGeom prst="ellipse">
              <a:avLst/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3" name="Google Shape;853;p152"/>
            <p:cNvSpPr/>
            <p:nvPr/>
          </p:nvSpPr>
          <p:spPr>
            <a:xfrm>
              <a:off x="9188425" y="1998325"/>
              <a:ext cx="2361000" cy="9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425" lIns="51425" spcFirstLastPara="1" rIns="51425" wrap="square" tIns="5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en" sz="14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Privacy</a:t>
              </a:r>
              <a:endParaRPr b="1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854" name="Google Shape;854;p152"/>
          <p:cNvSpPr txBox="1"/>
          <p:nvPr>
            <p:ph type="title"/>
          </p:nvPr>
        </p:nvSpPr>
        <p:spPr>
          <a:xfrm rot="-5400000">
            <a:off x="133125" y="1867350"/>
            <a:ext cx="1096500" cy="2769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C43B9"/>
                </a:solidFill>
                <a:highlight>
                  <a:schemeClr val="lt1"/>
                </a:highlight>
              </a:rPr>
              <a:t>SOLUTIONS</a:t>
            </a:r>
            <a:endParaRPr sz="1100">
              <a:solidFill>
                <a:srgbClr val="1C43B9"/>
              </a:solidFill>
              <a:highlight>
                <a:schemeClr val="lt1"/>
              </a:highlight>
            </a:endParaRPr>
          </a:p>
        </p:txBody>
      </p:sp>
      <p:pic>
        <p:nvPicPr>
          <p:cNvPr id="855" name="Google Shape;855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863" y="934743"/>
            <a:ext cx="389475" cy="20062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152"/>
          <p:cNvGrpSpPr/>
          <p:nvPr/>
        </p:nvGrpSpPr>
        <p:grpSpPr>
          <a:xfrm>
            <a:off x="1238250" y="4447913"/>
            <a:ext cx="7143741" cy="244350"/>
            <a:chOff x="1651000" y="3684375"/>
            <a:chExt cx="9524988" cy="325800"/>
          </a:xfrm>
        </p:grpSpPr>
        <p:cxnSp>
          <p:nvCxnSpPr>
            <p:cNvPr id="857" name="Google Shape;857;p152"/>
            <p:cNvCxnSpPr/>
            <p:nvPr/>
          </p:nvCxnSpPr>
          <p:spPr>
            <a:xfrm>
              <a:off x="1651000" y="3847275"/>
              <a:ext cx="8229600" cy="0"/>
            </a:xfrm>
            <a:prstGeom prst="straightConnector1">
              <a:avLst/>
            </a:prstGeom>
            <a:noFill/>
            <a:ln cap="flat" cmpd="sng" w="28575">
              <a:solidFill>
                <a:srgbClr val="1C43B9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858" name="Google Shape;858;p152"/>
            <p:cNvSpPr/>
            <p:nvPr/>
          </p:nvSpPr>
          <p:spPr>
            <a:xfrm>
              <a:off x="2264752" y="3684375"/>
              <a:ext cx="1614000" cy="3258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CUSTOMERS</a:t>
              </a:r>
              <a:endParaRPr b="1"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9" name="Google Shape;859;p152"/>
            <p:cNvSpPr/>
            <p:nvPr/>
          </p:nvSpPr>
          <p:spPr>
            <a:xfrm>
              <a:off x="7158876" y="3684375"/>
              <a:ext cx="1614000" cy="3258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MERCHANTS</a:t>
              </a:r>
              <a:endParaRPr b="1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0" name="Google Shape;860;p152"/>
            <p:cNvSpPr/>
            <p:nvPr/>
          </p:nvSpPr>
          <p:spPr>
            <a:xfrm>
              <a:off x="4667864" y="3684375"/>
              <a:ext cx="1701900" cy="3258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COMPANIES</a:t>
              </a:r>
              <a:endParaRPr b="1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1" name="Google Shape;861;p152"/>
            <p:cNvSpPr/>
            <p:nvPr/>
          </p:nvSpPr>
          <p:spPr>
            <a:xfrm>
              <a:off x="9561988" y="3684375"/>
              <a:ext cx="1614000" cy="3258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EMPLOYEES</a:t>
              </a:r>
              <a:endParaRPr b="1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2" name="Google Shape;862;p152"/>
            <p:cNvSpPr/>
            <p:nvPr/>
          </p:nvSpPr>
          <p:spPr>
            <a:xfrm rot="5400000">
              <a:off x="2183575" y="3756513"/>
              <a:ext cx="176400" cy="181500"/>
            </a:xfrm>
            <a:prstGeom prst="ellipse">
              <a:avLst/>
            </a:prstGeom>
            <a:solidFill>
              <a:srgbClr val="CC01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3" name="Google Shape;863;p152"/>
            <p:cNvSpPr/>
            <p:nvPr/>
          </p:nvSpPr>
          <p:spPr>
            <a:xfrm rot="5400000">
              <a:off x="4621600" y="3756513"/>
              <a:ext cx="176400" cy="181500"/>
            </a:xfrm>
            <a:prstGeom prst="ellipse">
              <a:avLst/>
            </a:prstGeom>
            <a:solidFill>
              <a:srgbClr val="CC01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4" name="Google Shape;864;p152"/>
            <p:cNvSpPr/>
            <p:nvPr/>
          </p:nvSpPr>
          <p:spPr>
            <a:xfrm rot="5400000">
              <a:off x="7093075" y="3756513"/>
              <a:ext cx="176400" cy="181500"/>
            </a:xfrm>
            <a:prstGeom prst="ellipse">
              <a:avLst/>
            </a:prstGeom>
            <a:solidFill>
              <a:srgbClr val="CC01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5" name="Google Shape;865;p152"/>
            <p:cNvSpPr/>
            <p:nvPr/>
          </p:nvSpPr>
          <p:spPr>
            <a:xfrm rot="5400000">
              <a:off x="9515750" y="3756513"/>
              <a:ext cx="176400" cy="181500"/>
            </a:xfrm>
            <a:prstGeom prst="ellipse">
              <a:avLst/>
            </a:prstGeom>
            <a:solidFill>
              <a:srgbClr val="CC01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866" name="Google Shape;866;p152"/>
          <p:cNvSpPr/>
          <p:nvPr/>
        </p:nvSpPr>
        <p:spPr>
          <a:xfrm>
            <a:off x="1388175" y="2887200"/>
            <a:ext cx="1831200" cy="939300"/>
          </a:xfrm>
          <a:prstGeom prst="chevron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Account Opening</a:t>
            </a:r>
            <a:r>
              <a:rPr b="1" lang="en" sz="1100">
                <a:solidFill>
                  <a:srgbClr val="44474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by RBI, SEBI and MeitY regulated clients through our </a:t>
            </a:r>
            <a:r>
              <a:rPr b="1" lang="en" sz="1100">
                <a:solidFill>
                  <a:srgbClr val="44474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solutions, Journey Orchestration and Video KYC platforms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7" name="Google Shape;867;p152"/>
          <p:cNvSpPr/>
          <p:nvPr/>
        </p:nvSpPr>
        <p:spPr>
          <a:xfrm>
            <a:off x="4051331" y="2887200"/>
            <a:ext cx="2559300" cy="1030500"/>
          </a:xfrm>
          <a:prstGeom prst="chevron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Verifications, Tampering Checks, Liveness Detection, Injection Prevention, Document Extraction through OCR, Leg</a:t>
            </a: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 History checks, Enhanced Due Diligence </a:t>
            </a: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Checks, Transaction Intelligence</a:t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68" name="Google Shape;868;p152"/>
          <p:cNvSpPr/>
          <p:nvPr/>
        </p:nvSpPr>
        <p:spPr>
          <a:xfrm>
            <a:off x="6847613" y="2887200"/>
            <a:ext cx="1831200" cy="939300"/>
          </a:xfrm>
          <a:prstGeom prst="chevron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4474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India’s First Consent Governance Suite </a:t>
            </a: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 compliance with </a:t>
            </a:r>
            <a:r>
              <a:rPr lang="en" sz="1100">
                <a:solidFill>
                  <a:srgbClr val="444746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the DPDP Act for Data principal, Data Fiduciary and Data processors</a:t>
            </a:r>
            <a:endParaRPr sz="11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69" name="Google Shape;869;p152"/>
          <p:cNvSpPr/>
          <p:nvPr/>
        </p:nvSpPr>
        <p:spPr>
          <a:xfrm>
            <a:off x="4051331" y="4018613"/>
            <a:ext cx="1977900" cy="29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 DO</a:t>
            </a:r>
            <a:endParaRPr b="1" i="0" sz="11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70" name="Google Shape;870;p152"/>
          <p:cNvCxnSpPr/>
          <p:nvPr/>
        </p:nvCxnSpPr>
        <p:spPr>
          <a:xfrm>
            <a:off x="2303813" y="2594606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1" name="Google Shape;871;p152"/>
          <p:cNvSpPr/>
          <p:nvPr/>
        </p:nvSpPr>
        <p:spPr>
          <a:xfrm rot="5400000">
            <a:off x="2237625" y="2799384"/>
            <a:ext cx="132300" cy="136200"/>
          </a:xfrm>
          <a:prstGeom prst="ellipse">
            <a:avLst/>
          </a:prstGeom>
          <a:solidFill>
            <a:srgbClr val="CC0100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72" name="Google Shape;872;p152"/>
          <p:cNvCxnSpPr/>
          <p:nvPr/>
        </p:nvCxnSpPr>
        <p:spPr>
          <a:xfrm>
            <a:off x="5060475" y="2594606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3" name="Google Shape;873;p152"/>
          <p:cNvSpPr/>
          <p:nvPr/>
        </p:nvSpPr>
        <p:spPr>
          <a:xfrm rot="5400000">
            <a:off x="4994288" y="2799384"/>
            <a:ext cx="132300" cy="136200"/>
          </a:xfrm>
          <a:prstGeom prst="ellipse">
            <a:avLst/>
          </a:prstGeom>
          <a:solidFill>
            <a:srgbClr val="CC0100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74" name="Google Shape;874;p152"/>
          <p:cNvCxnSpPr/>
          <p:nvPr/>
        </p:nvCxnSpPr>
        <p:spPr>
          <a:xfrm>
            <a:off x="7844906" y="2594606"/>
            <a:ext cx="0" cy="19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5" name="Google Shape;875;p152"/>
          <p:cNvSpPr/>
          <p:nvPr/>
        </p:nvSpPr>
        <p:spPr>
          <a:xfrm rot="5400000">
            <a:off x="7778719" y="2799384"/>
            <a:ext cx="132300" cy="136200"/>
          </a:xfrm>
          <a:prstGeom prst="ellipse">
            <a:avLst/>
          </a:prstGeom>
          <a:solidFill>
            <a:srgbClr val="CC0100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53"/>
          <p:cNvSpPr txBox="1"/>
          <p:nvPr>
            <p:ph type="title"/>
          </p:nvPr>
        </p:nvSpPr>
        <p:spPr>
          <a:xfrm>
            <a:off x="455050" y="215100"/>
            <a:ext cx="7771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>
                <a:solidFill>
                  <a:schemeClr val="dk1"/>
                </a:solidFill>
              </a:rPr>
              <a:t>Together they digitize and augments intelligence within financial operations</a:t>
            </a:r>
            <a:endParaRPr sz="2240"/>
          </a:p>
        </p:txBody>
      </p:sp>
      <p:pic>
        <p:nvPicPr>
          <p:cNvPr id="881" name="Google Shape;881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90900" y="3792024"/>
            <a:ext cx="501250" cy="5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53"/>
          <p:cNvSpPr txBox="1"/>
          <p:nvPr/>
        </p:nvSpPr>
        <p:spPr>
          <a:xfrm>
            <a:off x="150250" y="4344800"/>
            <a:ext cx="13485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Prospect/Channel Partner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83" name="Google Shape;883;p153"/>
          <p:cNvGrpSpPr/>
          <p:nvPr/>
        </p:nvGrpSpPr>
        <p:grpSpPr>
          <a:xfrm>
            <a:off x="1346350" y="3840400"/>
            <a:ext cx="3375675" cy="504475"/>
            <a:chOff x="1346350" y="3840400"/>
            <a:chExt cx="3375675" cy="504475"/>
          </a:xfrm>
        </p:grpSpPr>
        <p:sp>
          <p:nvSpPr>
            <p:cNvPr id="884" name="Google Shape;884;p153"/>
            <p:cNvSpPr/>
            <p:nvPr/>
          </p:nvSpPr>
          <p:spPr>
            <a:xfrm>
              <a:off x="1346350" y="3840400"/>
              <a:ext cx="3375600" cy="330000"/>
            </a:xfrm>
            <a:prstGeom prst="roundRect">
              <a:avLst>
                <a:gd fmla="val 20387" name="adj"/>
              </a:avLst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IDfy Onboarding Platform (omnichannel)</a:t>
              </a:r>
              <a:endParaRPr b="1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5" name="Google Shape;885;p153"/>
            <p:cNvSpPr/>
            <p:nvPr/>
          </p:nvSpPr>
          <p:spPr>
            <a:xfrm>
              <a:off x="1402825" y="4207475"/>
              <a:ext cx="1348500" cy="1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C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Helvetica Neue"/>
                  <a:ea typeface="Helvetica Neue"/>
                  <a:cs typeface="Helvetica Neue"/>
                  <a:sym typeface="Helvetica Neue"/>
                </a:rPr>
                <a:t>Consent management</a:t>
              </a:r>
              <a:endParaRPr sz="9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6" name="Google Shape;886;p153"/>
            <p:cNvSpPr/>
            <p:nvPr/>
          </p:nvSpPr>
          <p:spPr>
            <a:xfrm>
              <a:off x="2774425" y="4207475"/>
              <a:ext cx="896100" cy="1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C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Helvetica Neue"/>
                  <a:ea typeface="Helvetica Neue"/>
                  <a:cs typeface="Helvetica Neue"/>
                  <a:sym typeface="Helvetica Neue"/>
                </a:rPr>
                <a:t>Video service</a:t>
              </a:r>
              <a:endParaRPr sz="9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7" name="Google Shape;887;p153"/>
            <p:cNvSpPr/>
            <p:nvPr/>
          </p:nvSpPr>
          <p:spPr>
            <a:xfrm>
              <a:off x="3688825" y="4207475"/>
              <a:ext cx="1033200" cy="137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C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latin typeface="Helvetica Neue"/>
                  <a:ea typeface="Helvetica Neue"/>
                  <a:cs typeface="Helvetica Neue"/>
                  <a:sym typeface="Helvetica Neue"/>
                </a:rPr>
                <a:t>Doc. service</a:t>
              </a:r>
              <a:endParaRPr sz="9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88" name="Google Shape;888;p153"/>
          <p:cNvGrpSpPr/>
          <p:nvPr/>
        </p:nvGrpSpPr>
        <p:grpSpPr>
          <a:xfrm>
            <a:off x="4721950" y="3840400"/>
            <a:ext cx="2424000" cy="330000"/>
            <a:chOff x="4721950" y="3840400"/>
            <a:chExt cx="2424000" cy="330000"/>
          </a:xfrm>
        </p:grpSpPr>
        <p:sp>
          <p:nvSpPr>
            <p:cNvPr id="889" name="Google Shape;889;p153"/>
            <p:cNvSpPr/>
            <p:nvPr/>
          </p:nvSpPr>
          <p:spPr>
            <a:xfrm>
              <a:off x="5455150" y="3840400"/>
              <a:ext cx="1690800" cy="330000"/>
            </a:xfrm>
            <a:prstGeom prst="roundRect">
              <a:avLst>
                <a:gd fmla="val 16667" name="adj"/>
              </a:avLst>
            </a:prstGeom>
            <a:solidFill>
              <a:srgbClr val="174FB9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FI LOS/LMS</a:t>
              </a:r>
              <a:endParaRPr b="1"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90" name="Google Shape;890;p153"/>
            <p:cNvCxnSpPr>
              <a:stCxn id="884" idx="3"/>
              <a:endCxn id="889" idx="1"/>
            </p:cNvCxnSpPr>
            <p:nvPr/>
          </p:nvCxnSpPr>
          <p:spPr>
            <a:xfrm>
              <a:off x="4721950" y="4005400"/>
              <a:ext cx="733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91" name="Google Shape;891;p153"/>
          <p:cNvGrpSpPr/>
          <p:nvPr/>
        </p:nvGrpSpPr>
        <p:grpSpPr>
          <a:xfrm>
            <a:off x="897700" y="2688225"/>
            <a:ext cx="5403000" cy="1166075"/>
            <a:chOff x="897700" y="2688225"/>
            <a:chExt cx="5403000" cy="1166075"/>
          </a:xfrm>
        </p:grpSpPr>
        <p:sp>
          <p:nvSpPr>
            <p:cNvPr id="892" name="Google Shape;892;p153"/>
            <p:cNvSpPr/>
            <p:nvPr/>
          </p:nvSpPr>
          <p:spPr>
            <a:xfrm>
              <a:off x="897700" y="2688225"/>
              <a:ext cx="4826700" cy="7851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FF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Helvetica Neue"/>
                  <a:ea typeface="Helvetica Neue"/>
                  <a:cs typeface="Helvetica Neue"/>
                  <a:sym typeface="Helvetica Neue"/>
                </a:rPr>
                <a:t>IDfy Intelligence Platform</a:t>
              </a:r>
              <a:endParaRPr b="1" sz="1100"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Helvetica Neue"/>
                  <a:ea typeface="Helvetica Neue"/>
                  <a:cs typeface="Helvetica Neue"/>
                  <a:sym typeface="Helvetica Neue"/>
                </a:rPr>
                <a:t>(</a:t>
              </a:r>
              <a:r>
                <a:rPr lang="en" sz="700">
                  <a:latin typeface="Helvetica Neue"/>
                  <a:ea typeface="Helvetica Neue"/>
                  <a:cs typeface="Helvetica Neue"/>
                  <a:sym typeface="Helvetica Neue"/>
                </a:rPr>
                <a:t>Proprietary</a:t>
              </a:r>
              <a:r>
                <a:rPr lang="en" sz="700">
                  <a:latin typeface="Helvetica Neue"/>
                  <a:ea typeface="Helvetica Neue"/>
                  <a:cs typeface="Helvetica Neue"/>
                  <a:sym typeface="Helvetica Neue"/>
                </a:rPr>
                <a:t> AI models)</a:t>
              </a:r>
              <a:endParaRPr sz="7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3" name="Google Shape;893;p153"/>
            <p:cNvSpPr/>
            <p:nvPr/>
          </p:nvSpPr>
          <p:spPr>
            <a:xfrm>
              <a:off x="1036950" y="2993400"/>
              <a:ext cx="1164600" cy="180600"/>
            </a:xfrm>
            <a:prstGeom prst="roundRect">
              <a:avLst>
                <a:gd fmla="val 16667" name="adj"/>
              </a:avLst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Identity Verification</a:t>
              </a:r>
              <a:endParaRPr b="1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4" name="Google Shape;894;p153"/>
            <p:cNvSpPr/>
            <p:nvPr/>
          </p:nvSpPr>
          <p:spPr>
            <a:xfrm>
              <a:off x="1015975" y="2781400"/>
              <a:ext cx="4515900" cy="180600"/>
            </a:xfrm>
            <a:prstGeom prst="roundRect">
              <a:avLst>
                <a:gd fmla="val 16667" name="adj"/>
              </a:avLst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Transaction intelligence</a:t>
              </a:r>
              <a:endParaRPr b="1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5" name="Google Shape;895;p153"/>
            <p:cNvSpPr/>
            <p:nvPr/>
          </p:nvSpPr>
          <p:spPr>
            <a:xfrm>
              <a:off x="1036950" y="3222000"/>
              <a:ext cx="1164600" cy="180600"/>
            </a:xfrm>
            <a:prstGeom prst="roundRect">
              <a:avLst>
                <a:gd fmla="val 16667" name="adj"/>
              </a:avLst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Fraud Detection</a:t>
              </a:r>
              <a:endParaRPr b="1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6" name="Google Shape;896;p153"/>
            <p:cNvSpPr/>
            <p:nvPr/>
          </p:nvSpPr>
          <p:spPr>
            <a:xfrm>
              <a:off x="4389750" y="2993400"/>
              <a:ext cx="1164600" cy="180600"/>
            </a:xfrm>
            <a:prstGeom prst="roundRect">
              <a:avLst>
                <a:gd fmla="val 16667" name="adj"/>
              </a:avLst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Legal Checks</a:t>
              </a:r>
              <a:endParaRPr b="1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7" name="Google Shape;897;p153"/>
            <p:cNvSpPr/>
            <p:nvPr/>
          </p:nvSpPr>
          <p:spPr>
            <a:xfrm>
              <a:off x="4389750" y="3222000"/>
              <a:ext cx="1164600" cy="180600"/>
            </a:xfrm>
            <a:prstGeom prst="roundRect">
              <a:avLst>
                <a:gd fmla="val 16667" name="adj"/>
              </a:avLst>
            </a:prstGeom>
            <a:solidFill>
              <a:srgbClr val="CE101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Risk Registry</a:t>
              </a:r>
              <a:endParaRPr b="1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98" name="Google Shape;898;p153"/>
            <p:cNvCxnSpPr>
              <a:stCxn id="892" idx="3"/>
              <a:endCxn id="889" idx="0"/>
            </p:cNvCxnSpPr>
            <p:nvPr/>
          </p:nvCxnSpPr>
          <p:spPr>
            <a:xfrm>
              <a:off x="5724400" y="3080775"/>
              <a:ext cx="576300" cy="759600"/>
            </a:xfrm>
            <a:prstGeom prst="bent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  <p:sp>
          <p:nvSpPr>
            <p:cNvPr id="899" name="Google Shape;899;p153"/>
            <p:cNvSpPr/>
            <p:nvPr/>
          </p:nvSpPr>
          <p:spPr>
            <a:xfrm>
              <a:off x="2957075" y="3485300"/>
              <a:ext cx="200400" cy="36900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00" name="Google Shape;900;p153"/>
          <p:cNvGrpSpPr/>
          <p:nvPr/>
        </p:nvGrpSpPr>
        <p:grpSpPr>
          <a:xfrm>
            <a:off x="860575" y="1431400"/>
            <a:ext cx="4826700" cy="1196325"/>
            <a:chOff x="860575" y="1431400"/>
            <a:chExt cx="4826700" cy="1196325"/>
          </a:xfrm>
        </p:grpSpPr>
        <p:sp>
          <p:nvSpPr>
            <p:cNvPr id="901" name="Google Shape;901;p153"/>
            <p:cNvSpPr/>
            <p:nvPr/>
          </p:nvSpPr>
          <p:spPr>
            <a:xfrm>
              <a:off x="860575" y="1431400"/>
              <a:ext cx="4826700" cy="738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2" name="Google Shape;902;p153"/>
            <p:cNvSpPr txBox="1"/>
            <p:nvPr/>
          </p:nvSpPr>
          <p:spPr>
            <a:xfrm>
              <a:off x="918725" y="1726875"/>
              <a:ext cx="11988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India Stack (Aadhar,PAN,GST, AA)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3" name="Google Shape;903;p153"/>
            <p:cNvSpPr txBox="1"/>
            <p:nvPr/>
          </p:nvSpPr>
          <p:spPr>
            <a:xfrm>
              <a:off x="4007775" y="1726875"/>
              <a:ext cx="6843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EPFO database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4" name="Google Shape;904;p153"/>
            <p:cNvSpPr txBox="1"/>
            <p:nvPr/>
          </p:nvSpPr>
          <p:spPr>
            <a:xfrm>
              <a:off x="2770150" y="1726875"/>
              <a:ext cx="5850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Court Records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5" name="Google Shape;905;p153"/>
            <p:cNvSpPr txBox="1"/>
            <p:nvPr/>
          </p:nvSpPr>
          <p:spPr>
            <a:xfrm>
              <a:off x="4725888" y="1726875"/>
              <a:ext cx="4383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MCA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6" name="Google Shape;906;p153"/>
            <p:cNvSpPr txBox="1"/>
            <p:nvPr/>
          </p:nvSpPr>
          <p:spPr>
            <a:xfrm>
              <a:off x="5198000" y="1726875"/>
              <a:ext cx="4383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RTO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7" name="Google Shape;907;p153"/>
            <p:cNvSpPr txBox="1"/>
            <p:nvPr/>
          </p:nvSpPr>
          <p:spPr>
            <a:xfrm>
              <a:off x="3388963" y="1726875"/>
              <a:ext cx="5850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CERSAI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8" name="Google Shape;908;p153"/>
            <p:cNvSpPr txBox="1"/>
            <p:nvPr/>
          </p:nvSpPr>
          <p:spPr>
            <a:xfrm>
              <a:off x="1660525" y="1479375"/>
              <a:ext cx="3257100" cy="18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Datasets </a:t>
              </a:r>
              <a:endParaRPr b="1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09" name="Google Shape;909;p153"/>
            <p:cNvSpPr txBox="1"/>
            <p:nvPr/>
          </p:nvSpPr>
          <p:spPr>
            <a:xfrm>
              <a:off x="2151338" y="1726875"/>
              <a:ext cx="5850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Credit Bureau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0" name="Google Shape;910;p153"/>
            <p:cNvSpPr/>
            <p:nvPr/>
          </p:nvSpPr>
          <p:spPr>
            <a:xfrm>
              <a:off x="2897425" y="2172325"/>
              <a:ext cx="260100" cy="4554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1" name="Google Shape;911;p153"/>
            <p:cNvSpPr txBox="1"/>
            <p:nvPr/>
          </p:nvSpPr>
          <p:spPr>
            <a:xfrm>
              <a:off x="2428075" y="2271650"/>
              <a:ext cx="1198800" cy="137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Smart Search</a:t>
              </a:r>
              <a:endParaRPr b="1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12" name="Google Shape;912;p153"/>
          <p:cNvGrpSpPr/>
          <p:nvPr/>
        </p:nvGrpSpPr>
        <p:grpSpPr>
          <a:xfrm>
            <a:off x="5774925" y="964500"/>
            <a:ext cx="2770675" cy="3040875"/>
            <a:chOff x="5774925" y="964500"/>
            <a:chExt cx="2770675" cy="3040875"/>
          </a:xfrm>
        </p:grpSpPr>
        <p:sp>
          <p:nvSpPr>
            <p:cNvPr id="913" name="Google Shape;913;p153"/>
            <p:cNvSpPr/>
            <p:nvPr/>
          </p:nvSpPr>
          <p:spPr>
            <a:xfrm>
              <a:off x="7197100" y="1089675"/>
              <a:ext cx="1348500" cy="25893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1C4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4" name="Google Shape;914;p153"/>
            <p:cNvSpPr/>
            <p:nvPr/>
          </p:nvSpPr>
          <p:spPr>
            <a:xfrm>
              <a:off x="7277078" y="964500"/>
              <a:ext cx="1164600" cy="369000"/>
            </a:xfrm>
            <a:prstGeom prst="roundRect">
              <a:avLst>
                <a:gd fmla="val 16667" name="adj"/>
              </a:avLst>
            </a:prstGeom>
            <a:solidFill>
              <a:srgbClr val="174FB9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Operations Platform</a:t>
              </a:r>
              <a:endParaRPr b="1" sz="11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grpSp>
          <p:nvGrpSpPr>
            <p:cNvPr id="915" name="Google Shape;915;p153"/>
            <p:cNvGrpSpPr/>
            <p:nvPr/>
          </p:nvGrpSpPr>
          <p:grpSpPr>
            <a:xfrm>
              <a:off x="7482042" y="1383227"/>
              <a:ext cx="754672" cy="545571"/>
              <a:chOff x="3334956" y="1297320"/>
              <a:chExt cx="1790018" cy="1045355"/>
            </a:xfrm>
          </p:grpSpPr>
          <p:grpSp>
            <p:nvGrpSpPr>
              <p:cNvPr id="916" name="Google Shape;916;p153"/>
              <p:cNvGrpSpPr/>
              <p:nvPr/>
            </p:nvGrpSpPr>
            <p:grpSpPr>
              <a:xfrm>
                <a:off x="3385825" y="1297325"/>
                <a:ext cx="1739149" cy="1045350"/>
                <a:chOff x="3219325" y="1979700"/>
                <a:chExt cx="1739149" cy="1045350"/>
              </a:xfrm>
            </p:grpSpPr>
            <p:pic>
              <p:nvPicPr>
                <p:cNvPr id="917" name="Google Shape;917;p15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5110" l="49824" r="3927" t="63091"/>
                <a:stretch/>
              </p:blipFill>
              <p:spPr>
                <a:xfrm>
                  <a:off x="3219325" y="1979700"/>
                  <a:ext cx="1739149" cy="10453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918" name="Google Shape;918;p153"/>
                <p:cNvCxnSpPr/>
                <p:nvPr/>
              </p:nvCxnSpPr>
              <p:spPr>
                <a:xfrm flipH="1" rot="10800000">
                  <a:off x="3284075" y="3004300"/>
                  <a:ext cx="1637400" cy="93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7A7A7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19" name="Google Shape;919;p153"/>
              <p:cNvSpPr txBox="1"/>
              <p:nvPr/>
            </p:nvSpPr>
            <p:spPr>
              <a:xfrm>
                <a:off x="3334956" y="1618186"/>
                <a:ext cx="240600" cy="64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</a:rPr>
                  <a:t>3</a:t>
                </a:r>
                <a:endParaRPr sz="1000">
                  <a:solidFill>
                    <a:srgbClr val="FFFFFF"/>
                  </a:solidFill>
                </a:endParaRPr>
              </a:p>
            </p:txBody>
          </p:sp>
          <p:sp>
            <p:nvSpPr>
              <p:cNvPr id="920" name="Google Shape;920;p153"/>
              <p:cNvSpPr txBox="1"/>
              <p:nvPr/>
            </p:nvSpPr>
            <p:spPr>
              <a:xfrm>
                <a:off x="3909706" y="1297320"/>
                <a:ext cx="240600" cy="64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000000"/>
                    </a:solidFill>
                  </a:rPr>
                  <a:t>2</a:t>
                </a:r>
                <a:endParaRPr sz="1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21" name="Google Shape;921;p153"/>
              <p:cNvSpPr txBox="1"/>
              <p:nvPr/>
            </p:nvSpPr>
            <p:spPr>
              <a:xfrm>
                <a:off x="4437610" y="1606975"/>
                <a:ext cx="240600" cy="70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00000"/>
                    </a:solidFill>
                  </a:rPr>
                  <a:t>1</a:t>
                </a:r>
                <a:endParaRPr sz="1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22" name="Google Shape;922;p153"/>
            <p:cNvSpPr txBox="1"/>
            <p:nvPr/>
          </p:nvSpPr>
          <p:spPr>
            <a:xfrm>
              <a:off x="7247326" y="1978525"/>
              <a:ext cx="1164600" cy="18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Decision Scores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3" name="Google Shape;923;p153"/>
            <p:cNvSpPr txBox="1"/>
            <p:nvPr/>
          </p:nvSpPr>
          <p:spPr>
            <a:xfrm>
              <a:off x="7271950" y="2794298"/>
              <a:ext cx="1198800" cy="18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Reports for CAM</a:t>
              </a:r>
              <a:endParaRPr b="1" sz="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4" name="Google Shape;924;p153"/>
            <p:cNvSpPr/>
            <p:nvPr/>
          </p:nvSpPr>
          <p:spPr>
            <a:xfrm>
              <a:off x="5774925" y="2746450"/>
              <a:ext cx="1281600" cy="250500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25" name="Google Shape;925;p15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54200" y="2192925"/>
              <a:ext cx="1033201" cy="545575"/>
            </a:xfrm>
            <a:prstGeom prst="rect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26" name="Google Shape;926;p153"/>
            <p:cNvSpPr txBox="1"/>
            <p:nvPr/>
          </p:nvSpPr>
          <p:spPr>
            <a:xfrm>
              <a:off x="7271950" y="3327698"/>
              <a:ext cx="1198800" cy="18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00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Risk Signals</a:t>
              </a:r>
              <a:endParaRPr b="1" sz="9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7" name="Google Shape;927;p153"/>
            <p:cNvSpPr/>
            <p:nvPr/>
          </p:nvSpPr>
          <p:spPr>
            <a:xfrm>
              <a:off x="7672850" y="3084650"/>
              <a:ext cx="144300" cy="137400"/>
            </a:xfrm>
            <a:prstGeom prst="ellipse">
              <a:avLst/>
            </a:prstGeom>
            <a:solidFill>
              <a:srgbClr val="F4CCCC"/>
            </a:solidFill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8" name="Google Shape;928;p153"/>
            <p:cNvSpPr/>
            <p:nvPr/>
          </p:nvSpPr>
          <p:spPr>
            <a:xfrm>
              <a:off x="7901450" y="3084650"/>
              <a:ext cx="144300" cy="137400"/>
            </a:xfrm>
            <a:prstGeom prst="ellipse">
              <a:avLst/>
            </a:prstGeom>
            <a:solidFill>
              <a:srgbClr val="B6D7A8"/>
            </a:solidFill>
            <a:ln cap="flat" cmpd="sng" w="9525">
              <a:solidFill>
                <a:srgbClr val="D9EA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929" name="Google Shape;929;p153"/>
            <p:cNvCxnSpPr>
              <a:stCxn id="913" idx="2"/>
              <a:endCxn id="889" idx="3"/>
            </p:cNvCxnSpPr>
            <p:nvPr/>
          </p:nvCxnSpPr>
          <p:spPr>
            <a:xfrm rot="5400000">
              <a:off x="7345450" y="3479475"/>
              <a:ext cx="326400" cy="725400"/>
            </a:xfrm>
            <a:prstGeom prst="bent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stealth"/>
              <a:tailEnd len="med" w="med" type="stealth"/>
            </a:ln>
          </p:spPr>
        </p:cxnSp>
      </p:grpSp>
      <p:sp>
        <p:nvSpPr>
          <p:cNvPr id="930" name="Google Shape;930;p153"/>
          <p:cNvSpPr/>
          <p:nvPr/>
        </p:nvSpPr>
        <p:spPr>
          <a:xfrm>
            <a:off x="5736124" y="4741650"/>
            <a:ext cx="792300" cy="173100"/>
          </a:xfrm>
          <a:prstGeom prst="roundRect">
            <a:avLst>
              <a:gd fmla="val 20387" name="adj"/>
            </a:avLst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</a:t>
            </a:r>
            <a:endParaRPr sz="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1" name="Google Shape;931;p153"/>
          <p:cNvSpPr/>
          <p:nvPr/>
        </p:nvSpPr>
        <p:spPr>
          <a:xfrm>
            <a:off x="6560973" y="4741650"/>
            <a:ext cx="942000" cy="173100"/>
          </a:xfrm>
          <a:prstGeom prst="roundRect">
            <a:avLst>
              <a:gd fmla="val 2038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 Systems</a:t>
            </a:r>
            <a:endParaRPr sz="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2" name="Google Shape;932;p153"/>
          <p:cNvSpPr/>
          <p:nvPr/>
        </p:nvSpPr>
        <p:spPr>
          <a:xfrm>
            <a:off x="7527150" y="4741650"/>
            <a:ext cx="1528200" cy="173100"/>
          </a:xfrm>
          <a:prstGeom prst="roundRect">
            <a:avLst>
              <a:gd fmla="val 2038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Ecosystem Platforms 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4"/>
          <p:cNvSpPr txBox="1"/>
          <p:nvPr>
            <p:ph type="title"/>
          </p:nvPr>
        </p:nvSpPr>
        <p:spPr>
          <a:xfrm>
            <a:off x="455050" y="215100"/>
            <a:ext cx="77610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Tools overcome the limitations within credit operations due to outdated tools</a:t>
            </a:r>
            <a:endParaRPr sz="1800"/>
          </a:p>
        </p:txBody>
      </p:sp>
      <p:graphicFrame>
        <p:nvGraphicFramePr>
          <p:cNvPr id="938" name="Google Shape;938;p154"/>
          <p:cNvGraphicFramePr/>
          <p:nvPr/>
        </p:nvGraphicFramePr>
        <p:xfrm>
          <a:off x="607450" y="92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4903750"/>
                <a:gridCol w="331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C00000"/>
                          </a:solidFill>
                        </a:rPr>
                        <a:t>Current Challenges</a:t>
                      </a:r>
                      <a:endParaRPr b="1" sz="1600">
                        <a:solidFill>
                          <a:srgbClr val="C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38761D"/>
                          </a:solidFill>
                        </a:rPr>
                        <a:t>Possibilities in Current Time</a:t>
                      </a:r>
                      <a:endParaRPr b="1" sz="16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</a:rPr>
                        <a:t>Legacy Fraud Detection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: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rgbClr val="CE1010"/>
                          </a:solidFill>
                        </a:rPr>
                        <a:t>Missing out on sophistication of fraudsters</a:t>
                      </a:r>
                      <a:endParaRPr i="1" sz="1100">
                        <a:solidFill>
                          <a:srgbClr val="CE1010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Visual checks and against fraud registries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8000"/>
                          </a:solidFill>
                        </a:rPr>
                        <a:t>Review metadata of documents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for detecting tampering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</a:rPr>
                        <a:t>Sub-optimal Underwriting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: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rgbClr val="C00000"/>
                          </a:solidFill>
                        </a:rPr>
                        <a:t>heavily reliant on bureau</a:t>
                      </a:r>
                      <a:endParaRPr i="1" sz="1100">
                        <a:solidFill>
                          <a:srgbClr val="C00000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Overlooking 90% additional data being generated via transactions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8000"/>
                          </a:solidFill>
                        </a:rPr>
                        <a:t>Advanced profiling of application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to check if fits with target risk vs reward equation for product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</a:rPr>
                        <a:t>Constrained analytics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: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rgbClr val="C00000"/>
                          </a:solidFill>
                        </a:rPr>
                        <a:t>Macro trends driven - demographic/Industry</a:t>
                      </a:r>
                      <a:endParaRPr i="1" sz="1100">
                        <a:solidFill>
                          <a:srgbClr val="C00000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Datasets available with teams limits effectiveness of scorecards/models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8000"/>
                          </a:solidFill>
                        </a:rPr>
                        <a:t>Scorecards build on granular data with better categorized actions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(advanced tracking, reject etc.)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FF"/>
                          </a:solidFill>
                        </a:rPr>
                        <a:t>Rigid Infrastructure</a:t>
                      </a:r>
                      <a:r>
                        <a:rPr lang="en" sz="1300">
                          <a:solidFill>
                            <a:schemeClr val="dk1"/>
                          </a:solidFill>
                        </a:rPr>
                        <a:t>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rgbClr val="C00000"/>
                          </a:solidFill>
                        </a:rPr>
                        <a:t>work with what leading players offer</a:t>
                      </a:r>
                      <a:endParaRPr i="1" sz="1100">
                        <a:solidFill>
                          <a:srgbClr val="C00000"/>
                        </a:solidFill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Customer journeys/assessment done under heavy constraints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Raw data available to </a:t>
                      </a:r>
                      <a:r>
                        <a:rPr b="1" lang="en" sz="1100">
                          <a:solidFill>
                            <a:srgbClr val="008000"/>
                          </a:solidFill>
                        </a:rPr>
                        <a:t>create your own risk triggers</a:t>
                      </a:r>
                      <a:endParaRPr b="1" sz="1100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9" name="Google Shape;939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952" y="1380075"/>
            <a:ext cx="626875" cy="6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952" y="2239925"/>
            <a:ext cx="626875" cy="6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939" y="3070926"/>
            <a:ext cx="749419" cy="7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939" y="4000522"/>
            <a:ext cx="749400" cy="7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155"/>
          <p:cNvSpPr txBox="1"/>
          <p:nvPr>
            <p:ph type="title"/>
          </p:nvPr>
        </p:nvSpPr>
        <p:spPr>
          <a:xfrm>
            <a:off x="161600" y="101575"/>
            <a:ext cx="8038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IDfy’s Intelligence Platform: Expanding realm of digital data for smarter underwriting</a:t>
            </a:r>
            <a:endParaRPr sz="1700"/>
          </a:p>
        </p:txBody>
      </p:sp>
      <p:grpSp>
        <p:nvGrpSpPr>
          <p:cNvPr id="948" name="Google Shape;948;p155"/>
          <p:cNvGrpSpPr/>
          <p:nvPr/>
        </p:nvGrpSpPr>
        <p:grpSpPr>
          <a:xfrm>
            <a:off x="196850" y="1112975"/>
            <a:ext cx="2659200" cy="3200525"/>
            <a:chOff x="196850" y="1112975"/>
            <a:chExt cx="2659200" cy="3200525"/>
          </a:xfrm>
        </p:grpSpPr>
        <p:pic>
          <p:nvPicPr>
            <p:cNvPr id="949" name="Google Shape;949;p155"/>
            <p:cNvPicPr preferRelativeResize="0"/>
            <p:nvPr/>
          </p:nvPicPr>
          <p:blipFill rotWithShape="1">
            <a:blip r:embed="rId3">
              <a:alphaModFix/>
            </a:blip>
            <a:srcRect b="0" l="0" r="0" t="8867"/>
            <a:stretch/>
          </p:blipFill>
          <p:spPr>
            <a:xfrm>
              <a:off x="311525" y="1821765"/>
              <a:ext cx="1311002" cy="959008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950" name="Google Shape;950;p155"/>
            <p:cNvPicPr preferRelativeResize="0"/>
            <p:nvPr/>
          </p:nvPicPr>
          <p:blipFill rotWithShape="1">
            <a:blip r:embed="rId4">
              <a:alphaModFix/>
            </a:blip>
            <a:srcRect b="9461" l="0" r="0" t="0"/>
            <a:stretch/>
          </p:blipFill>
          <p:spPr>
            <a:xfrm>
              <a:off x="1122050" y="1819188"/>
              <a:ext cx="1311001" cy="1083598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951" name="Google Shape;951;p155"/>
            <p:cNvPicPr preferRelativeResize="0"/>
            <p:nvPr/>
          </p:nvPicPr>
          <p:blipFill rotWithShape="1">
            <a:blip r:embed="rId5">
              <a:alphaModFix/>
            </a:blip>
            <a:srcRect b="18943" l="0" r="0" t="0"/>
            <a:stretch/>
          </p:blipFill>
          <p:spPr>
            <a:xfrm>
              <a:off x="719226" y="2190477"/>
              <a:ext cx="1195801" cy="108394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52" name="Google Shape;952;p155"/>
            <p:cNvSpPr txBox="1"/>
            <p:nvPr/>
          </p:nvSpPr>
          <p:spPr>
            <a:xfrm>
              <a:off x="241625" y="3274425"/>
              <a:ext cx="2151000" cy="48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Bank Statement Data</a:t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(PDF, AA)</a:t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3" name="Google Shape;953;p155"/>
            <p:cNvSpPr/>
            <p:nvPr/>
          </p:nvSpPr>
          <p:spPr>
            <a:xfrm>
              <a:off x="215625" y="4052500"/>
              <a:ext cx="2535600" cy="2610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Helvetica Neue"/>
                  <a:ea typeface="Helvetica Neue"/>
                  <a:cs typeface="Helvetica Neue"/>
                  <a:sym typeface="Helvetica Neue"/>
                </a:rPr>
                <a:t>Specific Application Data</a:t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4" name="Google Shape;954;p155"/>
            <p:cNvSpPr/>
            <p:nvPr/>
          </p:nvSpPr>
          <p:spPr>
            <a:xfrm>
              <a:off x="1114225" y="3741425"/>
              <a:ext cx="422700" cy="261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55" name="Google Shape;955;p155"/>
            <p:cNvSpPr txBox="1"/>
            <p:nvPr/>
          </p:nvSpPr>
          <p:spPr>
            <a:xfrm>
              <a:off x="196850" y="1112975"/>
              <a:ext cx="2659200" cy="482400"/>
            </a:xfrm>
            <a:prstGeom prst="rect">
              <a:avLst/>
            </a:prstGeom>
            <a:solidFill>
              <a:srgbClr val="2742B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Receive Data from journey endpoint</a:t>
              </a:r>
              <a:endParaRPr b="1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56" name="Google Shape;956;p155"/>
          <p:cNvGrpSpPr/>
          <p:nvPr/>
        </p:nvGrpSpPr>
        <p:grpSpPr>
          <a:xfrm>
            <a:off x="2580500" y="1112975"/>
            <a:ext cx="3323550" cy="3114724"/>
            <a:chOff x="2580500" y="1112975"/>
            <a:chExt cx="3323550" cy="3114724"/>
          </a:xfrm>
        </p:grpSpPr>
        <p:grpSp>
          <p:nvGrpSpPr>
            <p:cNvPr id="957" name="Google Shape;957;p155"/>
            <p:cNvGrpSpPr/>
            <p:nvPr/>
          </p:nvGrpSpPr>
          <p:grpSpPr>
            <a:xfrm>
              <a:off x="3919100" y="2526400"/>
              <a:ext cx="1195800" cy="736450"/>
              <a:chOff x="2852150" y="2266875"/>
              <a:chExt cx="1195800" cy="736450"/>
            </a:xfrm>
          </p:grpSpPr>
          <p:sp>
            <p:nvSpPr>
              <p:cNvPr id="958" name="Google Shape;958;p155"/>
              <p:cNvSpPr txBox="1"/>
              <p:nvPr/>
            </p:nvSpPr>
            <p:spPr>
              <a:xfrm>
                <a:off x="2852150" y="2622325"/>
                <a:ext cx="1195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CE101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Transaction INTELLIGENCE</a:t>
                </a:r>
                <a:endParaRPr b="1" sz="1000">
                  <a:solidFill>
                    <a:srgbClr val="CE101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pic>
            <p:nvPicPr>
              <p:cNvPr id="959" name="Google Shape;959;p155"/>
              <p:cNvPicPr preferRelativeResize="0"/>
              <p:nvPr/>
            </p:nvPicPr>
            <p:blipFill rotWithShape="1">
              <a:blip r:embed="rId6">
                <a:alphaModFix/>
              </a:blip>
              <a:srcRect b="24412" l="10885" r="12779" t="21804"/>
              <a:stretch/>
            </p:blipFill>
            <p:spPr>
              <a:xfrm>
                <a:off x="3179625" y="2266875"/>
                <a:ext cx="540850" cy="3810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60" name="Google Shape;960;p155"/>
            <p:cNvSpPr/>
            <p:nvPr/>
          </p:nvSpPr>
          <p:spPr>
            <a:xfrm>
              <a:off x="3863625" y="3756700"/>
              <a:ext cx="1963500" cy="3567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Helvetica Neue"/>
                  <a:ea typeface="Helvetica Neue"/>
                  <a:cs typeface="Helvetica Neue"/>
                  <a:sym typeface="Helvetica Neue"/>
                </a:rPr>
                <a:t>Lender policy Parameters</a:t>
              </a:r>
              <a:endParaRPr b="1"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1" name="Google Shape;961;p155"/>
            <p:cNvSpPr/>
            <p:nvPr/>
          </p:nvSpPr>
          <p:spPr>
            <a:xfrm>
              <a:off x="2580500" y="2652875"/>
              <a:ext cx="805200" cy="356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962" name="Google Shape;962;p15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306425" y="3642400"/>
              <a:ext cx="585300" cy="58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155"/>
            <p:cNvSpPr txBox="1"/>
            <p:nvPr/>
          </p:nvSpPr>
          <p:spPr>
            <a:xfrm>
              <a:off x="3394775" y="1821775"/>
              <a:ext cx="2151000" cy="3687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India Stack (Aadhar,PAN,GST</a:t>
              </a: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endParaRPr b="1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4" name="Google Shape;964;p155"/>
            <p:cNvSpPr/>
            <p:nvPr/>
          </p:nvSpPr>
          <p:spPr>
            <a:xfrm>
              <a:off x="4321950" y="2190475"/>
              <a:ext cx="206100" cy="33570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5" name="Google Shape;965;p155"/>
            <p:cNvSpPr/>
            <p:nvPr/>
          </p:nvSpPr>
          <p:spPr>
            <a:xfrm>
              <a:off x="4367225" y="3341925"/>
              <a:ext cx="206100" cy="414900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6" name="Google Shape;966;p155"/>
            <p:cNvSpPr txBox="1"/>
            <p:nvPr/>
          </p:nvSpPr>
          <p:spPr>
            <a:xfrm>
              <a:off x="3244850" y="1112975"/>
              <a:ext cx="2659200" cy="482400"/>
            </a:xfrm>
            <a:prstGeom prst="rect">
              <a:avLst/>
            </a:prstGeom>
            <a:solidFill>
              <a:srgbClr val="2742B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Intelligence Engine processing</a:t>
              </a:r>
              <a:endParaRPr b="1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7" name="Google Shape;967;p155"/>
            <p:cNvSpPr/>
            <p:nvPr/>
          </p:nvSpPr>
          <p:spPr>
            <a:xfrm>
              <a:off x="2969600" y="1174825"/>
              <a:ext cx="153000" cy="368700"/>
            </a:xfrm>
            <a:prstGeom prst="chevro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68" name="Google Shape;968;p155"/>
          <p:cNvGrpSpPr/>
          <p:nvPr/>
        </p:nvGrpSpPr>
        <p:grpSpPr>
          <a:xfrm>
            <a:off x="5399900" y="1112975"/>
            <a:ext cx="3622149" cy="3048117"/>
            <a:chOff x="5399900" y="1112975"/>
            <a:chExt cx="3622149" cy="3048117"/>
          </a:xfrm>
        </p:grpSpPr>
        <p:pic>
          <p:nvPicPr>
            <p:cNvPr id="969" name="Google Shape;969;p15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362750" y="1723350"/>
              <a:ext cx="2659299" cy="1235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15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486450" y="2985800"/>
              <a:ext cx="2535599" cy="11752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55"/>
            <p:cNvSpPr txBox="1"/>
            <p:nvPr/>
          </p:nvSpPr>
          <p:spPr>
            <a:xfrm>
              <a:off x="6292850" y="1112975"/>
              <a:ext cx="2659200" cy="482400"/>
            </a:xfrm>
            <a:prstGeom prst="rect">
              <a:avLst/>
            </a:prstGeom>
            <a:solidFill>
              <a:srgbClr val="2742B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Profile &amp; Insights for Decision making</a:t>
              </a:r>
              <a:endParaRPr b="1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2" name="Google Shape;972;p155"/>
            <p:cNvSpPr/>
            <p:nvPr/>
          </p:nvSpPr>
          <p:spPr>
            <a:xfrm>
              <a:off x="5399900" y="2652875"/>
              <a:ext cx="805200" cy="3567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3" name="Google Shape;973;p155"/>
            <p:cNvSpPr/>
            <p:nvPr/>
          </p:nvSpPr>
          <p:spPr>
            <a:xfrm>
              <a:off x="6017600" y="1174825"/>
              <a:ext cx="153000" cy="368700"/>
            </a:xfrm>
            <a:prstGeom prst="chevro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74" name="Google Shape;974;p155"/>
          <p:cNvSpPr txBox="1"/>
          <p:nvPr/>
        </p:nvSpPr>
        <p:spPr>
          <a:xfrm>
            <a:off x="485450" y="4504200"/>
            <a:ext cx="85554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Customize output as per your Risk Appetite/Lending Strategy</a:t>
            </a:r>
            <a:endParaRPr b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56"/>
          <p:cNvSpPr txBox="1"/>
          <p:nvPr>
            <p:ph type="title"/>
          </p:nvPr>
        </p:nvSpPr>
        <p:spPr>
          <a:xfrm>
            <a:off x="161600" y="25375"/>
            <a:ext cx="8038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Platform extracts, interprets and transforms data across </a:t>
            </a:r>
            <a:r>
              <a:rPr lang="en" sz="1700"/>
              <a:t>multiple</a:t>
            </a:r>
            <a:r>
              <a:rPr lang="en" sz="1700"/>
              <a:t> data sources into actionable insights on credit application or trade line</a:t>
            </a:r>
            <a:endParaRPr sz="1700"/>
          </a:p>
        </p:txBody>
      </p:sp>
      <p:sp>
        <p:nvSpPr>
          <p:cNvPr id="980" name="Google Shape;980;p156"/>
          <p:cNvSpPr txBox="1"/>
          <p:nvPr/>
        </p:nvSpPr>
        <p:spPr>
          <a:xfrm>
            <a:off x="22250" y="3649425"/>
            <a:ext cx="1742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Cross-sell opportunities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Health insurance, MF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81" name="Google Shape;981;p156"/>
          <p:cNvGrpSpPr/>
          <p:nvPr/>
        </p:nvGrpSpPr>
        <p:grpSpPr>
          <a:xfrm>
            <a:off x="6095175" y="730625"/>
            <a:ext cx="3015900" cy="3292500"/>
            <a:chOff x="6095175" y="730625"/>
            <a:chExt cx="3015900" cy="3292500"/>
          </a:xfrm>
        </p:grpSpPr>
        <p:sp>
          <p:nvSpPr>
            <p:cNvPr id="982" name="Google Shape;982;p156"/>
            <p:cNvSpPr txBox="1"/>
            <p:nvPr/>
          </p:nvSpPr>
          <p:spPr>
            <a:xfrm>
              <a:off x="6095175" y="730625"/>
              <a:ext cx="3015900" cy="11430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Credit Profile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 of Loans: 			1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EMI: 				5,000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Servicing duration (months): 		5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Lender: 				IIFL Finance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Credit Card Usage:			Detected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Average spend: 			5,200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3" name="Google Shape;983;p156"/>
            <p:cNvSpPr txBox="1"/>
            <p:nvPr/>
          </p:nvSpPr>
          <p:spPr>
            <a:xfrm>
              <a:off x="6095175" y="1949825"/>
              <a:ext cx="3015900" cy="20733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Wealth Management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Running Insurance premiums: 	1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Premium 				1,000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Likely insurance type: 	 	Life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Equity investment: 			Yes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Broker: 				Zerodha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Avg monthly spend:			5,000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Withdrawal/Investment: 		5%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Mutual Fund investments: 		Yes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Average monthly investment: 		2,000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Alternative Assets: 			Yes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Type of asset: 			Crypto , Debt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Avg monthly investment:		2,000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84" name="Google Shape;984;p156"/>
          <p:cNvGrpSpPr/>
          <p:nvPr/>
        </p:nvGrpSpPr>
        <p:grpSpPr>
          <a:xfrm>
            <a:off x="1675575" y="730625"/>
            <a:ext cx="4343400" cy="3292550"/>
            <a:chOff x="1675575" y="730625"/>
            <a:chExt cx="4343400" cy="3292550"/>
          </a:xfrm>
        </p:grpSpPr>
        <p:grpSp>
          <p:nvGrpSpPr>
            <p:cNvPr id="985" name="Google Shape;985;p156"/>
            <p:cNvGrpSpPr/>
            <p:nvPr/>
          </p:nvGrpSpPr>
          <p:grpSpPr>
            <a:xfrm>
              <a:off x="1675575" y="730625"/>
              <a:ext cx="4343400" cy="2674675"/>
              <a:chOff x="1675575" y="730625"/>
              <a:chExt cx="4343400" cy="2674675"/>
            </a:xfrm>
          </p:grpSpPr>
          <p:sp>
            <p:nvSpPr>
              <p:cNvPr id="986" name="Google Shape;986;p156"/>
              <p:cNvSpPr txBox="1"/>
              <p:nvPr/>
            </p:nvSpPr>
            <p:spPr>
              <a:xfrm>
                <a:off x="1675575" y="730625"/>
                <a:ext cx="4343400" cy="950700"/>
              </a:xfrm>
              <a:prstGeom prst="rect">
                <a:avLst/>
              </a:prstGeom>
              <a:noFill/>
              <a:ln cap="flat" cmpd="sng" w="9525">
                <a:solidFill>
                  <a:srgbClr val="0000FF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742B2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Income Profile - Salaried</a:t>
                </a:r>
                <a:endParaRPr b="1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2742B2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Salary profile				Other Income (Detected)</a:t>
                </a:r>
                <a:endParaRPr b="1" sz="8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Latest Employer Name: ABC Technologies	Income Source: : Interest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Monthly Salary 	      :  55,000		Amount:	            :5,000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08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Total Estimate monthly Income: 		60,000</a:t>
                </a:r>
                <a:endParaRPr b="1" sz="800">
                  <a:solidFill>
                    <a:srgbClr val="008000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87" name="Google Shape;987;p156"/>
              <p:cNvSpPr txBox="1"/>
              <p:nvPr/>
            </p:nvSpPr>
            <p:spPr>
              <a:xfrm>
                <a:off x="1675575" y="1738200"/>
                <a:ext cx="2399100" cy="1667100"/>
              </a:xfrm>
              <a:prstGeom prst="rect">
                <a:avLst/>
              </a:prstGeom>
              <a:noFill/>
              <a:ln cap="flat" cmpd="sng" w="9525">
                <a:solidFill>
                  <a:srgbClr val="0000FF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742B2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Expense Profile - </a:t>
                </a:r>
                <a:endParaRPr b="1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Loan Repayment: 			10,000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Insurance payment: 		2,000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Other recurring expenses: 		15,000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Bills and Utility payments: 		5,000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Fixed monthly Obligations(est.):	 32,000</a:t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Average lifestyle expenses: 		12,000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Average other expenses (non lifestyle):     8,000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Average monthly expense: 		52,000</a:t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88" name="Google Shape;988;p156"/>
              <p:cNvSpPr txBox="1"/>
              <p:nvPr/>
            </p:nvSpPr>
            <p:spPr>
              <a:xfrm>
                <a:off x="4149025" y="1738200"/>
                <a:ext cx="1869900" cy="1667100"/>
              </a:xfrm>
              <a:prstGeom prst="rect">
                <a:avLst/>
              </a:prstGeom>
              <a:noFill/>
              <a:ln cap="flat" cmpd="sng" w="9525">
                <a:solidFill>
                  <a:srgbClr val="0000FF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2742B2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Savings Profile </a:t>
                </a:r>
                <a:endParaRPr b="1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Monthly average saving: 	10,000</a:t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Saving in bank </a:t>
                </a: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account</a:t>
                </a: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 	5,000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Non-bank saving amount: 	5,000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Saving instruments</a:t>
                </a:r>
                <a:r>
                  <a:rPr lang="en" sz="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: 	Recurring deposit, fixed deposits, Trading</a:t>
                </a:r>
                <a:endParaRPr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989" name="Google Shape;989;p156"/>
            <p:cNvSpPr txBox="1"/>
            <p:nvPr/>
          </p:nvSpPr>
          <p:spPr>
            <a:xfrm>
              <a:off x="1675575" y="3462175"/>
              <a:ext cx="4343400" cy="5610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Expense Details : Top Merchant Profile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Top Merchants</a:t>
              </a:r>
              <a:r>
                <a:rPr lang="en" sz="8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: </a:t>
              </a: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Amazon: 15% ;     Ola: 5%;    Swiggy: 8%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Subscriptions Detected: Netflix, Prime</a:t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90" name="Google Shape;990;p156"/>
          <p:cNvGrpSpPr/>
          <p:nvPr/>
        </p:nvGrpSpPr>
        <p:grpSpPr>
          <a:xfrm>
            <a:off x="22250" y="2778975"/>
            <a:ext cx="1742100" cy="851625"/>
            <a:chOff x="22250" y="2778975"/>
            <a:chExt cx="1742100" cy="851625"/>
          </a:xfrm>
        </p:grpSpPr>
        <p:sp>
          <p:nvSpPr>
            <p:cNvPr id="991" name="Google Shape;991;p156"/>
            <p:cNvSpPr txBox="1"/>
            <p:nvPr/>
          </p:nvSpPr>
          <p:spPr>
            <a:xfrm>
              <a:off x="22250" y="2778975"/>
              <a:ext cx="17421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Policy Parameters check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8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All Clear</a:t>
              </a:r>
              <a:endParaRPr b="1" sz="10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2" name="Google Shape;992;p156"/>
            <p:cNvSpPr txBox="1"/>
            <p:nvPr/>
          </p:nvSpPr>
          <p:spPr>
            <a:xfrm>
              <a:off x="22250" y="3206100"/>
              <a:ext cx="1742100" cy="4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Debt Servicing capacity</a:t>
              </a: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</a:t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AA84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8,000/month</a:t>
              </a:r>
              <a:endParaRPr b="1" sz="10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93" name="Google Shape;993;p156"/>
          <p:cNvGrpSpPr/>
          <p:nvPr/>
        </p:nvGrpSpPr>
        <p:grpSpPr>
          <a:xfrm>
            <a:off x="22250" y="762900"/>
            <a:ext cx="1742100" cy="2002025"/>
            <a:chOff x="22250" y="762900"/>
            <a:chExt cx="1742100" cy="2002025"/>
          </a:xfrm>
        </p:grpSpPr>
        <p:pic>
          <p:nvPicPr>
            <p:cNvPr id="994" name="Google Shape;994;p1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000" y="762900"/>
              <a:ext cx="1029900" cy="9507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95" name="Google Shape;995;p156"/>
            <p:cNvSpPr txBox="1"/>
            <p:nvPr/>
          </p:nvSpPr>
          <p:spPr>
            <a:xfrm>
              <a:off x="22250" y="1930325"/>
              <a:ext cx="17421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Fraud Profile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8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 Risk Detected</a:t>
              </a:r>
              <a:endParaRPr b="1" sz="10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6" name="Google Shape;996;p156"/>
            <p:cNvSpPr txBox="1"/>
            <p:nvPr/>
          </p:nvSpPr>
          <p:spPr>
            <a:xfrm>
              <a:off x="192800" y="1764575"/>
              <a:ext cx="1248600" cy="1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Ajay Kumar</a:t>
              </a:r>
              <a:endParaRPr b="1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7" name="Google Shape;997;p156"/>
            <p:cNvSpPr txBox="1"/>
            <p:nvPr/>
          </p:nvSpPr>
          <p:spPr>
            <a:xfrm>
              <a:off x="22250" y="2311325"/>
              <a:ext cx="17421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Crime Check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 Case (low severity)</a:t>
              </a:r>
              <a:endParaRPr b="1" sz="10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98" name="Google Shape;998;p156"/>
          <p:cNvGrpSpPr/>
          <p:nvPr/>
        </p:nvGrpSpPr>
        <p:grpSpPr>
          <a:xfrm>
            <a:off x="22250" y="4071775"/>
            <a:ext cx="9088825" cy="749400"/>
            <a:chOff x="22250" y="4071775"/>
            <a:chExt cx="9088825" cy="749400"/>
          </a:xfrm>
        </p:grpSpPr>
        <p:sp>
          <p:nvSpPr>
            <p:cNvPr id="999" name="Google Shape;999;p156"/>
            <p:cNvSpPr txBox="1"/>
            <p:nvPr/>
          </p:nvSpPr>
          <p:spPr>
            <a:xfrm>
              <a:off x="1675575" y="4071775"/>
              <a:ext cx="7435500" cy="749400"/>
            </a:xfrm>
            <a:prstGeom prst="rect">
              <a:avLst/>
            </a:prstGeom>
            <a:noFill/>
            <a:ln cap="flat" cmpd="sng" w="9525">
              <a:solidFill>
                <a:srgbClr val="0000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Risk Triggers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0" name="Google Shape;1000;p156"/>
            <p:cNvSpPr/>
            <p:nvPr/>
          </p:nvSpPr>
          <p:spPr>
            <a:xfrm>
              <a:off x="1722375" y="4320875"/>
              <a:ext cx="1029900" cy="175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Risky Employer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1" name="Google Shape;1001;p156"/>
            <p:cNvSpPr/>
            <p:nvPr/>
          </p:nvSpPr>
          <p:spPr>
            <a:xfrm>
              <a:off x="2789175" y="4320875"/>
              <a:ext cx="1185300" cy="175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Non-primary accnt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2" name="Google Shape;1002;p156"/>
            <p:cNvSpPr/>
            <p:nvPr/>
          </p:nvSpPr>
          <p:spPr>
            <a:xfrm>
              <a:off x="7437375" y="4320875"/>
              <a:ext cx="1630500" cy="175200"/>
            </a:xfrm>
            <a:prstGeom prst="roundRect">
              <a:avLst>
                <a:gd fmla="val 16667" name="adj"/>
              </a:avLst>
            </a:prstGeom>
            <a:solidFill>
              <a:srgbClr val="FFE59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Reducing disposable income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3" name="Google Shape;1003;p156"/>
            <p:cNvSpPr/>
            <p:nvPr/>
          </p:nvSpPr>
          <p:spPr>
            <a:xfrm>
              <a:off x="4008375" y="4320875"/>
              <a:ext cx="1630500" cy="175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Gambling/Gaming Detected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4" name="Google Shape;1004;p156"/>
            <p:cNvSpPr/>
            <p:nvPr/>
          </p:nvSpPr>
          <p:spPr>
            <a:xfrm>
              <a:off x="1722375" y="4549475"/>
              <a:ext cx="1185300" cy="175200"/>
            </a:xfrm>
            <a:prstGeom prst="roundRect">
              <a:avLst>
                <a:gd fmla="val 16667" name="adj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Regular saving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5" name="Google Shape;1005;p156"/>
            <p:cNvSpPr/>
            <p:nvPr/>
          </p:nvSpPr>
          <p:spPr>
            <a:xfrm>
              <a:off x="2941575" y="4549475"/>
              <a:ext cx="1630500" cy="175200"/>
            </a:xfrm>
            <a:prstGeom prst="roundRect">
              <a:avLst>
                <a:gd fmla="val 16667" name="adj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Likely Owned Vehicle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6" name="Google Shape;1006;p156"/>
            <p:cNvSpPr/>
            <p:nvPr/>
          </p:nvSpPr>
          <p:spPr>
            <a:xfrm>
              <a:off x="4617975" y="4549475"/>
              <a:ext cx="1248600" cy="175200"/>
            </a:xfrm>
            <a:prstGeom prst="roundRect">
              <a:avLst>
                <a:gd fmla="val 16667" name="adj"/>
              </a:avLst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Low Cash Txn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7" name="Google Shape;1007;p156"/>
            <p:cNvSpPr/>
            <p:nvPr/>
          </p:nvSpPr>
          <p:spPr>
            <a:xfrm>
              <a:off x="5684775" y="4320875"/>
              <a:ext cx="1630500" cy="175200"/>
            </a:xfrm>
            <a:prstGeom prst="roundRect">
              <a:avLst>
                <a:gd fmla="val 16667" name="adj"/>
              </a:avLst>
            </a:prstGeom>
            <a:solidFill>
              <a:srgbClr val="F4CC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Helvetica Neue"/>
                  <a:ea typeface="Helvetica Neue"/>
                  <a:cs typeface="Helvetica Neue"/>
                  <a:sym typeface="Helvetica Neue"/>
                </a:rPr>
                <a:t>Unknown income source</a:t>
              </a:r>
              <a:endParaRPr b="1" sz="8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8" name="Google Shape;1008;p156"/>
            <p:cNvSpPr txBox="1"/>
            <p:nvPr/>
          </p:nvSpPr>
          <p:spPr>
            <a:xfrm>
              <a:off x="5927875" y="4547625"/>
              <a:ext cx="1787400" cy="1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+5 risk markers detected</a:t>
              </a:r>
              <a:endParaRPr b="1" i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9" name="Google Shape;1009;p156"/>
            <p:cNvSpPr txBox="1"/>
            <p:nvPr/>
          </p:nvSpPr>
          <p:spPr>
            <a:xfrm>
              <a:off x="22250" y="4140125"/>
              <a:ext cx="17421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742B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Risk Triggers</a:t>
              </a:r>
              <a:endParaRPr b="1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accen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4 detected</a:t>
              </a:r>
              <a:endParaRPr b="1" sz="10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57"/>
          <p:cNvSpPr txBox="1"/>
          <p:nvPr>
            <p:ph type="title"/>
          </p:nvPr>
        </p:nvSpPr>
        <p:spPr>
          <a:xfrm>
            <a:off x="311524" y="20025"/>
            <a:ext cx="80154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Our algorithms catch underlying risks within seemingly safe transactions</a:t>
            </a:r>
            <a:endParaRPr sz="2200"/>
          </a:p>
        </p:txBody>
      </p:sp>
      <p:sp>
        <p:nvSpPr>
          <p:cNvPr id="1015" name="Google Shape;1015;p157"/>
          <p:cNvSpPr/>
          <p:nvPr/>
        </p:nvSpPr>
        <p:spPr>
          <a:xfrm>
            <a:off x="898050" y="1234050"/>
            <a:ext cx="7373700" cy="88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STP / Hybrid Loan Journey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16" name="Google Shape;1016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640" y="1440843"/>
            <a:ext cx="267012" cy="2670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157"/>
          <p:cNvSpPr txBox="1"/>
          <p:nvPr/>
        </p:nvSpPr>
        <p:spPr>
          <a:xfrm>
            <a:off x="5656639" y="1366606"/>
            <a:ext cx="186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Alert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8" name="Google Shape;1018;p157"/>
          <p:cNvSpPr txBox="1"/>
          <p:nvPr/>
        </p:nvSpPr>
        <p:spPr>
          <a:xfrm>
            <a:off x="5195700" y="1687275"/>
            <a:ext cx="26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Risk Detected Based on EPFO Data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9" name="Google Shape;1019;p157"/>
          <p:cNvSpPr txBox="1"/>
          <p:nvPr/>
        </p:nvSpPr>
        <p:spPr>
          <a:xfrm>
            <a:off x="939209" y="1377600"/>
            <a:ext cx="342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Name</a:t>
            </a:r>
            <a:b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and Learn Private Limited (Byju’s)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0" name="Google Shape;1020;p157"/>
          <p:cNvPicPr preferRelativeResize="0"/>
          <p:nvPr/>
        </p:nvPicPr>
        <p:blipFill rotWithShape="1">
          <a:blip r:embed="rId4">
            <a:alphaModFix/>
          </a:blip>
          <a:srcRect b="0" l="-569" r="-1119" t="0"/>
          <a:stretch/>
        </p:blipFill>
        <p:spPr>
          <a:xfrm>
            <a:off x="921125" y="2203750"/>
            <a:ext cx="7350648" cy="258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1" name="Google Shape;1021;p157"/>
          <p:cNvSpPr/>
          <p:nvPr/>
        </p:nvSpPr>
        <p:spPr>
          <a:xfrm>
            <a:off x="1559050" y="4351705"/>
            <a:ext cx="27468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157"/>
          <p:cNvSpPr txBox="1"/>
          <p:nvPr/>
        </p:nvSpPr>
        <p:spPr>
          <a:xfrm>
            <a:off x="3287700" y="782450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Illustration</a:t>
            </a:r>
            <a:endParaRPr b="1" i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58"/>
          <p:cNvSpPr txBox="1"/>
          <p:nvPr>
            <p:ph type="title"/>
          </p:nvPr>
        </p:nvSpPr>
        <p:spPr>
          <a:xfrm>
            <a:off x="455050" y="215100"/>
            <a:ext cx="77610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Our </a:t>
            </a:r>
            <a:r>
              <a:rPr lang="en" sz="1800"/>
              <a:t>infrastructure</a:t>
            </a:r>
            <a:r>
              <a:rPr lang="en" sz="1800"/>
              <a:t> enables to catch legal risks on applications from unstructured court records</a:t>
            </a:r>
            <a:endParaRPr sz="1800"/>
          </a:p>
        </p:txBody>
      </p:sp>
      <p:pic>
        <p:nvPicPr>
          <p:cNvPr id="1028" name="Google Shape;1028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525" y="1111175"/>
            <a:ext cx="3092350" cy="3278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535" y="1187375"/>
            <a:ext cx="2970866" cy="327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59"/>
          <p:cNvSpPr txBox="1"/>
          <p:nvPr>
            <p:ph type="title"/>
          </p:nvPr>
        </p:nvSpPr>
        <p:spPr>
          <a:xfrm>
            <a:off x="455050" y="215100"/>
            <a:ext cx="77610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Awareness of risk can help lender manage portfolio risk better: Example of Vehicle loan</a:t>
            </a:r>
            <a:endParaRPr sz="1800"/>
          </a:p>
        </p:txBody>
      </p:sp>
      <p:sp>
        <p:nvSpPr>
          <p:cNvPr id="1035" name="Google Shape;1035;p159"/>
          <p:cNvSpPr txBox="1"/>
          <p:nvPr/>
        </p:nvSpPr>
        <p:spPr>
          <a:xfrm>
            <a:off x="4586925" y="4896700"/>
            <a:ext cx="4769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Sample size of 700 vehicles were </a:t>
            </a:r>
            <a:r>
              <a:rPr i="1"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taken</a:t>
            </a:r>
            <a:r>
              <a:rPr i="1"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where bank had an active hypothecation</a:t>
            </a:r>
            <a:endParaRPr i="1"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36" name="Google Shape;1036;p159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850" y="2373250"/>
            <a:ext cx="1853574" cy="225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159"/>
          <p:cNvSpPr txBox="1"/>
          <p:nvPr/>
        </p:nvSpPr>
        <p:spPr>
          <a:xfrm>
            <a:off x="3085875" y="2816150"/>
            <a:ext cx="1486200" cy="1437900"/>
          </a:xfrm>
          <a:prstGeom prst="rect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engaged in credit for vehicles which had associated risk (</a:t>
            </a:r>
            <a:r>
              <a:rPr b="1" lang="en" sz="13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collateral value under question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38" name="Google Shape;1038;p159"/>
          <p:cNvCxnSpPr>
            <a:stCxn id="1037" idx="1"/>
          </p:cNvCxnSpPr>
          <p:nvPr/>
        </p:nvCxnSpPr>
        <p:spPr>
          <a:xfrm flipH="1">
            <a:off x="2801175" y="3535100"/>
            <a:ext cx="284700" cy="428700"/>
          </a:xfrm>
          <a:prstGeom prst="straightConnector1">
            <a:avLst/>
          </a:prstGeom>
          <a:noFill/>
          <a:ln cap="flat" cmpd="sng" w="9525">
            <a:solidFill>
              <a:srgbClr val="EA9999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39" name="Google Shape;1039;p159"/>
          <p:cNvSpPr txBox="1"/>
          <p:nvPr/>
        </p:nvSpPr>
        <p:spPr>
          <a:xfrm>
            <a:off x="148350" y="2557425"/>
            <a:ext cx="1601100" cy="9288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 disbursement risk of credit has increased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lang="en" sz="13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Early warning signal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0" name="Google Shape;1040;p159"/>
          <p:cNvCxnSpPr>
            <a:stCxn id="1039" idx="3"/>
          </p:cNvCxnSpPr>
          <p:nvPr/>
        </p:nvCxnSpPr>
        <p:spPr>
          <a:xfrm>
            <a:off x="1749450" y="3021825"/>
            <a:ext cx="295500" cy="118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41" name="Google Shape;1041;p159"/>
          <p:cNvSpPr txBox="1"/>
          <p:nvPr/>
        </p:nvSpPr>
        <p:spPr>
          <a:xfrm>
            <a:off x="130050" y="1137975"/>
            <a:ext cx="44421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10%+ Vehicles can have legal footprints in a portfolio…</a:t>
            </a:r>
            <a:endParaRPr b="1" i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2" name="Google Shape;1042;p15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650" y="1991150"/>
            <a:ext cx="3651826" cy="2328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59"/>
          <p:cNvSpPr txBox="1"/>
          <p:nvPr/>
        </p:nvSpPr>
        <p:spPr>
          <a:xfrm>
            <a:off x="5033875" y="1137975"/>
            <a:ext cx="40599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…Of which 7% have high severity with likely impact on underlying loan</a:t>
            </a:r>
            <a:endParaRPr b="1" i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4" name="Google Shape;1044;p159"/>
          <p:cNvSpPr/>
          <p:nvPr/>
        </p:nvSpPr>
        <p:spPr>
          <a:xfrm>
            <a:off x="5305600" y="2222175"/>
            <a:ext cx="3759900" cy="1110600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5" name="Google Shape;1045;p159"/>
          <p:cNvCxnSpPr/>
          <p:nvPr/>
        </p:nvCxnSpPr>
        <p:spPr>
          <a:xfrm>
            <a:off x="4706263" y="1244925"/>
            <a:ext cx="41100" cy="3401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60"/>
          <p:cNvSpPr txBox="1"/>
          <p:nvPr>
            <p:ph type="title"/>
          </p:nvPr>
        </p:nvSpPr>
        <p:spPr>
          <a:xfrm>
            <a:off x="311525" y="20025"/>
            <a:ext cx="7882200" cy="7980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study indicates upto 2% of portfolio have risks which can be proactively identified and mitigated</a:t>
            </a:r>
            <a:endParaRPr sz="1800"/>
          </a:p>
        </p:txBody>
      </p:sp>
      <p:grpSp>
        <p:nvGrpSpPr>
          <p:cNvPr id="1051" name="Google Shape;1051;p160"/>
          <p:cNvGrpSpPr/>
          <p:nvPr/>
        </p:nvGrpSpPr>
        <p:grpSpPr>
          <a:xfrm>
            <a:off x="1928850" y="818000"/>
            <a:ext cx="4794000" cy="3514799"/>
            <a:chOff x="5357850" y="1046600"/>
            <a:chExt cx="4794000" cy="3514799"/>
          </a:xfrm>
        </p:grpSpPr>
        <p:pic>
          <p:nvPicPr>
            <p:cNvPr id="1052" name="Google Shape;1052;p160" title="Points score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57850" y="1589125"/>
              <a:ext cx="4794000" cy="2972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160"/>
            <p:cNvSpPr txBox="1"/>
            <p:nvPr/>
          </p:nvSpPr>
          <p:spPr>
            <a:xfrm>
              <a:off x="6470700" y="1046600"/>
              <a:ext cx="2549400" cy="5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Categorization Efficiency</a:t>
              </a:r>
              <a:endParaRPr b="1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4" name="Google Shape;1054;p160"/>
            <p:cNvSpPr/>
            <p:nvPr/>
          </p:nvSpPr>
          <p:spPr>
            <a:xfrm>
              <a:off x="7701175" y="1941100"/>
              <a:ext cx="170100" cy="10197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5" name="Google Shape;1055;p160"/>
            <p:cNvSpPr txBox="1"/>
            <p:nvPr/>
          </p:nvSpPr>
          <p:spPr>
            <a:xfrm>
              <a:off x="6322450" y="1864575"/>
              <a:ext cx="1378500" cy="7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FF00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Earnings &amp; obligations identification unlocked</a:t>
              </a:r>
              <a:endParaRPr i="1" sz="10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056" name="Google Shape;1056;p160"/>
          <p:cNvGrpSpPr/>
          <p:nvPr/>
        </p:nvGrpSpPr>
        <p:grpSpPr>
          <a:xfrm>
            <a:off x="-432350" y="818000"/>
            <a:ext cx="3962001" cy="3296800"/>
            <a:chOff x="-432350" y="1046600"/>
            <a:chExt cx="3962001" cy="3296800"/>
          </a:xfrm>
        </p:grpSpPr>
        <p:pic>
          <p:nvPicPr>
            <p:cNvPr id="1057" name="Google Shape;1057;p160" title="Chart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432350" y="1886824"/>
              <a:ext cx="3962001" cy="2456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160"/>
            <p:cNvSpPr txBox="1"/>
            <p:nvPr/>
          </p:nvSpPr>
          <p:spPr>
            <a:xfrm>
              <a:off x="69900" y="1046600"/>
              <a:ext cx="2549400" cy="54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Catching Fraud</a:t>
              </a:r>
              <a:endParaRPr b="1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9" name="Google Shape;1059;p160"/>
            <p:cNvSpPr txBox="1"/>
            <p:nvPr/>
          </p:nvSpPr>
          <p:spPr>
            <a:xfrm>
              <a:off x="263375" y="1462400"/>
              <a:ext cx="2127300" cy="42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2%+ severely tampered </a:t>
              </a:r>
              <a:endParaRPr b="1" sz="1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(document used for underwriting)</a:t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060" name="Google Shape;1060;p160"/>
            <p:cNvCxnSpPr>
              <a:stCxn id="1059" idx="2"/>
            </p:cNvCxnSpPr>
            <p:nvPr/>
          </p:nvCxnSpPr>
          <p:spPr>
            <a:xfrm>
              <a:off x="1327025" y="1882700"/>
              <a:ext cx="140100" cy="2016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061" name="Google Shape;1061;p160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0825" y="1608825"/>
            <a:ext cx="2995176" cy="216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160"/>
          <p:cNvSpPr txBox="1"/>
          <p:nvPr/>
        </p:nvSpPr>
        <p:spPr>
          <a:xfrm>
            <a:off x="6242100" y="818000"/>
            <a:ext cx="25494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Risk Earnings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3" name="Google Shape;1063;p160"/>
          <p:cNvSpPr txBox="1"/>
          <p:nvPr/>
        </p:nvSpPr>
        <p:spPr>
          <a:xfrm>
            <a:off x="7578000" y="3247125"/>
            <a:ext cx="15660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Despite salaried, might behave like unstable income cases</a:t>
            </a:r>
            <a:endParaRPr sz="10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64" name="Google Shape;1064;p160"/>
          <p:cNvCxnSpPr>
            <a:stCxn id="1063" idx="1"/>
          </p:cNvCxnSpPr>
          <p:nvPr/>
        </p:nvCxnSpPr>
        <p:spPr>
          <a:xfrm rot="10800000">
            <a:off x="7022100" y="3224175"/>
            <a:ext cx="555900" cy="35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65" name="Google Shape;1065;p160"/>
          <p:cNvSpPr txBox="1"/>
          <p:nvPr/>
        </p:nvSpPr>
        <p:spPr>
          <a:xfrm>
            <a:off x="-31800" y="4992100"/>
            <a:ext cx="89472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Results based on sampling of 10,000 real bank statements considered for personal loan applications</a:t>
            </a:r>
            <a:endParaRPr i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6" name="Google Shape;1066;p160"/>
          <p:cNvSpPr txBox="1"/>
          <p:nvPr/>
        </p:nvSpPr>
        <p:spPr>
          <a:xfrm>
            <a:off x="205750" y="4446188"/>
            <a:ext cx="8775300" cy="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7" name="Google Shape;1067;p160"/>
          <p:cNvSpPr txBox="1"/>
          <p:nvPr/>
        </p:nvSpPr>
        <p:spPr>
          <a:xfrm>
            <a:off x="169950" y="4455050"/>
            <a:ext cx="877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 unlocks power of cross-database information triangulation and interpretation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61"/>
          <p:cNvSpPr txBox="1"/>
          <p:nvPr>
            <p:ph type="title"/>
          </p:nvPr>
        </p:nvSpPr>
        <p:spPr>
          <a:xfrm>
            <a:off x="311524" y="20025"/>
            <a:ext cx="80154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Our o</a:t>
            </a:r>
            <a:r>
              <a:rPr lang="en" sz="2200"/>
              <a:t>utput is consumable as per your preferred information architecture</a:t>
            </a:r>
            <a:endParaRPr sz="2200"/>
          </a:p>
        </p:txBody>
      </p:sp>
      <p:pic>
        <p:nvPicPr>
          <p:cNvPr id="1073" name="Google Shape;1073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125" y="1658725"/>
            <a:ext cx="2962375" cy="289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161"/>
          <p:cNvSpPr txBox="1"/>
          <p:nvPr/>
        </p:nvSpPr>
        <p:spPr>
          <a:xfrm>
            <a:off x="986125" y="1160475"/>
            <a:ext cx="2622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 for Underwriters</a:t>
            </a:r>
            <a:endParaRPr b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5" name="Google Shape;1075;p161"/>
          <p:cNvSpPr txBox="1"/>
          <p:nvPr/>
        </p:nvSpPr>
        <p:spPr>
          <a:xfrm>
            <a:off x="5634325" y="1160475"/>
            <a:ext cx="2622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to Internal Systems</a:t>
            </a:r>
            <a:endParaRPr b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76" name="Google Shape;1076;p161"/>
          <p:cNvGrpSpPr/>
          <p:nvPr/>
        </p:nvGrpSpPr>
        <p:grpSpPr>
          <a:xfrm>
            <a:off x="6419050" y="1679625"/>
            <a:ext cx="1195800" cy="736450"/>
            <a:chOff x="2852150" y="2266875"/>
            <a:chExt cx="1195800" cy="736450"/>
          </a:xfrm>
        </p:grpSpPr>
        <p:sp>
          <p:nvSpPr>
            <p:cNvPr id="1077" name="Google Shape;1077;p161"/>
            <p:cNvSpPr txBox="1"/>
            <p:nvPr/>
          </p:nvSpPr>
          <p:spPr>
            <a:xfrm>
              <a:off x="2852150" y="2622325"/>
              <a:ext cx="1195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E101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Transaction INTELLIGENCE</a:t>
              </a:r>
              <a:endParaRPr b="1" sz="10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078" name="Google Shape;1078;p161"/>
            <p:cNvPicPr preferRelativeResize="0"/>
            <p:nvPr/>
          </p:nvPicPr>
          <p:blipFill rotWithShape="1">
            <a:blip r:embed="rId4">
              <a:alphaModFix/>
            </a:blip>
            <a:srcRect b="24412" l="10885" r="12779" t="21804"/>
            <a:stretch/>
          </p:blipFill>
          <p:spPr>
            <a:xfrm>
              <a:off x="3179625" y="2266875"/>
              <a:ext cx="540850" cy="381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9" name="Google Shape;1079;p161"/>
          <p:cNvSpPr/>
          <p:nvPr/>
        </p:nvSpPr>
        <p:spPr>
          <a:xfrm>
            <a:off x="5739825" y="3563725"/>
            <a:ext cx="2962500" cy="556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LOS/LMS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0" name="Google Shape;1080;p161"/>
          <p:cNvSpPr/>
          <p:nvPr/>
        </p:nvSpPr>
        <p:spPr>
          <a:xfrm>
            <a:off x="6815425" y="2502775"/>
            <a:ext cx="336900" cy="9522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E0E0E0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1" name="Google Shape;1081;p161"/>
          <p:cNvSpPr txBox="1"/>
          <p:nvPr/>
        </p:nvSpPr>
        <p:spPr>
          <a:xfrm>
            <a:off x="6167725" y="2860325"/>
            <a:ext cx="1656000" cy="23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interaction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62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40"/>
              <a:t>We are able to deliver this because our Stack is built as multi data and AI models at its core</a:t>
            </a:r>
            <a:endParaRPr sz="1840"/>
          </a:p>
        </p:txBody>
      </p:sp>
      <p:sp>
        <p:nvSpPr>
          <p:cNvPr id="1087" name="Google Shape;1087;p162"/>
          <p:cNvSpPr txBox="1"/>
          <p:nvPr/>
        </p:nvSpPr>
        <p:spPr>
          <a:xfrm>
            <a:off x="522700" y="1309950"/>
            <a:ext cx="1628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 based</a:t>
            </a:r>
            <a:endParaRPr sz="13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8" name="Google Shape;1088;p162"/>
          <p:cNvSpPr txBox="1"/>
          <p:nvPr/>
        </p:nvSpPr>
        <p:spPr>
          <a:xfrm>
            <a:off x="3805375" y="1309975"/>
            <a:ext cx="1628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Inhouse </a:t>
            </a: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based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9" name="Google Shape;1089;p162"/>
          <p:cNvSpPr txBox="1"/>
          <p:nvPr/>
        </p:nvSpPr>
        <p:spPr>
          <a:xfrm>
            <a:off x="5832950" y="1309975"/>
            <a:ext cx="3311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disruption if source document changes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0" name="Google Shape;1090;p162"/>
          <p:cNvSpPr txBox="1"/>
          <p:nvPr/>
        </p:nvSpPr>
        <p:spPr>
          <a:xfrm>
            <a:off x="496300" y="1886050"/>
            <a:ext cx="1944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 for numbers</a:t>
            </a:r>
            <a:endParaRPr sz="13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162"/>
          <p:cNvSpPr txBox="1"/>
          <p:nvPr/>
        </p:nvSpPr>
        <p:spPr>
          <a:xfrm>
            <a:off x="3805375" y="1886047"/>
            <a:ext cx="1997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sense of data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2" name="Google Shape;1092;p162"/>
          <p:cNvSpPr txBox="1"/>
          <p:nvPr/>
        </p:nvSpPr>
        <p:spPr>
          <a:xfrm>
            <a:off x="5832950" y="1886047"/>
            <a:ext cx="3311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insights instead of finding numbers to fill templates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3" name="Google Shape;1093;p162"/>
          <p:cNvSpPr txBox="1"/>
          <p:nvPr/>
        </p:nvSpPr>
        <p:spPr>
          <a:xfrm>
            <a:off x="496300" y="2462125"/>
            <a:ext cx="1779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risk checks</a:t>
            </a:r>
            <a:endParaRPr sz="13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4" name="Google Shape;1094;p162"/>
          <p:cNvSpPr txBox="1"/>
          <p:nvPr/>
        </p:nvSpPr>
        <p:spPr>
          <a:xfrm>
            <a:off x="3805375" y="2462119"/>
            <a:ext cx="1997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Evolving risk library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5" name="Google Shape;1095;p162"/>
          <p:cNvSpPr txBox="1"/>
          <p:nvPr/>
        </p:nvSpPr>
        <p:spPr>
          <a:xfrm>
            <a:off x="5832950" y="2462119"/>
            <a:ext cx="3311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learns with each new datapoint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162"/>
          <p:cNvSpPr txBox="1"/>
          <p:nvPr/>
        </p:nvSpPr>
        <p:spPr>
          <a:xfrm>
            <a:off x="503125" y="3045813"/>
            <a:ext cx="1680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Lower accuracy</a:t>
            </a:r>
            <a:endParaRPr sz="13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7" name="Google Shape;1097;p162"/>
          <p:cNvSpPr txBox="1"/>
          <p:nvPr/>
        </p:nvSpPr>
        <p:spPr>
          <a:xfrm>
            <a:off x="3805375" y="3053431"/>
            <a:ext cx="1997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Higher accuracy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8" name="Google Shape;1098;p162"/>
          <p:cNvSpPr txBox="1"/>
          <p:nvPr/>
        </p:nvSpPr>
        <p:spPr>
          <a:xfrm>
            <a:off x="5832950" y="3053431"/>
            <a:ext cx="3311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Feedback ensures increasing accuracy against static model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9" name="Google Shape;1099;p162"/>
          <p:cNvSpPr txBox="1"/>
          <p:nvPr/>
        </p:nvSpPr>
        <p:spPr>
          <a:xfrm>
            <a:off x="503125" y="3625700"/>
            <a:ext cx="1680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Static </a:t>
            </a:r>
            <a:endParaRPr sz="13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0" name="Google Shape;1100;p162"/>
          <p:cNvSpPr txBox="1"/>
          <p:nvPr/>
        </p:nvSpPr>
        <p:spPr>
          <a:xfrm>
            <a:off x="3805375" y="3629503"/>
            <a:ext cx="1997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Configurable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1" name="Google Shape;1101;p162"/>
          <p:cNvSpPr txBox="1"/>
          <p:nvPr/>
        </p:nvSpPr>
        <p:spPr>
          <a:xfrm>
            <a:off x="5832950" y="3629503"/>
            <a:ext cx="3311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Granular analysis enables configure as per your risk appetite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2" name="Google Shape;1102;p162"/>
          <p:cNvSpPr txBox="1"/>
          <p:nvPr/>
        </p:nvSpPr>
        <p:spPr>
          <a:xfrm>
            <a:off x="503125" y="4205575"/>
            <a:ext cx="1680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Standalone checks</a:t>
            </a:r>
            <a:endParaRPr sz="13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3" name="Google Shape;1103;p162"/>
          <p:cNvSpPr txBox="1"/>
          <p:nvPr/>
        </p:nvSpPr>
        <p:spPr>
          <a:xfrm>
            <a:off x="3805375" y="4205575"/>
            <a:ext cx="1997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 database analysis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4" name="Google Shape;1104;p162"/>
          <p:cNvSpPr txBox="1"/>
          <p:nvPr/>
        </p:nvSpPr>
        <p:spPr>
          <a:xfrm>
            <a:off x="5832950" y="4205575"/>
            <a:ext cx="3032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Multi-data source profiling instead of single point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05" name="Google Shape;1105;p162"/>
          <p:cNvCxnSpPr>
            <a:endCxn id="1091" idx="1"/>
          </p:cNvCxnSpPr>
          <p:nvPr/>
        </p:nvCxnSpPr>
        <p:spPr>
          <a:xfrm flipH="1" rot="10800000">
            <a:off x="2263075" y="2069497"/>
            <a:ext cx="1542300" cy="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162"/>
          <p:cNvCxnSpPr>
            <a:endCxn id="1088" idx="1"/>
          </p:cNvCxnSpPr>
          <p:nvPr/>
        </p:nvCxnSpPr>
        <p:spPr>
          <a:xfrm flipH="1" rot="10800000">
            <a:off x="2284375" y="1493425"/>
            <a:ext cx="1521000" cy="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162"/>
          <p:cNvCxnSpPr>
            <a:stCxn id="1093" idx="3"/>
            <a:endCxn id="1094" idx="1"/>
          </p:cNvCxnSpPr>
          <p:nvPr/>
        </p:nvCxnSpPr>
        <p:spPr>
          <a:xfrm>
            <a:off x="2275600" y="2645575"/>
            <a:ext cx="1529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162"/>
          <p:cNvCxnSpPr>
            <a:endCxn id="1097" idx="1"/>
          </p:cNvCxnSpPr>
          <p:nvPr/>
        </p:nvCxnSpPr>
        <p:spPr>
          <a:xfrm>
            <a:off x="2256175" y="3227881"/>
            <a:ext cx="1549200" cy="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162"/>
          <p:cNvCxnSpPr>
            <a:endCxn id="1100" idx="1"/>
          </p:cNvCxnSpPr>
          <p:nvPr/>
        </p:nvCxnSpPr>
        <p:spPr>
          <a:xfrm flipH="1" rot="10800000">
            <a:off x="2248975" y="3812953"/>
            <a:ext cx="1556400" cy="3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162"/>
          <p:cNvCxnSpPr>
            <a:endCxn id="1103" idx="1"/>
          </p:cNvCxnSpPr>
          <p:nvPr/>
        </p:nvCxnSpPr>
        <p:spPr>
          <a:xfrm>
            <a:off x="2298775" y="4384525"/>
            <a:ext cx="1506600" cy="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1" name="Google Shape;1111;p162"/>
          <p:cNvSpPr txBox="1"/>
          <p:nvPr/>
        </p:nvSpPr>
        <p:spPr>
          <a:xfrm>
            <a:off x="496300" y="1014975"/>
            <a:ext cx="19449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3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Traditional</a:t>
            </a:r>
            <a:endParaRPr b="1" sz="1500">
              <a:solidFill>
                <a:srgbClr val="1C43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2" name="Google Shape;1112;p162"/>
          <p:cNvSpPr txBox="1"/>
          <p:nvPr/>
        </p:nvSpPr>
        <p:spPr>
          <a:xfrm>
            <a:off x="3799375" y="1014975"/>
            <a:ext cx="19449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C43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</a:t>
            </a:r>
            <a:endParaRPr b="1" sz="1500">
              <a:solidFill>
                <a:srgbClr val="1C43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3" name="Google Shape;1113;p162"/>
          <p:cNvSpPr txBox="1"/>
          <p:nvPr/>
        </p:nvSpPr>
        <p:spPr>
          <a:xfrm>
            <a:off x="5832950" y="964500"/>
            <a:ext cx="19449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C43BA"/>
                </a:solidFill>
                <a:highlight>
                  <a:srgbClr val="FFFFFF"/>
                </a:highlight>
              </a:rPr>
              <a:t>Why this is crucial!</a:t>
            </a:r>
            <a:endParaRPr b="1" sz="1300">
              <a:solidFill>
                <a:srgbClr val="1C43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63"/>
          <p:cNvSpPr/>
          <p:nvPr/>
        </p:nvSpPr>
        <p:spPr>
          <a:xfrm>
            <a:off x="562186" y="1369219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64"/>
          <p:cNvSpPr txBox="1"/>
          <p:nvPr>
            <p:ph type="title"/>
          </p:nvPr>
        </p:nvSpPr>
        <p:spPr>
          <a:xfrm>
            <a:off x="455050" y="215100"/>
            <a:ext cx="77610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We heard multiple pain points that lenders face while using bank statement analysis tools</a:t>
            </a:r>
            <a:endParaRPr sz="1800"/>
          </a:p>
        </p:txBody>
      </p:sp>
      <p:graphicFrame>
        <p:nvGraphicFramePr>
          <p:cNvPr id="1124" name="Google Shape;1124;p164"/>
          <p:cNvGraphicFramePr/>
          <p:nvPr/>
        </p:nvGraphicFramePr>
        <p:xfrm>
          <a:off x="455050" y="107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4962150"/>
                <a:gridCol w="3098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Scenario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Implications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Statement issuing </a:t>
                      </a: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bank changes its template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False positives flagged - </a:t>
                      </a: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increased rejections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Fraudster uses </a:t>
                      </a: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advanced tools to modify statement</a:t>
                      </a:r>
                      <a:r>
                        <a:rPr lang="en" sz="1100"/>
                        <a:t> ensuring all numbers reconcile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Will pass the document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There are </a:t>
                      </a: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specific checks</a:t>
                      </a:r>
                      <a:r>
                        <a:rPr lang="en" sz="1100"/>
                        <a:t> on statement you need (e.g. statement should be 12 months)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changes allowed, </a:t>
                      </a: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need to check manually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Portfolio specific additional risk check</a:t>
                      </a:r>
                      <a:r>
                        <a:rPr lang="en" sz="1100"/>
                        <a:t> bank wants to do for specific borrower segment/portfolio (e.g. txn with gambling apps)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No bespoke risk signals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Want to </a:t>
                      </a: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triangulate values </a:t>
                      </a:r>
                      <a:r>
                        <a:rPr lang="en" sz="1100"/>
                        <a:t>with outside systems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Take more inputs from user and handle in LOS and </a:t>
                      </a: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risk drop-offs 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Integrate </a:t>
                      </a:r>
                      <a:r>
                        <a:rPr b="1" lang="en" sz="1100">
                          <a:solidFill>
                            <a:srgbClr val="0000FF"/>
                          </a:solidFill>
                        </a:rPr>
                        <a:t>statement analysis in DIY journey</a:t>
                      </a:r>
                      <a:endParaRPr b="1" sz="1100">
                        <a:solidFill>
                          <a:srgbClr val="00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High latency and low first time right - fueling </a:t>
                      </a: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drop-offs and manual follow-ups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25" name="Google Shape;1125;p164"/>
          <p:cNvCxnSpPr/>
          <p:nvPr/>
        </p:nvCxnSpPr>
        <p:spPr>
          <a:xfrm flipH="1" rot="10800000">
            <a:off x="526675" y="1816150"/>
            <a:ext cx="8101800" cy="3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164"/>
          <p:cNvCxnSpPr/>
          <p:nvPr/>
        </p:nvCxnSpPr>
        <p:spPr>
          <a:xfrm flipH="1" rot="10800000">
            <a:off x="526675" y="2349550"/>
            <a:ext cx="8101800" cy="3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164"/>
          <p:cNvCxnSpPr/>
          <p:nvPr/>
        </p:nvCxnSpPr>
        <p:spPr>
          <a:xfrm flipH="1" rot="10800000">
            <a:off x="526675" y="2882950"/>
            <a:ext cx="8101800" cy="3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164"/>
          <p:cNvCxnSpPr/>
          <p:nvPr/>
        </p:nvCxnSpPr>
        <p:spPr>
          <a:xfrm flipH="1" rot="10800000">
            <a:off x="526675" y="3416350"/>
            <a:ext cx="8101800" cy="3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164"/>
          <p:cNvCxnSpPr/>
          <p:nvPr/>
        </p:nvCxnSpPr>
        <p:spPr>
          <a:xfrm flipH="1" rot="10800000">
            <a:off x="526675" y="3949750"/>
            <a:ext cx="8101800" cy="3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65"/>
          <p:cNvSpPr/>
          <p:nvPr/>
        </p:nvSpPr>
        <p:spPr>
          <a:xfrm>
            <a:off x="245825" y="1565425"/>
            <a:ext cx="8628300" cy="2522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4CCC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5" name="Google Shape;1135;p165"/>
          <p:cNvSpPr txBox="1"/>
          <p:nvPr>
            <p:ph type="title"/>
          </p:nvPr>
        </p:nvSpPr>
        <p:spPr>
          <a:xfrm>
            <a:off x="455050" y="215100"/>
            <a:ext cx="83112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chemeClr val="dk1"/>
                </a:solidFill>
              </a:rPr>
              <a:t>Gaps in market led us to rethink bank data analyzer from modern assessment context</a:t>
            </a:r>
            <a:endParaRPr sz="1600"/>
          </a:p>
        </p:txBody>
      </p:sp>
      <p:sp>
        <p:nvSpPr>
          <p:cNvPr id="1136" name="Google Shape;1136;p165"/>
          <p:cNvSpPr/>
          <p:nvPr/>
        </p:nvSpPr>
        <p:spPr>
          <a:xfrm>
            <a:off x="759850" y="2285375"/>
            <a:ext cx="21126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Fraud Identification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7" name="Google Shape;1137;p165"/>
          <p:cNvSpPr/>
          <p:nvPr/>
        </p:nvSpPr>
        <p:spPr>
          <a:xfrm>
            <a:off x="3617350" y="2285375"/>
            <a:ext cx="21126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Fraudulent/Suspicious Transactions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8" name="Google Shape;1138;p165"/>
          <p:cNvSpPr/>
          <p:nvPr/>
        </p:nvSpPr>
        <p:spPr>
          <a:xfrm>
            <a:off x="6474850" y="2285375"/>
            <a:ext cx="21126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Registers for decision making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9" name="Google Shape;1139;p165"/>
          <p:cNvSpPr/>
          <p:nvPr/>
        </p:nvSpPr>
        <p:spPr>
          <a:xfrm>
            <a:off x="759850" y="3009600"/>
            <a:ext cx="2112600" cy="1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Looks 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beyond visual markers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but within metadata to identify fraud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Safeguard against online tools making it easy to forge statement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0" name="Google Shape;1140;p165"/>
          <p:cNvSpPr/>
          <p:nvPr/>
        </p:nvSpPr>
        <p:spPr>
          <a:xfrm>
            <a:off x="3655450" y="3009600"/>
            <a:ext cx="22308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Catches 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suspicious transactions via multi-dimensional model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covering mode-counterparty-timing-txn size-frequency etc.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1" name="Google Shape;1141;p165"/>
          <p:cNvSpPr/>
          <p:nvPr/>
        </p:nvSpPr>
        <p:spPr>
          <a:xfrm>
            <a:off x="6474850" y="3009600"/>
            <a:ext cx="2230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elaborate and expanding risk library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enriched by risk signals observed &amp; tested in market 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2" name="Google Shape;1142;p165"/>
          <p:cNvSpPr/>
          <p:nvPr/>
        </p:nvSpPr>
        <p:spPr>
          <a:xfrm>
            <a:off x="679675" y="1410000"/>
            <a:ext cx="7907700" cy="214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intelligence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3" name="Google Shape;1143;p165"/>
          <p:cNvSpPr txBox="1"/>
          <p:nvPr/>
        </p:nvSpPr>
        <p:spPr>
          <a:xfrm>
            <a:off x="742775" y="1887450"/>
            <a:ext cx="2057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only genuine statements enter funnel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4" name="Google Shape;1144;p165"/>
          <p:cNvSpPr txBox="1"/>
          <p:nvPr/>
        </p:nvSpPr>
        <p:spPr>
          <a:xfrm>
            <a:off x="3638375" y="1887450"/>
            <a:ext cx="2057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Scan all transactions &amp; identify risky ones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5" name="Google Shape;1145;p165"/>
          <p:cNvSpPr txBox="1"/>
          <p:nvPr/>
        </p:nvSpPr>
        <p:spPr>
          <a:xfrm>
            <a:off x="6457775" y="1887450"/>
            <a:ext cx="20574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per risk appetite take decision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6" name="Google Shape;1146;p165"/>
          <p:cNvSpPr/>
          <p:nvPr/>
        </p:nvSpPr>
        <p:spPr>
          <a:xfrm>
            <a:off x="658086" y="1824825"/>
            <a:ext cx="250500" cy="255300"/>
          </a:xfrm>
          <a:prstGeom prst="ellipse">
            <a:avLst/>
          </a:prstGeom>
          <a:solidFill>
            <a:srgbClr val="2742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7" name="Google Shape;1147;p165"/>
          <p:cNvSpPr/>
          <p:nvPr/>
        </p:nvSpPr>
        <p:spPr>
          <a:xfrm>
            <a:off x="3477486" y="1824825"/>
            <a:ext cx="250500" cy="255300"/>
          </a:xfrm>
          <a:prstGeom prst="ellipse">
            <a:avLst/>
          </a:prstGeom>
          <a:solidFill>
            <a:srgbClr val="2742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8" name="Google Shape;1148;p165"/>
          <p:cNvSpPr/>
          <p:nvPr/>
        </p:nvSpPr>
        <p:spPr>
          <a:xfrm>
            <a:off x="6296886" y="1824825"/>
            <a:ext cx="250500" cy="255300"/>
          </a:xfrm>
          <a:prstGeom prst="ellipse">
            <a:avLst/>
          </a:prstGeom>
          <a:solidFill>
            <a:srgbClr val="2742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9" name="Google Shape;1149;p165"/>
          <p:cNvSpPr txBox="1"/>
          <p:nvPr/>
        </p:nvSpPr>
        <p:spPr>
          <a:xfrm>
            <a:off x="554600" y="4240025"/>
            <a:ext cx="831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are building an data intelligence Co-pilot for your credit decision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66"/>
          <p:cNvSpPr txBox="1"/>
          <p:nvPr>
            <p:ph type="title"/>
          </p:nvPr>
        </p:nvSpPr>
        <p:spPr>
          <a:xfrm>
            <a:off x="161600" y="101575"/>
            <a:ext cx="8038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We will be able to profile the customer across dimensions to take credit decisions as well as cross-sell prioritization</a:t>
            </a:r>
            <a:endParaRPr sz="1700"/>
          </a:p>
        </p:txBody>
      </p:sp>
      <p:grpSp>
        <p:nvGrpSpPr>
          <p:cNvPr id="1155" name="Google Shape;1155;p166"/>
          <p:cNvGrpSpPr/>
          <p:nvPr/>
        </p:nvGrpSpPr>
        <p:grpSpPr>
          <a:xfrm>
            <a:off x="183950" y="1661400"/>
            <a:ext cx="1933200" cy="1607050"/>
            <a:chOff x="78300" y="3277250"/>
            <a:chExt cx="1933200" cy="1607050"/>
          </a:xfrm>
        </p:grpSpPr>
        <p:pic>
          <p:nvPicPr>
            <p:cNvPr id="1156" name="Google Shape;1156;p1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300" y="3277250"/>
              <a:ext cx="390200" cy="39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166"/>
            <p:cNvSpPr txBox="1"/>
            <p:nvPr/>
          </p:nvSpPr>
          <p:spPr>
            <a:xfrm>
              <a:off x="78300" y="3763500"/>
              <a:ext cx="1933200" cy="11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Acc Hol Name:	 </a:t>
              </a: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Rahul Mohan</a:t>
              </a:r>
              <a:endPara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Acc No:</a:t>
              </a: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	 XXXXXX8907</a:t>
              </a:r>
              <a:endPara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Bank Name:</a:t>
              </a: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 </a:t>
              </a: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KMB</a:t>
              </a:r>
              <a:endParaRPr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Tampering Check: </a:t>
              </a: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</a:t>
              </a:r>
              <a:r>
                <a:rPr b="1" lang="en" sz="700">
                  <a:solidFill>
                    <a:srgbClr val="008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Not Tampered</a:t>
              </a:r>
              <a:endParaRPr b="1" sz="7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Statement Duration:</a:t>
              </a: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</a:t>
              </a:r>
              <a:r>
                <a:rPr b="1"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14 Months</a:t>
              </a:r>
              <a:endParaRPr b="1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Total Txns:</a:t>
              </a:r>
              <a:r>
                <a:rPr lang="en" sz="9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	       	</a:t>
              </a:r>
              <a:r>
                <a:rPr b="1" lang="en" sz="7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185</a:t>
              </a:r>
              <a:endParaRPr b="1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58" name="Google Shape;1158;p166"/>
          <p:cNvSpPr/>
          <p:nvPr/>
        </p:nvSpPr>
        <p:spPr>
          <a:xfrm>
            <a:off x="183950" y="2143825"/>
            <a:ext cx="2236800" cy="1206000"/>
          </a:xfrm>
          <a:prstGeom prst="rect">
            <a:avLst/>
          </a:prstGeom>
          <a:noFill/>
          <a:ln cap="flat" cmpd="sng" w="19050">
            <a:solidFill>
              <a:srgbClr val="1C43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9" name="Google Shape;1159;p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3150" y="765850"/>
            <a:ext cx="6418447" cy="3967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67"/>
          <p:cNvSpPr txBox="1"/>
          <p:nvPr>
            <p:ph type="title"/>
          </p:nvPr>
        </p:nvSpPr>
        <p:spPr>
          <a:xfrm>
            <a:off x="472325" y="200200"/>
            <a:ext cx="71721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chemeClr val="dk1"/>
                </a:solidFill>
              </a:rPr>
              <a:t>Ensuring seamless extraction of data from non-standard documents without breaking the STP flows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65" name="Google Shape;1165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650" y="1801225"/>
            <a:ext cx="1835849" cy="2052951"/>
          </a:xfrm>
          <a:prstGeom prst="rect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6" name="Google Shape;1166;p167"/>
          <p:cNvPicPr preferRelativeResize="0"/>
          <p:nvPr/>
        </p:nvPicPr>
        <p:blipFill rotWithShape="1">
          <a:blip r:embed="rId4">
            <a:alphaModFix/>
          </a:blip>
          <a:srcRect b="8206" l="0" r="0" t="0"/>
          <a:stretch/>
        </p:blipFill>
        <p:spPr>
          <a:xfrm>
            <a:off x="6233300" y="1801225"/>
            <a:ext cx="2030950" cy="2038830"/>
          </a:xfrm>
          <a:prstGeom prst="rect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7" name="Google Shape;1167;p1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899" y="1801225"/>
            <a:ext cx="2030949" cy="2052950"/>
          </a:xfrm>
          <a:prstGeom prst="rect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8" name="Google Shape;1168;p167"/>
          <p:cNvSpPr txBox="1"/>
          <p:nvPr/>
        </p:nvSpPr>
        <p:spPr>
          <a:xfrm>
            <a:off x="203525" y="4381013"/>
            <a:ext cx="609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Others</a:t>
            </a:r>
            <a:endParaRPr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9" name="Google Shape;1169;p1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4077" y="4139723"/>
            <a:ext cx="266761" cy="2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1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0310" y="4139703"/>
            <a:ext cx="266739" cy="2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1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1560" y="4139753"/>
            <a:ext cx="266714" cy="2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1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60299" y="4406475"/>
            <a:ext cx="266739" cy="2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1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51548" y="4406500"/>
            <a:ext cx="266714" cy="2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1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4088" y="4406473"/>
            <a:ext cx="266761" cy="2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67"/>
          <p:cNvSpPr txBox="1"/>
          <p:nvPr/>
        </p:nvSpPr>
        <p:spPr>
          <a:xfrm>
            <a:off x="203525" y="3876200"/>
            <a:ext cx="529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</a:t>
            </a:r>
            <a:endParaRPr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6" name="Google Shape;1176;p167"/>
          <p:cNvSpPr txBox="1"/>
          <p:nvPr/>
        </p:nvSpPr>
        <p:spPr>
          <a:xfrm>
            <a:off x="203525" y="4132950"/>
            <a:ext cx="529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</a:t>
            </a:r>
            <a:endParaRPr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7" name="Google Shape;1177;p167"/>
          <p:cNvSpPr txBox="1"/>
          <p:nvPr/>
        </p:nvSpPr>
        <p:spPr>
          <a:xfrm>
            <a:off x="1417592" y="3876200"/>
            <a:ext cx="881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E-statement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8" name="Google Shape;1178;p167"/>
          <p:cNvSpPr txBox="1"/>
          <p:nvPr/>
        </p:nvSpPr>
        <p:spPr>
          <a:xfrm>
            <a:off x="4091867" y="3876200"/>
            <a:ext cx="881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Non-Standard 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9" name="Google Shape;1179;p167"/>
          <p:cNvSpPr txBox="1"/>
          <p:nvPr/>
        </p:nvSpPr>
        <p:spPr>
          <a:xfrm>
            <a:off x="6883130" y="3876200"/>
            <a:ext cx="881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Scanned Copy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80" name="Google Shape;1180;p167"/>
          <p:cNvGrpSpPr/>
          <p:nvPr/>
        </p:nvGrpSpPr>
        <p:grpSpPr>
          <a:xfrm>
            <a:off x="800757" y="949600"/>
            <a:ext cx="7463646" cy="566100"/>
            <a:chOff x="800900" y="949600"/>
            <a:chExt cx="7383900" cy="566100"/>
          </a:xfrm>
        </p:grpSpPr>
        <p:sp>
          <p:nvSpPr>
            <p:cNvPr id="1181" name="Google Shape;1181;p167"/>
            <p:cNvSpPr/>
            <p:nvPr/>
          </p:nvSpPr>
          <p:spPr>
            <a:xfrm>
              <a:off x="892463" y="1013956"/>
              <a:ext cx="2112600" cy="439800"/>
            </a:xfrm>
            <a:prstGeom prst="rect">
              <a:avLst/>
            </a:prstGeom>
            <a:solidFill>
              <a:srgbClr val="1C4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Template Library</a:t>
              </a:r>
              <a:endParaRPr b="1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2" name="Google Shape;1182;p167"/>
            <p:cNvSpPr/>
            <p:nvPr/>
          </p:nvSpPr>
          <p:spPr>
            <a:xfrm>
              <a:off x="3460088" y="1013956"/>
              <a:ext cx="2112600" cy="439800"/>
            </a:xfrm>
            <a:prstGeom prst="rect">
              <a:avLst/>
            </a:prstGeom>
            <a:solidFill>
              <a:srgbClr val="1C4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 Based OCR Service</a:t>
              </a:r>
              <a:endParaRPr b="1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3" name="Google Shape;1183;p167"/>
            <p:cNvSpPr/>
            <p:nvPr/>
          </p:nvSpPr>
          <p:spPr>
            <a:xfrm>
              <a:off x="3216913" y="1198625"/>
              <a:ext cx="125700" cy="121800"/>
            </a:xfrm>
            <a:prstGeom prst="mathPlus">
              <a:avLst>
                <a:gd fmla="val 23520" name="adj1"/>
              </a:avLst>
            </a:prstGeom>
            <a:solidFill>
              <a:srgbClr val="174FB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4" name="Google Shape;1184;p167"/>
            <p:cNvSpPr/>
            <p:nvPr/>
          </p:nvSpPr>
          <p:spPr>
            <a:xfrm>
              <a:off x="800900" y="949600"/>
              <a:ext cx="7383900" cy="566100"/>
            </a:xfrm>
            <a:prstGeom prst="rect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5" name="Google Shape;1185;p167"/>
            <p:cNvSpPr/>
            <p:nvPr/>
          </p:nvSpPr>
          <p:spPr>
            <a:xfrm>
              <a:off x="5987788" y="1012756"/>
              <a:ext cx="2112600" cy="439800"/>
            </a:xfrm>
            <a:prstGeom prst="rect">
              <a:avLst/>
            </a:prstGeom>
            <a:solidFill>
              <a:srgbClr val="1C4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Advanced Tampering Check</a:t>
              </a:r>
              <a:endParaRPr b="1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6" name="Google Shape;1186;p167"/>
            <p:cNvSpPr/>
            <p:nvPr/>
          </p:nvSpPr>
          <p:spPr>
            <a:xfrm>
              <a:off x="5688063" y="1198625"/>
              <a:ext cx="125700" cy="121800"/>
            </a:xfrm>
            <a:prstGeom prst="mathPlus">
              <a:avLst>
                <a:gd fmla="val 23520" name="adj1"/>
              </a:avLst>
            </a:prstGeom>
            <a:solidFill>
              <a:srgbClr val="174FB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68"/>
          <p:cNvSpPr txBox="1"/>
          <p:nvPr>
            <p:ph type="title"/>
          </p:nvPr>
        </p:nvSpPr>
        <p:spPr>
          <a:xfrm>
            <a:off x="208950" y="178000"/>
            <a:ext cx="79464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rgbClr val="1C43B9"/>
                </a:solidFill>
              </a:rPr>
              <a:t>Txn Categorisation Funnel</a:t>
            </a:r>
            <a:endParaRPr sz="1600">
              <a:solidFill>
                <a:srgbClr val="1C43B9"/>
              </a:solidFill>
            </a:endParaRPr>
          </a:p>
        </p:txBody>
      </p:sp>
      <p:sp>
        <p:nvSpPr>
          <p:cNvPr id="1192" name="Google Shape;1192;p168"/>
          <p:cNvSpPr/>
          <p:nvPr/>
        </p:nvSpPr>
        <p:spPr>
          <a:xfrm>
            <a:off x="232913" y="1123100"/>
            <a:ext cx="19194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Extracted Transaction </a:t>
            </a: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Details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3" name="Google Shape;1193;p168"/>
          <p:cNvSpPr/>
          <p:nvPr/>
        </p:nvSpPr>
        <p:spPr>
          <a:xfrm>
            <a:off x="232928" y="1953150"/>
            <a:ext cx="19194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Labelling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4" name="Google Shape;1194;p168"/>
          <p:cNvSpPr/>
          <p:nvPr/>
        </p:nvSpPr>
        <p:spPr>
          <a:xfrm>
            <a:off x="232917" y="3102475"/>
            <a:ext cx="19194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Beneficiary Name evaluation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5" name="Google Shape;1195;p168"/>
          <p:cNvSpPr/>
          <p:nvPr/>
        </p:nvSpPr>
        <p:spPr>
          <a:xfrm>
            <a:off x="232931" y="3712600"/>
            <a:ext cx="19194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Categorisation 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6" name="Google Shape;1196;p168"/>
          <p:cNvSpPr txBox="1"/>
          <p:nvPr/>
        </p:nvSpPr>
        <p:spPr>
          <a:xfrm>
            <a:off x="2148525" y="1183700"/>
            <a:ext cx="70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UPI/DR/D419285150508/ Google Ind/okpa/ gpayrecharge@okpayaxis/UPI/ HDFe10ba35eac8e46889b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7" name="Google Shape;1197;p168"/>
          <p:cNvSpPr txBox="1"/>
          <p:nvPr/>
        </p:nvSpPr>
        <p:spPr>
          <a:xfrm>
            <a:off x="2148525" y="1853825"/>
            <a:ext cx="7686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chemeClr val="lt1"/>
                </a:highlight>
              </a:rPr>
              <a:t>Framework matched</a:t>
            </a:r>
            <a:r>
              <a:rPr lang="en" sz="1000">
                <a:solidFill>
                  <a:schemeClr val="dk1"/>
                </a:solidFill>
                <a:highlight>
                  <a:schemeClr val="lt1"/>
                </a:highlight>
              </a:rPr>
              <a:t>: &lt;mode&gt;/&lt;txn-type&gt;/&lt;txn-id&gt;/&lt;beneficiary-name&gt;/&lt;beneficiary-upi-id&gt;/&lt;mode-note&gt;/&lt;txn-note&gt;</a:t>
            </a:r>
            <a:br>
              <a:rPr b="1" lang="en" sz="10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" sz="1000">
                <a:latin typeface="Helvetica Neue"/>
                <a:ea typeface="Helvetica Neue"/>
                <a:cs typeface="Helvetica Neue"/>
                <a:sym typeface="Helvetica Neue"/>
              </a:rPr>
              <a:t>Mode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: UPI  					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Axis Bank	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elvetica Neue"/>
                <a:ea typeface="Helvetica Neue"/>
                <a:cs typeface="Helvetica Neue"/>
                <a:sym typeface="Helvetica Neue"/>
              </a:rPr>
              <a:t>Type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: Debit					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Txn Note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HDFe10ba35eac8e46889b0fdb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elvetica Neue"/>
                <a:ea typeface="Helvetica Neue"/>
                <a:cs typeface="Helvetica Neue"/>
                <a:sym typeface="Helvetica Neue"/>
              </a:rPr>
              <a:t>Beneficiary Name</a:t>
            </a:r>
            <a:r>
              <a:rPr lang="en" sz="10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Google Ind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UPI ID: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gpayrecharge@okpayaxis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8" name="Google Shape;1198;p168"/>
          <p:cNvSpPr txBox="1"/>
          <p:nvPr/>
        </p:nvSpPr>
        <p:spPr>
          <a:xfrm>
            <a:off x="2148525" y="3163075"/>
            <a:ext cx="70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Beneficiary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Name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Google Ind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Result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Business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9" name="Google Shape;1199;p168"/>
          <p:cNvSpPr txBox="1"/>
          <p:nvPr/>
        </p:nvSpPr>
        <p:spPr>
          <a:xfrm>
            <a:off x="2148525" y="3779625"/>
            <a:ext cx="70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Beneficiary Name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Google Ind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Result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Utilities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69"/>
          <p:cNvSpPr txBox="1"/>
          <p:nvPr>
            <p:ph type="title"/>
          </p:nvPr>
        </p:nvSpPr>
        <p:spPr>
          <a:xfrm>
            <a:off x="208950" y="178000"/>
            <a:ext cx="79464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solidFill>
                  <a:schemeClr val="dk1"/>
                </a:solidFill>
              </a:rPr>
              <a:t>Traditional approach extracts only 30% of </a:t>
            </a:r>
            <a:r>
              <a:rPr lang="en" sz="1700">
                <a:solidFill>
                  <a:schemeClr val="dk1"/>
                </a:solidFill>
              </a:rPr>
              <a:t>information</a:t>
            </a:r>
            <a:r>
              <a:rPr lang="en" sz="1700">
                <a:solidFill>
                  <a:schemeClr val="dk1"/>
                </a:solidFill>
              </a:rPr>
              <a:t> from bank statements</a:t>
            </a:r>
            <a:endParaRPr sz="1700">
              <a:solidFill>
                <a:schemeClr val="dk1"/>
              </a:solidFill>
            </a:endParaRPr>
          </a:p>
        </p:txBody>
      </p:sp>
      <p:graphicFrame>
        <p:nvGraphicFramePr>
          <p:cNvPr id="1205" name="Google Shape;1205;p169"/>
          <p:cNvGraphicFramePr/>
          <p:nvPr/>
        </p:nvGraphicFramePr>
        <p:xfrm>
          <a:off x="311525" y="92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994350"/>
                <a:gridCol w="3107275"/>
                <a:gridCol w="1137600"/>
              </a:tblGrid>
              <a:tr h="28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Type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Narration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Leading BSA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IMPS-IN/401708671090/6364888137/Creditvi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Transfer from Creditvi</a:t>
                      </a:r>
                      <a:endParaRPr b="1" sz="800">
                        <a:solidFill>
                          <a:srgbClr val="C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7A7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ATM WDL-ATM CASH 40522 MG ROAD RAGHOGARH GUNA--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Cash Withdrawal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IMPS-IN/401517699734/9999999999/SI CREVA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E1010"/>
                          </a:solidFill>
                        </a:rPr>
                        <a:t>Transfer from SI CREVA</a:t>
                      </a:r>
                      <a:endParaRPr b="1" sz="800">
                        <a:solidFill>
                          <a:srgbClr val="CE101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Recd:IMPS/407812092421/EARLYSALARY/KKBK/X7475/ESLOA IMPS-407812771632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E1010"/>
                          </a:solidFill>
                        </a:rPr>
                        <a:t>Transfer from EARLY SALARY</a:t>
                      </a:r>
                      <a:endParaRPr b="1" sz="800">
                        <a:solidFill>
                          <a:srgbClr val="CE101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Debit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UPI-PHONEPE-BBPSBP@AXL-UTIB0AXLUPI-453526009365-PAYMENT FROM PHONE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Transfer to PHONEPE</a:t>
                      </a:r>
                      <a:endParaRPr b="1" sz="800">
                        <a:solidFill>
                          <a:srgbClr val="C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IIFL FINANCE L-SL4664881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Loan Received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UPI-S A MEDICAL AND GENE-GPAY-11240268361@OKBIZAXIS-UTIB0000000-412041958456-NA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Others</a:t>
                      </a:r>
                      <a:endParaRPr b="1" sz="800">
                        <a:solidFill>
                          <a:srgbClr val="C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Debit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IMPS-416717877422-BRANCH INTERNATIONAL-ICIC-XXXXXXXX0890-38641472 CF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Others</a:t>
                      </a:r>
                      <a:endParaRPr b="1" sz="800">
                        <a:solidFill>
                          <a:srgbClr val="C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Credit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 Credited for Arjun for March 2024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8000"/>
                          </a:solidFill>
                        </a:rPr>
                        <a:t>Salary Credit</a:t>
                      </a:r>
                      <a:endParaRPr b="1" sz="8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Debit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UPI/mPokket/409291435023/UPI UPI-409270798326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Transfer to mPokket</a:t>
                      </a:r>
                      <a:endParaRPr b="1" sz="800">
                        <a:solidFill>
                          <a:srgbClr val="C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Debit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UPI/Pocketly/419158313734/Easebuzz UPI-419114887558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Transfer to Pocketly</a:t>
                      </a:r>
                      <a:endParaRPr b="1" sz="800">
                        <a:solidFill>
                          <a:srgbClr val="C00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Debit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TRANSFER-UPI/DR/415797371785/RUMMY TIME/RATN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Others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Debit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TRANSFER-UPI/DR/414721366088/Dream11/YESB/dream11@ye/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800">
                          <a:solidFill>
                            <a:srgbClr val="C00000"/>
                          </a:solidFill>
                        </a:rPr>
                        <a:t>Others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6" name="Google Shape;1206;p169"/>
          <p:cNvSpPr txBox="1"/>
          <p:nvPr/>
        </p:nvSpPr>
        <p:spPr>
          <a:xfrm>
            <a:off x="6139900" y="1320400"/>
            <a:ext cx="2826900" cy="30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Traditional keywords are classified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with Salary as narration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Loans from traditional NBFCs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Cash withdrawal from ATMs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Classification for majority due to hard coded keyword approach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7" name="Google Shape;1207;p169"/>
          <p:cNvSpPr/>
          <p:nvPr/>
        </p:nvSpPr>
        <p:spPr>
          <a:xfrm>
            <a:off x="5759675" y="2238725"/>
            <a:ext cx="247500" cy="10308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70"/>
          <p:cNvSpPr txBox="1"/>
          <p:nvPr>
            <p:ph type="title"/>
          </p:nvPr>
        </p:nvSpPr>
        <p:spPr>
          <a:xfrm>
            <a:off x="208950" y="178000"/>
            <a:ext cx="79464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chemeClr val="dk1"/>
                </a:solidFill>
              </a:rPr>
              <a:t>IDfy enables better customer profiling and risk assessment, empowering smarter decision making 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213" name="Google Shape;1213;p170"/>
          <p:cNvGraphicFramePr/>
          <p:nvPr/>
        </p:nvGraphicFramePr>
        <p:xfrm>
          <a:off x="311525" y="153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1162625"/>
                <a:gridCol w="3633125"/>
                <a:gridCol w="1124375"/>
              </a:tblGrid>
              <a:tr h="28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Type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Narration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IDfy</a:t>
                      </a:r>
                      <a:r>
                        <a:rPr b="1" lang="en" sz="800"/>
                        <a:t> BSA</a:t>
                      </a:r>
                      <a:endParaRPr b="1" sz="8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IMPS-IN/401708671090/6364888137/Creditvi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Loan Received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ATM WDL-ATM CASH 40522 MG ROAD RAGHOGARH GUNA--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Cash Withdrawal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IMPS-IN/401517699734/9999999999/SI CREVA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Loan Received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Recd:IMPS/407812092421/EARLYSALARY/KKBK/X7475/ESLOA IMPS-407812771632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Personal Loan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Debit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UPI-PHONEPE-BBPSBP@AXL-UTIB0AXLUPI-453526009365-PAYMENT FROM PHONE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Utilities &amp; Bill Payments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IIFL FINANCE L-SL4664881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Loan Received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UPI-S A MEDICAL AND GENE-GPAY-11240268361@OKBIZAXIS-UTIB0000000-412041958456-NA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Medical Expense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Debit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IMPS-416717877422-BRANCH INTERNATIONAL-ICIC-XXXXXXXX0890-38641472 CF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International Wire Transfer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Credit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 Credited for Arjun for March 2024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Salary Credit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Debit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UPI/mPokket/409291435023/UPI UPI-409270798326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Pocket Loan Credit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Debit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UPI/Pocketly/419158313734/Easebuzz UPI-419114887558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Pocket Loan Credit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Debit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TRANSFER-UPI/DR/415797371785/RUMMY TIME/RATN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Online Gaming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/>
                        <a:t>Debit</a:t>
                      </a:r>
                      <a:endParaRPr b="1"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TRANSFER-UPI/DR/414721366088/Dream11/YESB/dream11@ye/</a:t>
                      </a:r>
                      <a:endParaRPr b="1" sz="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8000"/>
                          </a:solidFill>
                        </a:rPr>
                        <a:t>Online Gaming</a:t>
                      </a:r>
                      <a:endParaRPr b="1" sz="700">
                        <a:solidFill>
                          <a:srgbClr val="008000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4" name="Google Shape;1214;p170"/>
          <p:cNvSpPr txBox="1"/>
          <p:nvPr/>
        </p:nvSpPr>
        <p:spPr>
          <a:xfrm>
            <a:off x="6686600" y="1933500"/>
            <a:ext cx="1806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74FB9"/>
                </a:solidFill>
              </a:rPr>
              <a:t>Cash Withdrawal</a:t>
            </a:r>
            <a:endParaRPr b="1" sz="900">
              <a:solidFill>
                <a:srgbClr val="174F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</a:rPr>
              <a:t>Loan Received</a:t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</a:rPr>
              <a:t>Salary Credit</a:t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</a:rPr>
              <a:t>Pocket Loans</a:t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</a:rPr>
              <a:t>Medical Expense</a:t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</a:rPr>
              <a:t>Online Gaming </a:t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</a:rPr>
              <a:t>International Wire Transfers</a:t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1C43B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1C43B9"/>
              </a:solidFill>
            </a:endParaRPr>
          </a:p>
        </p:txBody>
      </p:sp>
      <p:sp>
        <p:nvSpPr>
          <p:cNvPr id="1215" name="Google Shape;1215;p170"/>
          <p:cNvSpPr txBox="1"/>
          <p:nvPr/>
        </p:nvSpPr>
        <p:spPr>
          <a:xfrm>
            <a:off x="6386900" y="1537000"/>
            <a:ext cx="2406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Category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Available for Risk Evaluation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6" name="Google Shape;1216;p170"/>
          <p:cNvSpPr txBox="1"/>
          <p:nvPr/>
        </p:nvSpPr>
        <p:spPr>
          <a:xfrm>
            <a:off x="6494575" y="3272700"/>
            <a:ext cx="24063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7" name="Google Shape;1217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2250" y="3582600"/>
            <a:ext cx="483000" cy="4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70"/>
          <p:cNvSpPr/>
          <p:nvPr/>
        </p:nvSpPr>
        <p:spPr>
          <a:xfrm>
            <a:off x="6386900" y="1571525"/>
            <a:ext cx="2513700" cy="179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9" name="Google Shape;1219;p170"/>
          <p:cNvSpPr/>
          <p:nvPr/>
        </p:nvSpPr>
        <p:spPr>
          <a:xfrm>
            <a:off x="6386900" y="4210250"/>
            <a:ext cx="25137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Enhanced Risk Evaluation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220" name="Google Shape;1220;p170"/>
          <p:cNvGrpSpPr/>
          <p:nvPr/>
        </p:nvGrpSpPr>
        <p:grpSpPr>
          <a:xfrm>
            <a:off x="817607" y="864438"/>
            <a:ext cx="7463700" cy="566100"/>
            <a:chOff x="817607" y="864438"/>
            <a:chExt cx="7463700" cy="566100"/>
          </a:xfrm>
        </p:grpSpPr>
        <p:sp>
          <p:nvSpPr>
            <p:cNvPr id="1221" name="Google Shape;1221;p170"/>
            <p:cNvSpPr/>
            <p:nvPr/>
          </p:nvSpPr>
          <p:spPr>
            <a:xfrm>
              <a:off x="886383" y="928806"/>
              <a:ext cx="2135416" cy="439800"/>
            </a:xfrm>
            <a:prstGeom prst="rect">
              <a:avLst/>
            </a:prstGeom>
            <a:solidFill>
              <a:srgbClr val="1C4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Keyword Match</a:t>
              </a:r>
              <a:endParaRPr b="1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2" name="Google Shape;1222;p170"/>
            <p:cNvSpPr/>
            <p:nvPr/>
          </p:nvSpPr>
          <p:spPr>
            <a:xfrm>
              <a:off x="3481739" y="928806"/>
              <a:ext cx="2135416" cy="439800"/>
            </a:xfrm>
            <a:prstGeom prst="rect">
              <a:avLst/>
            </a:prstGeom>
            <a:solidFill>
              <a:srgbClr val="1C4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 Model based categorisation</a:t>
              </a:r>
              <a:endParaRPr b="1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3" name="Google Shape;1223;p170"/>
            <p:cNvSpPr/>
            <p:nvPr/>
          </p:nvSpPr>
          <p:spPr>
            <a:xfrm>
              <a:off x="3235938" y="1113475"/>
              <a:ext cx="127058" cy="121800"/>
            </a:xfrm>
            <a:prstGeom prst="mathPlus">
              <a:avLst>
                <a:gd fmla="val 23520" name="adj1"/>
              </a:avLst>
            </a:prstGeom>
            <a:solidFill>
              <a:srgbClr val="174FB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4" name="Google Shape;1224;p170"/>
            <p:cNvSpPr/>
            <p:nvPr/>
          </p:nvSpPr>
          <p:spPr>
            <a:xfrm>
              <a:off x="817607" y="864438"/>
              <a:ext cx="7463700" cy="566100"/>
            </a:xfrm>
            <a:prstGeom prst="rect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5" name="Google Shape;1225;p170"/>
            <p:cNvSpPr/>
            <p:nvPr/>
          </p:nvSpPr>
          <p:spPr>
            <a:xfrm>
              <a:off x="6036738" y="927606"/>
              <a:ext cx="2135416" cy="439800"/>
            </a:xfrm>
            <a:prstGeom prst="rect">
              <a:avLst/>
            </a:prstGeom>
            <a:solidFill>
              <a:srgbClr val="1C43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New age signals</a:t>
              </a:r>
              <a:endParaRPr b="1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6" name="Google Shape;1226;p170"/>
            <p:cNvSpPr/>
            <p:nvPr/>
          </p:nvSpPr>
          <p:spPr>
            <a:xfrm>
              <a:off x="5733776" y="1113475"/>
              <a:ext cx="127058" cy="121800"/>
            </a:xfrm>
            <a:prstGeom prst="mathPlus">
              <a:avLst>
                <a:gd fmla="val 23520" name="adj1"/>
              </a:avLst>
            </a:prstGeom>
            <a:solidFill>
              <a:srgbClr val="174FB9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71"/>
          <p:cNvSpPr txBox="1"/>
          <p:nvPr>
            <p:ph type="title"/>
          </p:nvPr>
        </p:nvSpPr>
        <p:spPr>
          <a:xfrm>
            <a:off x="208950" y="178000"/>
            <a:ext cx="79464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00">
                <a:solidFill>
                  <a:schemeClr val="dk1"/>
                </a:solidFill>
              </a:rPr>
              <a:t>Evolving risk library relevant for profiling of customer in present times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232" name="Google Shape;123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838" y="1489300"/>
            <a:ext cx="449425" cy="44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000" y="1518792"/>
            <a:ext cx="390450" cy="39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1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3687" y="1536562"/>
            <a:ext cx="390450" cy="39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1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8675" y="2856500"/>
            <a:ext cx="505075" cy="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1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025" y="2856500"/>
            <a:ext cx="505075" cy="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7" name="Google Shape;1237;p1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24200" y="2902089"/>
            <a:ext cx="449425" cy="4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171"/>
          <p:cNvSpPr txBox="1"/>
          <p:nvPr/>
        </p:nvSpPr>
        <p:spPr>
          <a:xfrm>
            <a:off x="268588" y="1978200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Frequent Txns with Gaming Platforms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9" name="Google Shape;1239;p171"/>
          <p:cNvSpPr txBox="1"/>
          <p:nvPr/>
        </p:nvSpPr>
        <p:spPr>
          <a:xfrm>
            <a:off x="2646263" y="1943725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Crypto &amp; Trading Activity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0" name="Google Shape;1240;p171"/>
          <p:cNvSpPr txBox="1"/>
          <p:nvPr/>
        </p:nvSpPr>
        <p:spPr>
          <a:xfrm>
            <a:off x="5062250" y="1961500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&amp; Debits with BNPL platforms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1" name="Google Shape;1241;p171"/>
          <p:cNvSpPr txBox="1"/>
          <p:nvPr/>
        </p:nvSpPr>
        <p:spPr>
          <a:xfrm>
            <a:off x="268600" y="3361575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Inflow from multiple  Merchant sources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2" name="Google Shape;1242;p171"/>
          <p:cNvSpPr txBox="1"/>
          <p:nvPr/>
        </p:nvSpPr>
        <p:spPr>
          <a:xfrm>
            <a:off x="2659125" y="3357050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P2P credits more than salary amount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3" name="Google Shape;1243;p171"/>
          <p:cNvSpPr txBox="1"/>
          <p:nvPr/>
        </p:nvSpPr>
        <p:spPr>
          <a:xfrm>
            <a:off x="4832613" y="3392600"/>
            <a:ext cx="1909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High value P2M recurring debit (e.g. Rent)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4" name="Google Shape;1244;p1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86817" y="1515423"/>
            <a:ext cx="432708" cy="432711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71"/>
          <p:cNvSpPr txBox="1"/>
          <p:nvPr/>
        </p:nvSpPr>
        <p:spPr>
          <a:xfrm>
            <a:off x="7478225" y="1979100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Employer Risk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6" name="Google Shape;1246;p171"/>
          <p:cNvSpPr txBox="1"/>
          <p:nvPr/>
        </p:nvSpPr>
        <p:spPr>
          <a:xfrm>
            <a:off x="7465425" y="3357050"/>
            <a:ext cx="144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Verify Primary Account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7" name="Google Shape;1247;p1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86825" y="2910454"/>
            <a:ext cx="432708" cy="432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72"/>
          <p:cNvSpPr txBox="1"/>
          <p:nvPr>
            <p:ph type="title"/>
          </p:nvPr>
        </p:nvSpPr>
        <p:spPr>
          <a:xfrm>
            <a:off x="208950" y="178000"/>
            <a:ext cx="79464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chemeClr val="dk1"/>
                </a:solidFill>
              </a:rPr>
              <a:t>Building strongest risk/profiling library in the market to drive smart underwriting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53" name="Google Shape;1253;p172"/>
          <p:cNvSpPr txBox="1"/>
          <p:nvPr/>
        </p:nvSpPr>
        <p:spPr>
          <a:xfrm>
            <a:off x="6725" y="1138575"/>
            <a:ext cx="22485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quality check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Edited By Online Editors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Metadata Checks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Fraud Indicator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Irregular Salary Credit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Credit On A Holiday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Suspicious Mode Of Salary Credit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Authenticator Check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EMI Fraud Indicator</a:t>
            </a:r>
            <a:endParaRPr b="1"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Irregular Emi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Emi Bounce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4" name="Google Shape;1254;p172"/>
          <p:cNvSpPr/>
          <p:nvPr/>
        </p:nvSpPr>
        <p:spPr>
          <a:xfrm>
            <a:off x="302225" y="860925"/>
            <a:ext cx="4002300" cy="283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Fraud and Risk Triggers : 36 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5" name="Google Shape;1255;p172"/>
          <p:cNvSpPr txBox="1"/>
          <p:nvPr/>
        </p:nvSpPr>
        <p:spPr>
          <a:xfrm>
            <a:off x="6520975" y="1269750"/>
            <a:ext cx="354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56" name="Google Shape;1256;p172"/>
          <p:cNvSpPr txBox="1"/>
          <p:nvPr/>
        </p:nvSpPr>
        <p:spPr>
          <a:xfrm>
            <a:off x="2114700" y="1138575"/>
            <a:ext cx="23454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Transaction Behaviour Check</a:t>
            </a:r>
            <a:endParaRPr b="1"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Percentage Of Round Number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Cheque Bounce (Inward/outward)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Suspicious Cash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Suspicious Rtgs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Overlimit Upi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Duplicity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Conflict (Top-10)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Cheque Transactions On Sunday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value non categorized P2M debits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Cash Deposit On Holidays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Negative Eod Balance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Cheque Transactions On Holiday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Round Figure Tax Payments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Debit Percentage Of Round Number Transactions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Crypto / Trading activity detected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Credit/Debit with BNPL platform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P2P Credits more than salary amount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7" name="Google Shape;1257;p172"/>
          <p:cNvSpPr txBox="1"/>
          <p:nvPr/>
        </p:nvSpPr>
        <p:spPr>
          <a:xfrm>
            <a:off x="0" y="3345225"/>
            <a:ext cx="24780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</a:t>
            </a: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Lifestyle Check</a:t>
            </a:r>
            <a:endParaRPr b="1"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Than 50 Percent Cash Transactions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 Debit After Salary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Checking Account Detected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Cash Deposit More Than Salary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International Payments Detected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Frequent Txn with gaming platform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8" name="Google Shape;1258;p172"/>
          <p:cNvSpPr/>
          <p:nvPr/>
        </p:nvSpPr>
        <p:spPr>
          <a:xfrm>
            <a:off x="4693375" y="851200"/>
            <a:ext cx="4002300" cy="283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Roadmap </a:t>
            </a: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and Risk Triggers : 29 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9" name="Google Shape;1259;p172"/>
          <p:cNvSpPr txBox="1"/>
          <p:nvPr/>
        </p:nvSpPr>
        <p:spPr>
          <a:xfrm>
            <a:off x="4617175" y="1193550"/>
            <a:ext cx="2478000" cy="3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Behaviour Check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Suspicious ATM Withdrawals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NEFT transactions on holiday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 Cash withdrawal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with Low vintage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Number Mismatch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Neft Imps with cheque number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Transactions in the Expected Range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Cheque number in series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ATM debits seen in any of the last three months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Debit transactions to employer is seen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NEFT/RTGS Deposits greater than twice the AMB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Imps Transactions Above Threshold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Xns With Same Narration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Majority of transactions in round figures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Discontinuity in credits/ receivables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Huge Balances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Interest not reflecting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Debit Interest not reflecting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Unusual Activity Of OD/CC Account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EOD Balances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Irregular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0" name="Google Shape;1260;p172"/>
          <p:cNvSpPr txBox="1"/>
          <p:nvPr/>
        </p:nvSpPr>
        <p:spPr>
          <a:xfrm>
            <a:off x="6856200" y="1182425"/>
            <a:ext cx="21354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Lifestyle Check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Rotation of Money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Irregular Transfers to Parties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Transactions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and frequent Cash Deposits than Salary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followed only by cash withdrawal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Immediate cash withdrawals after cash deposit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Parties present in both debits and credits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 Credit Transaction in Savings Account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Char char="●"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P2M credit sources (Moonlighting indicator)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1" name="Google Shape;1261;p172"/>
          <p:cNvSpPr txBox="1"/>
          <p:nvPr/>
        </p:nvSpPr>
        <p:spPr>
          <a:xfrm>
            <a:off x="1081075" y="4949625"/>
            <a:ext cx="2422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Available Now</a:t>
            </a:r>
            <a:endParaRPr b="1" sz="12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2" name="Google Shape;1262;p172"/>
          <p:cNvSpPr txBox="1"/>
          <p:nvPr/>
        </p:nvSpPr>
        <p:spPr>
          <a:xfrm>
            <a:off x="6186475" y="4949625"/>
            <a:ext cx="2422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Available by Q4</a:t>
            </a:r>
            <a:endParaRPr b="1" sz="1200"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73"/>
          <p:cNvSpPr txBox="1"/>
          <p:nvPr>
            <p:ph type="title"/>
          </p:nvPr>
        </p:nvSpPr>
        <p:spPr>
          <a:xfrm>
            <a:off x="208950" y="178000"/>
            <a:ext cx="79464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900">
                <a:solidFill>
                  <a:schemeClr val="dk1"/>
                </a:solidFill>
              </a:rPr>
              <a:t>Solution is structured in modules to </a:t>
            </a:r>
            <a:r>
              <a:rPr lang="en" sz="1900">
                <a:solidFill>
                  <a:schemeClr val="dk1"/>
                </a:solidFill>
              </a:rPr>
              <a:t>satisfy</a:t>
            </a:r>
            <a:r>
              <a:rPr lang="en" sz="1900">
                <a:solidFill>
                  <a:schemeClr val="dk1"/>
                </a:solidFill>
              </a:rPr>
              <a:t> various digital journeys and swim lanes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268" name="Google Shape;1268;p173"/>
          <p:cNvSpPr/>
          <p:nvPr/>
        </p:nvSpPr>
        <p:spPr>
          <a:xfrm>
            <a:off x="2185950" y="1650575"/>
            <a:ext cx="3837600" cy="2334600"/>
          </a:xfrm>
          <a:prstGeom prst="rect">
            <a:avLst/>
          </a:prstGeom>
          <a:noFill/>
          <a:ln cap="flat" cmpd="sng" w="9525">
            <a:solidFill>
              <a:srgbClr val="174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9" name="Google Shape;1269;p173"/>
          <p:cNvSpPr/>
          <p:nvPr/>
        </p:nvSpPr>
        <p:spPr>
          <a:xfrm>
            <a:off x="2312175" y="1769388"/>
            <a:ext cx="21726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Extraction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0" name="Google Shape;1270;p173"/>
          <p:cNvSpPr/>
          <p:nvPr/>
        </p:nvSpPr>
        <p:spPr>
          <a:xfrm>
            <a:off x="2312175" y="2309979"/>
            <a:ext cx="21726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Fetch via </a:t>
            </a: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NetBanking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1" name="Google Shape;1271;p173"/>
          <p:cNvSpPr/>
          <p:nvPr/>
        </p:nvSpPr>
        <p:spPr>
          <a:xfrm>
            <a:off x="2312175" y="2850570"/>
            <a:ext cx="21726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Fetch via AA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2" name="Google Shape;1272;p173"/>
          <p:cNvSpPr/>
          <p:nvPr/>
        </p:nvSpPr>
        <p:spPr>
          <a:xfrm>
            <a:off x="2312175" y="3391145"/>
            <a:ext cx="21726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XML from existing AA 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3" name="Google Shape;1273;p173"/>
          <p:cNvSpPr/>
          <p:nvPr/>
        </p:nvSpPr>
        <p:spPr>
          <a:xfrm>
            <a:off x="4530925" y="1769388"/>
            <a:ext cx="1403100" cy="15564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4" name="Google Shape;1274;p173"/>
          <p:cNvSpPr/>
          <p:nvPr/>
        </p:nvSpPr>
        <p:spPr>
          <a:xfrm>
            <a:off x="4530925" y="3391163"/>
            <a:ext cx="1403100" cy="4752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Triggers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5" name="Google Shape;1275;p173"/>
          <p:cNvSpPr/>
          <p:nvPr/>
        </p:nvSpPr>
        <p:spPr>
          <a:xfrm>
            <a:off x="6314200" y="2039675"/>
            <a:ext cx="991200" cy="15564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Tuner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6" name="Google Shape;1276;p173"/>
          <p:cNvSpPr txBox="1"/>
          <p:nvPr/>
        </p:nvSpPr>
        <p:spPr>
          <a:xfrm>
            <a:off x="7595150" y="1228688"/>
            <a:ext cx="1404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LOS/BRE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7" name="Google Shape;1277;p173"/>
          <p:cNvSpPr/>
          <p:nvPr/>
        </p:nvSpPr>
        <p:spPr>
          <a:xfrm>
            <a:off x="7832275" y="1695275"/>
            <a:ext cx="948300" cy="241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flag</a:t>
            </a:r>
            <a:endParaRPr b="1"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8" name="Google Shape;1278;p173"/>
          <p:cNvSpPr/>
          <p:nvPr/>
        </p:nvSpPr>
        <p:spPr>
          <a:xfrm>
            <a:off x="7832275" y="2304875"/>
            <a:ext cx="948300" cy="241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Flags</a:t>
            </a:r>
            <a:endParaRPr b="1"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9" name="Google Shape;1279;p173"/>
          <p:cNvSpPr/>
          <p:nvPr/>
        </p:nvSpPr>
        <p:spPr>
          <a:xfrm>
            <a:off x="7832275" y="2838275"/>
            <a:ext cx="948300" cy="241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metric</a:t>
            </a:r>
            <a:endParaRPr b="1"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0" name="Google Shape;1280;p173"/>
          <p:cNvSpPr/>
          <p:nvPr/>
        </p:nvSpPr>
        <p:spPr>
          <a:xfrm>
            <a:off x="7832275" y="3524075"/>
            <a:ext cx="948300" cy="241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Derived metric</a:t>
            </a:r>
            <a:endParaRPr b="1" sz="9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1" name="Google Shape;1281;p173"/>
          <p:cNvSpPr txBox="1"/>
          <p:nvPr/>
        </p:nvSpPr>
        <p:spPr>
          <a:xfrm>
            <a:off x="7823325" y="3117575"/>
            <a:ext cx="1055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AMB, closing balance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2" name="Google Shape;1282;p173"/>
          <p:cNvSpPr txBox="1"/>
          <p:nvPr/>
        </p:nvSpPr>
        <p:spPr>
          <a:xfrm>
            <a:off x="7823325" y="3803375"/>
            <a:ext cx="1055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obligation, income variability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3" name="Google Shape;1283;p173"/>
          <p:cNvSpPr txBox="1"/>
          <p:nvPr/>
        </p:nvSpPr>
        <p:spPr>
          <a:xfrm>
            <a:off x="7823325" y="1898375"/>
            <a:ext cx="1055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Tampering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4" name="Google Shape;1284;p173"/>
          <p:cNvSpPr txBox="1"/>
          <p:nvPr/>
        </p:nvSpPr>
        <p:spPr>
          <a:xfrm>
            <a:off x="7823325" y="2507975"/>
            <a:ext cx="1055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bounce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5" name="Google Shape;1285;p173"/>
          <p:cNvSpPr/>
          <p:nvPr/>
        </p:nvSpPr>
        <p:spPr>
          <a:xfrm>
            <a:off x="7610875" y="1559650"/>
            <a:ext cx="1403100" cy="2622300"/>
          </a:xfrm>
          <a:prstGeom prst="rect">
            <a:avLst/>
          </a:prstGeom>
          <a:noFill/>
          <a:ln cap="flat" cmpd="sng" w="9525">
            <a:solidFill>
              <a:srgbClr val="174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6" name="Google Shape;1286;p173"/>
          <p:cNvSpPr/>
          <p:nvPr/>
        </p:nvSpPr>
        <p:spPr>
          <a:xfrm>
            <a:off x="6041225" y="2729375"/>
            <a:ext cx="255300" cy="10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7" name="Google Shape;1287;p173"/>
          <p:cNvSpPr/>
          <p:nvPr/>
        </p:nvSpPr>
        <p:spPr>
          <a:xfrm>
            <a:off x="7323075" y="2729375"/>
            <a:ext cx="255300" cy="10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8" name="Google Shape;1288;p173"/>
          <p:cNvSpPr/>
          <p:nvPr/>
        </p:nvSpPr>
        <p:spPr>
          <a:xfrm>
            <a:off x="82125" y="2330342"/>
            <a:ext cx="898776" cy="1080918"/>
          </a:xfrm>
          <a:prstGeom prst="flowChartMultidocument">
            <a:avLst/>
          </a:prstGeom>
          <a:solidFill>
            <a:srgbClr val="2742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</a:t>
            </a:r>
            <a:endParaRPr sz="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Collection</a:t>
            </a:r>
            <a:endParaRPr sz="7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9" name="Google Shape;1289;p173"/>
          <p:cNvSpPr/>
          <p:nvPr/>
        </p:nvSpPr>
        <p:spPr>
          <a:xfrm>
            <a:off x="998575" y="2729375"/>
            <a:ext cx="255300" cy="10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0" name="Google Shape;1290;p173"/>
          <p:cNvSpPr/>
          <p:nvPr/>
        </p:nvSpPr>
        <p:spPr>
          <a:xfrm>
            <a:off x="1271550" y="2504075"/>
            <a:ext cx="651000" cy="5910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Pre-Check</a:t>
            </a:r>
            <a:endParaRPr b="1" sz="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1" name="Google Shape;1291;p173"/>
          <p:cNvSpPr/>
          <p:nvPr/>
        </p:nvSpPr>
        <p:spPr>
          <a:xfrm>
            <a:off x="1940225" y="2729375"/>
            <a:ext cx="255300" cy="10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2" name="Google Shape;1292;p173"/>
          <p:cNvSpPr txBox="1"/>
          <p:nvPr/>
        </p:nvSpPr>
        <p:spPr>
          <a:xfrm>
            <a:off x="125600" y="4292550"/>
            <a:ext cx="88746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D0D0D"/>
                </a:solidFill>
                <a:highlight>
                  <a:srgbClr val="FFFFFF"/>
                </a:highlight>
              </a:rPr>
              <a:t>Note: The pre-check response includes document verification details such as the account holder's name, account number, bank name, tampering check results, and statement duration.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74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4196"/>
              <a:buNone/>
            </a:pPr>
            <a:r>
              <a:rPr lang="en" sz="2240"/>
              <a:t>Case Study: Personal loan fintech embedded IDfy TIPs to drive digital underwriting for New to Credit customers</a:t>
            </a:r>
            <a:endParaRPr sz="2240"/>
          </a:p>
        </p:txBody>
      </p:sp>
      <p:sp>
        <p:nvSpPr>
          <p:cNvPr id="1298" name="Google Shape;1298;p174"/>
          <p:cNvSpPr/>
          <p:nvPr/>
        </p:nvSpPr>
        <p:spPr>
          <a:xfrm>
            <a:off x="304350" y="1249200"/>
            <a:ext cx="2587200" cy="3597300"/>
          </a:xfrm>
          <a:prstGeom prst="flowChartAlternateProcess">
            <a:avLst/>
          </a:prstGeom>
          <a:noFill/>
          <a:ln cap="flat" cmpd="sng" w="9525">
            <a:solidFill>
              <a:srgbClr val="1C43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context</a:t>
            </a:r>
            <a:endParaRPr b="1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9" name="Google Shape;1299;p174"/>
          <p:cNvSpPr txBox="1"/>
          <p:nvPr/>
        </p:nvSpPr>
        <p:spPr>
          <a:xfrm>
            <a:off x="382750" y="1935750"/>
            <a:ext cx="24327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Profile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Company provides small ticket, unsecured, instant loan through their app to individuals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0" name="Google Shape;1300;p174"/>
          <p:cNvSpPr txBox="1"/>
          <p:nvPr/>
        </p:nvSpPr>
        <p:spPr>
          <a:xfrm>
            <a:off x="382750" y="3078750"/>
            <a:ext cx="2432700" cy="10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Challenge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Majority of customers had no bureau presence, ticket size didn’t justify manual underwriting cost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vendor had poor accuracy in identifying salary and had limited computation capability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01" name="Google Shape;1301;p174"/>
          <p:cNvGrpSpPr/>
          <p:nvPr/>
        </p:nvGrpSpPr>
        <p:grpSpPr>
          <a:xfrm>
            <a:off x="3352350" y="1249200"/>
            <a:ext cx="2587300" cy="3597300"/>
            <a:chOff x="3352350" y="1249200"/>
            <a:chExt cx="2587300" cy="3597300"/>
          </a:xfrm>
        </p:grpSpPr>
        <p:sp>
          <p:nvSpPr>
            <p:cNvPr id="1302" name="Google Shape;1302;p174"/>
            <p:cNvSpPr/>
            <p:nvPr/>
          </p:nvSpPr>
          <p:spPr>
            <a:xfrm>
              <a:off x="3352350" y="1249200"/>
              <a:ext cx="2587200" cy="3597300"/>
            </a:xfrm>
            <a:prstGeom prst="flowChartAlternateProcess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C43B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IDfy Solution</a:t>
              </a:r>
              <a:endParaRPr b="1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3" name="Google Shape;1303;p174"/>
            <p:cNvSpPr txBox="1"/>
            <p:nvPr/>
          </p:nvSpPr>
          <p:spPr>
            <a:xfrm>
              <a:off x="3352450" y="1935750"/>
              <a:ext cx="2587200" cy="25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Risk factors codification</a:t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Helvetica Neue"/>
                <a:buChar char="●"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Eliminate all fraud and non-target segment with balance information.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Helvetica Neue"/>
                <a:buChar char="●"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For Target segment compute all scorecard parameters for decisions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Smart Product decision</a:t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Rule engine recommends limits based on cashflow information of applicant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04" name="Google Shape;1304;p174"/>
          <p:cNvGrpSpPr/>
          <p:nvPr/>
        </p:nvGrpSpPr>
        <p:grpSpPr>
          <a:xfrm>
            <a:off x="6247950" y="1249200"/>
            <a:ext cx="2587200" cy="3597300"/>
            <a:chOff x="6247950" y="1249200"/>
            <a:chExt cx="2587200" cy="3597300"/>
          </a:xfrm>
        </p:grpSpPr>
        <p:sp>
          <p:nvSpPr>
            <p:cNvPr id="1305" name="Google Shape;1305;p174"/>
            <p:cNvSpPr/>
            <p:nvPr/>
          </p:nvSpPr>
          <p:spPr>
            <a:xfrm>
              <a:off x="6247950" y="1249200"/>
              <a:ext cx="2587200" cy="3597300"/>
            </a:xfrm>
            <a:prstGeom prst="flowChartAlternateProcess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C43B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Outcomes Delivered</a:t>
              </a:r>
              <a:endParaRPr b="1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6" name="Google Shape;1306;p174"/>
            <p:cNvSpPr txBox="1"/>
            <p:nvPr/>
          </p:nvSpPr>
          <p:spPr>
            <a:xfrm>
              <a:off x="6326350" y="1707150"/>
              <a:ext cx="2432700" cy="9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761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~80k/month</a:t>
              </a:r>
              <a:endParaRPr b="1" sz="18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NTC Applications processed without underwriter’s involvement</a:t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7" name="Google Shape;1307;p174"/>
            <p:cNvSpPr txBox="1"/>
            <p:nvPr/>
          </p:nvSpPr>
          <p:spPr>
            <a:xfrm>
              <a:off x="6326350" y="2697300"/>
              <a:ext cx="2432700" cy="10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761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1.5X</a:t>
              </a:r>
              <a:endParaRPr b="1" sz="18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Improvement in funnel conversion due to modular implementation resulting in faster response</a:t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8" name="Google Shape;1308;p174"/>
            <p:cNvSpPr txBox="1"/>
            <p:nvPr/>
          </p:nvSpPr>
          <p:spPr>
            <a:xfrm>
              <a:off x="6326350" y="3877650"/>
              <a:ext cx="2432700" cy="96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761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~40%</a:t>
              </a:r>
              <a:endParaRPr b="1" sz="18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Cost reduction in running analysis due to limited signal subscription</a:t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75"/>
          <p:cNvSpPr txBox="1"/>
          <p:nvPr>
            <p:ph type="title"/>
          </p:nvPr>
        </p:nvSpPr>
        <p:spPr>
          <a:xfrm>
            <a:off x="455050" y="215100"/>
            <a:ext cx="79878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Case Study: NBFC used IDfy’s smart profiling to underwrite high ticket personal loan digitally</a:t>
            </a:r>
            <a:endParaRPr sz="2240"/>
          </a:p>
        </p:txBody>
      </p:sp>
      <p:sp>
        <p:nvSpPr>
          <p:cNvPr id="1314" name="Google Shape;1314;p175"/>
          <p:cNvSpPr/>
          <p:nvPr/>
        </p:nvSpPr>
        <p:spPr>
          <a:xfrm>
            <a:off x="304350" y="1249200"/>
            <a:ext cx="2587200" cy="3597300"/>
          </a:xfrm>
          <a:prstGeom prst="flowChartAlternateProcess">
            <a:avLst/>
          </a:prstGeom>
          <a:noFill/>
          <a:ln cap="flat" cmpd="sng" w="9525">
            <a:solidFill>
              <a:srgbClr val="1C43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context</a:t>
            </a:r>
            <a:endParaRPr b="1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5" name="Google Shape;1315;p175"/>
          <p:cNvSpPr txBox="1"/>
          <p:nvPr/>
        </p:nvSpPr>
        <p:spPr>
          <a:xfrm>
            <a:off x="382750" y="1935750"/>
            <a:ext cx="24327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Profile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is a NBFC which recently started started personal loan for self employed and salaried individuals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6" name="Google Shape;1316;p175"/>
          <p:cNvSpPr txBox="1"/>
          <p:nvPr/>
        </p:nvSpPr>
        <p:spPr>
          <a:xfrm>
            <a:off x="382750" y="3078750"/>
            <a:ext cx="24327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Challenge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wanted to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this new product with limited underwriting resources hence was looking for digital processing without changing existing LOS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17" name="Google Shape;1317;p175"/>
          <p:cNvGrpSpPr/>
          <p:nvPr/>
        </p:nvGrpSpPr>
        <p:grpSpPr>
          <a:xfrm>
            <a:off x="3352350" y="1249200"/>
            <a:ext cx="2587300" cy="3597300"/>
            <a:chOff x="3352350" y="1249200"/>
            <a:chExt cx="2587300" cy="3597300"/>
          </a:xfrm>
        </p:grpSpPr>
        <p:sp>
          <p:nvSpPr>
            <p:cNvPr id="1318" name="Google Shape;1318;p175"/>
            <p:cNvSpPr/>
            <p:nvPr/>
          </p:nvSpPr>
          <p:spPr>
            <a:xfrm>
              <a:off x="3352350" y="1249200"/>
              <a:ext cx="2587200" cy="3597300"/>
            </a:xfrm>
            <a:prstGeom prst="flowChartAlternateProcess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C43B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IDfy Solution</a:t>
              </a:r>
              <a:endParaRPr b="1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19" name="Google Shape;1319;p175"/>
            <p:cNvSpPr txBox="1"/>
            <p:nvPr/>
          </p:nvSpPr>
          <p:spPr>
            <a:xfrm>
              <a:off x="3352450" y="1859550"/>
              <a:ext cx="2587200" cy="19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360 customer profiling</a:t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Helvetica Neue"/>
                <a:buChar char="●"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Sourced data across multiple data sources to create applicant profile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Helvetica Neue"/>
                <a:buChar char="●"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Created income profile and employer profile using bank statement and EPFO footprint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Helvetica Neue"/>
                <a:buChar char="●"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Identified high risk triggers from </a:t>
              </a: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transaction statement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Quick integration with LOS </a:t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Enabled product specific checks within existing LOS within weeks for quick go live</a:t>
              </a:r>
              <a:endParaRPr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20" name="Google Shape;1320;p175"/>
          <p:cNvGrpSpPr/>
          <p:nvPr/>
        </p:nvGrpSpPr>
        <p:grpSpPr>
          <a:xfrm>
            <a:off x="6247950" y="1249200"/>
            <a:ext cx="2587200" cy="3597300"/>
            <a:chOff x="6247950" y="1249200"/>
            <a:chExt cx="2587200" cy="3597300"/>
          </a:xfrm>
        </p:grpSpPr>
        <p:sp>
          <p:nvSpPr>
            <p:cNvPr id="1321" name="Google Shape;1321;p175"/>
            <p:cNvSpPr/>
            <p:nvPr/>
          </p:nvSpPr>
          <p:spPr>
            <a:xfrm>
              <a:off x="6247950" y="1249200"/>
              <a:ext cx="2587200" cy="3597300"/>
            </a:xfrm>
            <a:prstGeom prst="flowChartAlternateProcess">
              <a:avLst/>
            </a:prstGeom>
            <a:noFill/>
            <a:ln cap="flat" cmpd="sng" w="9525">
              <a:solidFill>
                <a:srgbClr val="1C43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C43B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Outcomes Delivered</a:t>
              </a:r>
              <a:endParaRPr b="1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22" name="Google Shape;1322;p175"/>
            <p:cNvSpPr txBox="1"/>
            <p:nvPr/>
          </p:nvSpPr>
          <p:spPr>
            <a:xfrm>
              <a:off x="6325200" y="1935750"/>
              <a:ext cx="2432700" cy="10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761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&lt;5 min</a:t>
              </a:r>
              <a:endParaRPr b="1" sz="18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Credit decision using IDfy enabled risk profiling for large ticket personal loan</a:t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23" name="Google Shape;1323;p175"/>
            <p:cNvSpPr txBox="1"/>
            <p:nvPr/>
          </p:nvSpPr>
          <p:spPr>
            <a:xfrm>
              <a:off x="6326350" y="3344250"/>
              <a:ext cx="2432700" cy="96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761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~</a:t>
              </a:r>
              <a:r>
                <a:rPr b="1" lang="en" sz="1800">
                  <a:solidFill>
                    <a:srgbClr val="CC01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Xx</a:t>
              </a:r>
              <a:endParaRPr b="1" sz="1800">
                <a:solidFill>
                  <a:srgbClr val="CC01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xxxxxx</a:t>
              </a:r>
              <a:endPara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76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With fraudsters getting sophisticated, systems need to level up</a:t>
            </a:r>
            <a:endParaRPr sz="2240"/>
          </a:p>
        </p:txBody>
      </p:sp>
      <p:pic>
        <p:nvPicPr>
          <p:cNvPr id="1329" name="Google Shape;1329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243" y="1226625"/>
            <a:ext cx="3350325" cy="1699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0" name="Google Shape;1330;p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0749" y="1040699"/>
            <a:ext cx="3350324" cy="174423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1" name="Google Shape;1331;p1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2723" y="2464350"/>
            <a:ext cx="3350324" cy="205943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77"/>
          <p:cNvSpPr txBox="1"/>
          <p:nvPr>
            <p:ph type="title"/>
          </p:nvPr>
        </p:nvSpPr>
        <p:spPr>
          <a:xfrm>
            <a:off x="161600" y="101575"/>
            <a:ext cx="8038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IDfy’s intelligence system converts account statement data into actionable insights on applicant profile</a:t>
            </a:r>
            <a:endParaRPr sz="1700"/>
          </a:p>
        </p:txBody>
      </p:sp>
      <p:pic>
        <p:nvPicPr>
          <p:cNvPr id="1337" name="Google Shape;1337;p177"/>
          <p:cNvPicPr preferRelativeResize="0"/>
          <p:nvPr/>
        </p:nvPicPr>
        <p:blipFill rotWithShape="1">
          <a:blip r:embed="rId3">
            <a:alphaModFix/>
          </a:blip>
          <a:srcRect b="0" l="0" r="0" t="8867"/>
          <a:stretch/>
        </p:blipFill>
        <p:spPr>
          <a:xfrm>
            <a:off x="161600" y="1919175"/>
            <a:ext cx="2148300" cy="1571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8" name="Google Shape;1338;p177"/>
          <p:cNvGrpSpPr/>
          <p:nvPr/>
        </p:nvGrpSpPr>
        <p:grpSpPr>
          <a:xfrm>
            <a:off x="3538100" y="2221600"/>
            <a:ext cx="1195800" cy="582250"/>
            <a:chOff x="2852150" y="2266875"/>
            <a:chExt cx="1195800" cy="582250"/>
          </a:xfrm>
        </p:grpSpPr>
        <p:sp>
          <p:nvSpPr>
            <p:cNvPr id="1339" name="Google Shape;1339;p177"/>
            <p:cNvSpPr txBox="1"/>
            <p:nvPr/>
          </p:nvSpPr>
          <p:spPr>
            <a:xfrm>
              <a:off x="2852150" y="2622325"/>
              <a:ext cx="11958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E101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INTELLIGENCE</a:t>
              </a:r>
              <a:endParaRPr b="1" sz="1000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340" name="Google Shape;1340;p177"/>
            <p:cNvPicPr preferRelativeResize="0"/>
            <p:nvPr/>
          </p:nvPicPr>
          <p:blipFill rotWithShape="1">
            <a:blip r:embed="rId4">
              <a:alphaModFix/>
            </a:blip>
            <a:srcRect b="24412" l="10885" r="12779" t="21804"/>
            <a:stretch/>
          </p:blipFill>
          <p:spPr>
            <a:xfrm>
              <a:off x="3179625" y="2266875"/>
              <a:ext cx="540850" cy="3810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41" name="Google Shape;1341;p177"/>
          <p:cNvCxnSpPr>
            <a:stCxn id="1337" idx="3"/>
            <a:endCxn id="1339" idx="1"/>
          </p:cNvCxnSpPr>
          <p:nvPr/>
        </p:nvCxnSpPr>
        <p:spPr>
          <a:xfrm flipH="1" rot="10800000">
            <a:off x="2309900" y="2690524"/>
            <a:ext cx="12282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2" name="Google Shape;1342;p177"/>
          <p:cNvSpPr/>
          <p:nvPr/>
        </p:nvSpPr>
        <p:spPr>
          <a:xfrm>
            <a:off x="2953025" y="1457575"/>
            <a:ext cx="2267700" cy="35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Risk &amp; Product parameters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43" name="Google Shape;1343;p177"/>
          <p:cNvCxnSpPr>
            <a:stCxn id="1342" idx="2"/>
            <a:endCxn id="1340" idx="0"/>
          </p:cNvCxnSpPr>
          <p:nvPr/>
        </p:nvCxnSpPr>
        <p:spPr>
          <a:xfrm>
            <a:off x="4086875" y="1814275"/>
            <a:ext cx="49200" cy="40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44" name="Google Shape;1344;p177"/>
          <p:cNvGrpSpPr/>
          <p:nvPr/>
        </p:nvGrpSpPr>
        <p:grpSpPr>
          <a:xfrm>
            <a:off x="7009400" y="2038075"/>
            <a:ext cx="1311000" cy="1278300"/>
            <a:chOff x="6018800" y="1352275"/>
            <a:chExt cx="1311000" cy="1278300"/>
          </a:xfrm>
        </p:grpSpPr>
        <p:sp>
          <p:nvSpPr>
            <p:cNvPr id="1345" name="Google Shape;1345;p177"/>
            <p:cNvSpPr/>
            <p:nvPr/>
          </p:nvSpPr>
          <p:spPr>
            <a:xfrm>
              <a:off x="6018800" y="1352275"/>
              <a:ext cx="1311000" cy="12783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346" name="Google Shape;1346;p1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75850" y="1376575"/>
              <a:ext cx="390200" cy="390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47" name="Google Shape;1347;p177"/>
          <p:cNvCxnSpPr>
            <a:stCxn id="1339" idx="3"/>
            <a:endCxn id="1345" idx="1"/>
          </p:cNvCxnSpPr>
          <p:nvPr/>
        </p:nvCxnSpPr>
        <p:spPr>
          <a:xfrm flipH="1" rot="10800000">
            <a:off x="4733900" y="2677250"/>
            <a:ext cx="2275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8" name="Google Shape;1348;p177"/>
          <p:cNvSpPr txBox="1"/>
          <p:nvPr/>
        </p:nvSpPr>
        <p:spPr>
          <a:xfrm>
            <a:off x="6637275" y="1633625"/>
            <a:ext cx="18183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Profiling &amp; Risk output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9" name="Google Shape;1349;p177"/>
          <p:cNvSpPr txBox="1"/>
          <p:nvPr/>
        </p:nvSpPr>
        <p:spPr>
          <a:xfrm>
            <a:off x="6700575" y="3337600"/>
            <a:ext cx="22206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Checks: </a:t>
            </a:r>
            <a:r>
              <a:rPr b="1" lang="en" sz="10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</a:t>
            </a:r>
            <a:endParaRPr b="1" sz="10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Category: </a:t>
            </a: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Non-MFI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 EMI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serviceability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1" lang="en" sz="1000">
                <a:solidFill>
                  <a:srgbClr val="3876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8k</a:t>
            </a:r>
            <a:endParaRPr b="1" sz="1000">
              <a:solidFill>
                <a:srgbClr val="38761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Cross-sell Opportunity: </a:t>
            </a:r>
            <a:r>
              <a:rPr b="1" lang="en" sz="10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Yes</a:t>
            </a:r>
            <a:endParaRPr b="1" sz="10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Diligence required</a:t>
            </a:r>
            <a:r>
              <a:rPr b="1" lang="en" sz="10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No</a:t>
            </a:r>
            <a:endParaRPr b="1" sz="10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78"/>
          <p:cNvSpPr txBox="1"/>
          <p:nvPr>
            <p:ph type="title"/>
          </p:nvPr>
        </p:nvSpPr>
        <p:spPr>
          <a:xfrm>
            <a:off x="161600" y="25375"/>
            <a:ext cx="8038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/>
              <a:t>Profiling is done across multiple parameters to understand financial well being and lifestyle habits of an individual</a:t>
            </a:r>
            <a:endParaRPr sz="1700"/>
          </a:p>
        </p:txBody>
      </p:sp>
      <p:pic>
        <p:nvPicPr>
          <p:cNvPr id="1355" name="Google Shape;1355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000" y="762900"/>
            <a:ext cx="1029900" cy="950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56" name="Google Shape;1356;p178"/>
          <p:cNvSpPr txBox="1"/>
          <p:nvPr/>
        </p:nvSpPr>
        <p:spPr>
          <a:xfrm>
            <a:off x="-825" y="2864225"/>
            <a:ext cx="1742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Cross-sell opportunities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Health insurance, MF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7" name="Google Shape;1357;p178"/>
          <p:cNvSpPr txBox="1"/>
          <p:nvPr/>
        </p:nvSpPr>
        <p:spPr>
          <a:xfrm>
            <a:off x="-825" y="3301925"/>
            <a:ext cx="1742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Profile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Risk Detected</a:t>
            </a:r>
            <a:endParaRPr b="1" sz="10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8" name="Google Shape;1358;p178"/>
          <p:cNvSpPr txBox="1"/>
          <p:nvPr/>
        </p:nvSpPr>
        <p:spPr>
          <a:xfrm>
            <a:off x="-825" y="3759125"/>
            <a:ext cx="1742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Policy Parameters check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Clear</a:t>
            </a:r>
            <a:endParaRPr b="1" sz="10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9" name="Google Shape;1359;p178"/>
          <p:cNvSpPr txBox="1"/>
          <p:nvPr/>
        </p:nvSpPr>
        <p:spPr>
          <a:xfrm>
            <a:off x="1675575" y="730625"/>
            <a:ext cx="4343400" cy="950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Profile - Salaried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profile				Other Income (Detected)</a:t>
            </a:r>
            <a:endParaRPr b="1" sz="8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Latest Employer Name: ABC Technologies	Income Source: : Interest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Salary 	      :  55,000		Amount:	            :5,000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Estimate monthly Income: 		60,000</a:t>
            </a:r>
            <a:endParaRPr b="1" sz="8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0" name="Google Shape;1360;p178"/>
          <p:cNvSpPr txBox="1"/>
          <p:nvPr/>
        </p:nvSpPr>
        <p:spPr>
          <a:xfrm>
            <a:off x="1675575" y="1738200"/>
            <a:ext cx="2399100" cy="1667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Expense</a:t>
            </a: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Profile - 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Repayment: 			10,000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Insurance payment: 		2,000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recurring expenses: 		15,000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Bills and Utility payments: 		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monthly Obligations(est.):	 32,000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lifestyle expenses: 		12,000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other expenses (non lifestyle):     8,000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monthly expense: 		52,000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1" name="Google Shape;1361;p178"/>
          <p:cNvSpPr txBox="1"/>
          <p:nvPr/>
        </p:nvSpPr>
        <p:spPr>
          <a:xfrm>
            <a:off x="4149025" y="1738200"/>
            <a:ext cx="1869900" cy="16671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Savings Profile</a:t>
            </a: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Monthly average saving: 	10,000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Saving in bank accnt 	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Non-bank saving amount: 	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Saving instruments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	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Recurring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deposit, fixed deposits, Trading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2" name="Google Shape;1362;p178"/>
          <p:cNvSpPr txBox="1"/>
          <p:nvPr/>
        </p:nvSpPr>
        <p:spPr>
          <a:xfrm>
            <a:off x="6095175" y="730625"/>
            <a:ext cx="3015900" cy="1143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Profile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of Loans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			1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EMI: 				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Servicing duration (months): 		5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Lender: 				IIFL Finance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Card Usage:		Detected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spend: 			5,200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3" name="Google Shape;1363;p178"/>
          <p:cNvSpPr txBox="1"/>
          <p:nvPr/>
        </p:nvSpPr>
        <p:spPr>
          <a:xfrm>
            <a:off x="6095175" y="1949825"/>
            <a:ext cx="3015900" cy="20733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Wealth Management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Running Insurance premiums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	1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Premium 				1,000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Likely insurance type: 	 	Life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Equity investment: 			Yes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Broker: 				Zerodha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monthly spend:			5,000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Withdrawal/Investment: 		5%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Mutual Fund investments: 		Yes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monthly investment: 		2,000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 Assets: 			Yes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 of asset: 			Crypto , Debt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monthly investment:		2,000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4" name="Google Shape;1364;p178"/>
          <p:cNvSpPr txBox="1"/>
          <p:nvPr/>
        </p:nvSpPr>
        <p:spPr>
          <a:xfrm>
            <a:off x="1675575" y="3462175"/>
            <a:ext cx="4343400" cy="561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Expense Details : Top Merchant Profile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 Merchants</a:t>
            </a:r>
            <a:r>
              <a:rPr lang="en" sz="8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Amazon: 15% ;     Ola: 5%;    </a:t>
            </a: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Swiggy: 8%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Subscriptions Detected: Netflix, Prime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5" name="Google Shape;1365;p178"/>
          <p:cNvSpPr txBox="1"/>
          <p:nvPr/>
        </p:nvSpPr>
        <p:spPr>
          <a:xfrm>
            <a:off x="1675575" y="4071775"/>
            <a:ext cx="7435500" cy="7494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Triggers</a:t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6" name="Google Shape;1366;p178"/>
          <p:cNvSpPr/>
          <p:nvPr/>
        </p:nvSpPr>
        <p:spPr>
          <a:xfrm>
            <a:off x="1722375" y="4320875"/>
            <a:ext cx="1029900" cy="17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Risky Employer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7" name="Google Shape;1367;p178"/>
          <p:cNvSpPr/>
          <p:nvPr/>
        </p:nvSpPr>
        <p:spPr>
          <a:xfrm>
            <a:off x="2789175" y="4320875"/>
            <a:ext cx="1185300" cy="17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Non-primary accnt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8" name="Google Shape;1368;p178"/>
          <p:cNvSpPr/>
          <p:nvPr/>
        </p:nvSpPr>
        <p:spPr>
          <a:xfrm>
            <a:off x="7437375" y="4320875"/>
            <a:ext cx="1630500" cy="175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Reducing disposable income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9" name="Google Shape;1369;p178"/>
          <p:cNvSpPr/>
          <p:nvPr/>
        </p:nvSpPr>
        <p:spPr>
          <a:xfrm>
            <a:off x="4008375" y="4320875"/>
            <a:ext cx="1630500" cy="17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Gambling/Gaming Detected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0" name="Google Shape;1370;p178"/>
          <p:cNvSpPr/>
          <p:nvPr/>
        </p:nvSpPr>
        <p:spPr>
          <a:xfrm>
            <a:off x="1722375" y="4549475"/>
            <a:ext cx="1185300" cy="175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Regular saving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1" name="Google Shape;1371;p178"/>
          <p:cNvSpPr/>
          <p:nvPr/>
        </p:nvSpPr>
        <p:spPr>
          <a:xfrm>
            <a:off x="2941575" y="4549475"/>
            <a:ext cx="1630500" cy="175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Likely Owned Vehicle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2" name="Google Shape;1372;p178"/>
          <p:cNvSpPr/>
          <p:nvPr/>
        </p:nvSpPr>
        <p:spPr>
          <a:xfrm>
            <a:off x="4617975" y="4549475"/>
            <a:ext cx="1248600" cy="175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Low Cash Txn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3" name="Google Shape;1373;p178"/>
          <p:cNvSpPr/>
          <p:nvPr/>
        </p:nvSpPr>
        <p:spPr>
          <a:xfrm>
            <a:off x="5684775" y="4320875"/>
            <a:ext cx="1630500" cy="17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Unknown income source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4" name="Google Shape;1374;p178"/>
          <p:cNvSpPr txBox="1"/>
          <p:nvPr/>
        </p:nvSpPr>
        <p:spPr>
          <a:xfrm>
            <a:off x="5927875" y="4547625"/>
            <a:ext cx="1787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2742B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+5 risk markers detected</a:t>
            </a:r>
            <a:endParaRPr b="1" i="1" sz="1000">
              <a:solidFill>
                <a:srgbClr val="2742B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5" name="Google Shape;1375;p178"/>
          <p:cNvSpPr txBox="1"/>
          <p:nvPr/>
        </p:nvSpPr>
        <p:spPr>
          <a:xfrm>
            <a:off x="192800" y="1764575"/>
            <a:ext cx="12486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Ajay Kumar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6" name="Google Shape;1376;p178"/>
          <p:cNvSpPr txBox="1"/>
          <p:nvPr/>
        </p:nvSpPr>
        <p:spPr>
          <a:xfrm>
            <a:off x="-17400" y="2032575"/>
            <a:ext cx="1511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……………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7" name="Google Shape;1377;p178"/>
          <p:cNvSpPr txBox="1"/>
          <p:nvPr/>
        </p:nvSpPr>
        <p:spPr>
          <a:xfrm>
            <a:off x="-17400" y="2413575"/>
            <a:ext cx="17421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Debt Servicing capacity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8,000/month</a:t>
            </a:r>
            <a:endParaRPr b="1" sz="1000"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79"/>
          <p:cNvSpPr/>
          <p:nvPr/>
        </p:nvSpPr>
        <p:spPr>
          <a:xfrm>
            <a:off x="314475" y="2769850"/>
            <a:ext cx="4056600" cy="205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383" name="Google Shape;1383;p179"/>
          <p:cNvGraphicFramePr/>
          <p:nvPr/>
        </p:nvGraphicFramePr>
        <p:xfrm>
          <a:off x="299400" y="8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1440850"/>
                <a:gridCol w="3931625"/>
                <a:gridCol w="1057575"/>
                <a:gridCol w="1057575"/>
                <a:gridCol w="1057575"/>
              </a:tblGrid>
              <a:tr h="29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Input Mode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Key Differentiator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TAT</a:t>
                      </a:r>
                      <a:r>
                        <a:rPr b="1" baseline="30000" lang="en" sz="9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baseline="30000" sz="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Hit Rate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</a:tr>
              <a:tr h="29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E-Statements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LLM models to analyze transactions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10-12 secs*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Scanned Statements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Intelligent document processing algorithms to deliver superior extraction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1-1.5 mins*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90%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95%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Net Banking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 Agent assisted journey supported; All major banks (</a:t>
                      </a: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24+) integrated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6-8 secs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Via AA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Live with </a:t>
                      </a:r>
                      <a:r>
                        <a:rPr b="1" lang="en" sz="900"/>
                        <a:t>60+ banks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6-8 secs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85%</a:t>
                      </a:r>
                      <a:r>
                        <a:rPr b="1" baseline="30000" lang="en" sz="900"/>
                        <a:t>2</a:t>
                      </a:r>
                      <a:endParaRPr b="1" baseline="30000" sz="5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4" name="Google Shape;1384;p179"/>
          <p:cNvSpPr txBox="1"/>
          <p:nvPr>
            <p:ph type="title"/>
          </p:nvPr>
        </p:nvSpPr>
        <p:spPr>
          <a:xfrm>
            <a:off x="-59300" y="-13500"/>
            <a:ext cx="81843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 Besides intelligence we do outperform on all parameters which existing bank statement analyzer tools offer</a:t>
            </a:r>
            <a:endParaRPr sz="2000"/>
          </a:p>
        </p:txBody>
      </p:sp>
      <p:pic>
        <p:nvPicPr>
          <p:cNvPr id="1385" name="Google Shape;1385;p1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96" y="3569009"/>
            <a:ext cx="295135" cy="26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1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175" y="3187950"/>
            <a:ext cx="295131" cy="2994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179"/>
          <p:cNvSpPr txBox="1"/>
          <p:nvPr/>
        </p:nvSpPr>
        <p:spPr>
          <a:xfrm>
            <a:off x="792504" y="3313085"/>
            <a:ext cx="311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8" name="Google Shape;1388;p179"/>
          <p:cNvSpPr txBox="1"/>
          <p:nvPr/>
        </p:nvSpPr>
        <p:spPr>
          <a:xfrm>
            <a:off x="957365" y="3160675"/>
            <a:ext cx="314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Ability to precisely match your current response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9" name="Google Shape;1389;p179"/>
          <p:cNvSpPr txBox="1"/>
          <p:nvPr/>
        </p:nvSpPr>
        <p:spPr>
          <a:xfrm>
            <a:off x="957362" y="3524470"/>
            <a:ext cx="296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additional training required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0" name="Google Shape;1390;p1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985" y="3943278"/>
            <a:ext cx="295134" cy="2777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79"/>
          <p:cNvSpPr txBox="1"/>
          <p:nvPr/>
        </p:nvSpPr>
        <p:spPr>
          <a:xfrm>
            <a:off x="957365" y="3905150"/>
            <a:ext cx="341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Detailed access to overall funnel with dashboard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2" name="Google Shape;1392;p179"/>
          <p:cNvSpPr txBox="1"/>
          <p:nvPr/>
        </p:nvSpPr>
        <p:spPr>
          <a:xfrm>
            <a:off x="957371" y="4292300"/>
            <a:ext cx="296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Pre-integrated with leading LOS platforms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3" name="Google Shape;1393;p1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985" y="4330407"/>
            <a:ext cx="295134" cy="27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179"/>
          <p:cNvSpPr/>
          <p:nvPr/>
        </p:nvSpPr>
        <p:spPr>
          <a:xfrm>
            <a:off x="1436700" y="2723200"/>
            <a:ext cx="1719900" cy="354000"/>
          </a:xfrm>
          <a:prstGeom prst="roundRect">
            <a:avLst>
              <a:gd fmla="val 16667" name="adj"/>
            </a:avLst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Seamless Integration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5" name="Google Shape;1395;p179"/>
          <p:cNvSpPr/>
          <p:nvPr/>
        </p:nvSpPr>
        <p:spPr>
          <a:xfrm>
            <a:off x="4810275" y="2769850"/>
            <a:ext cx="4056600" cy="205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6" name="Google Shape;1396;p179"/>
          <p:cNvSpPr/>
          <p:nvPr/>
        </p:nvSpPr>
        <p:spPr>
          <a:xfrm>
            <a:off x="5932500" y="2723200"/>
            <a:ext cx="1719900" cy="354000"/>
          </a:xfrm>
          <a:prstGeom prst="roundRect">
            <a:avLst>
              <a:gd fmla="val 16667" name="adj"/>
            </a:avLst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Modular Design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7" name="Google Shape;1397;p179"/>
          <p:cNvSpPr/>
          <p:nvPr/>
        </p:nvSpPr>
        <p:spPr>
          <a:xfrm>
            <a:off x="4933350" y="3235225"/>
            <a:ext cx="1908900" cy="23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 - Check Module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8" name="Google Shape;1398;p179"/>
          <p:cNvSpPr/>
          <p:nvPr/>
        </p:nvSpPr>
        <p:spPr>
          <a:xfrm>
            <a:off x="6918450" y="3236425"/>
            <a:ext cx="1908900" cy="236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Metadata Module 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9" name="Google Shape;1399;p179"/>
          <p:cNvSpPr/>
          <p:nvPr/>
        </p:nvSpPr>
        <p:spPr>
          <a:xfrm>
            <a:off x="4933350" y="3569000"/>
            <a:ext cx="1908900" cy="18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Check Module 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0" name="Google Shape;1400;p179"/>
          <p:cNvSpPr/>
          <p:nvPr/>
        </p:nvSpPr>
        <p:spPr>
          <a:xfrm>
            <a:off x="6918450" y="3544550"/>
            <a:ext cx="1908900" cy="23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Module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1" name="Google Shape;1401;p179"/>
          <p:cNvSpPr/>
          <p:nvPr/>
        </p:nvSpPr>
        <p:spPr>
          <a:xfrm>
            <a:off x="5774125" y="3855076"/>
            <a:ext cx="2358900" cy="23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Risk Registers module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2" name="Google Shape;1402;p179"/>
          <p:cNvSpPr txBox="1"/>
          <p:nvPr/>
        </p:nvSpPr>
        <p:spPr>
          <a:xfrm>
            <a:off x="5085750" y="4279950"/>
            <a:ext cx="367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 wise pricing - Pay only for modules which are being used</a:t>
            </a:r>
            <a:endParaRPr b="1" i="1" sz="13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80"/>
          <p:cNvSpPr txBox="1"/>
          <p:nvPr>
            <p:ph type="title"/>
          </p:nvPr>
        </p:nvSpPr>
        <p:spPr>
          <a:xfrm>
            <a:off x="208950" y="178000"/>
            <a:ext cx="15057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rgbClr val="174FB9"/>
                </a:solidFill>
              </a:rPr>
              <a:t>Next Steps</a:t>
            </a:r>
            <a:endParaRPr sz="1600">
              <a:solidFill>
                <a:srgbClr val="174FB9"/>
              </a:solidFill>
            </a:endParaRPr>
          </a:p>
        </p:txBody>
      </p:sp>
      <p:sp>
        <p:nvSpPr>
          <p:cNvPr id="1408" name="Google Shape;1408;p180"/>
          <p:cNvSpPr/>
          <p:nvPr/>
        </p:nvSpPr>
        <p:spPr>
          <a:xfrm>
            <a:off x="254000" y="1354675"/>
            <a:ext cx="2031900" cy="2550600"/>
          </a:xfrm>
          <a:prstGeom prst="flowChartAlternateProcess">
            <a:avLst/>
          </a:prstGeom>
          <a:noFill/>
          <a:ln cap="flat" cmpd="sng" w="19050">
            <a:solidFill>
              <a:srgbClr val="274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POC </a:t>
            </a:r>
            <a:br>
              <a:rPr lang="en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(This will involve analyzing 200-300 statements provided by the client)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9" name="Google Shape;1409;p180"/>
          <p:cNvSpPr/>
          <p:nvPr/>
        </p:nvSpPr>
        <p:spPr>
          <a:xfrm>
            <a:off x="2605625" y="1426626"/>
            <a:ext cx="2885100" cy="1052100"/>
          </a:xfrm>
          <a:prstGeom prst="flowChartAlternateProcess">
            <a:avLst/>
          </a:prstGeom>
          <a:noFill/>
          <a:ln cap="flat" cmpd="sng" w="19050">
            <a:solidFill>
              <a:srgbClr val="274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Providing the client with access to the Dashboard link to conduct the POC independently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0" name="Google Shape;1410;p180"/>
          <p:cNvSpPr/>
          <p:nvPr/>
        </p:nvSpPr>
        <p:spPr>
          <a:xfrm>
            <a:off x="2605625" y="2842789"/>
            <a:ext cx="2885100" cy="1052100"/>
          </a:xfrm>
          <a:prstGeom prst="flowChartAlternateProcess">
            <a:avLst/>
          </a:prstGeom>
          <a:noFill/>
          <a:ln cap="flat" cmpd="sng" w="19050">
            <a:solidFill>
              <a:srgbClr val="274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The Market Development team is conducting a POC using the Dashboard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1" name="Google Shape;1411;p180"/>
          <p:cNvSpPr/>
          <p:nvPr/>
        </p:nvSpPr>
        <p:spPr>
          <a:xfrm>
            <a:off x="5530850" y="2095500"/>
            <a:ext cx="1397100" cy="85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74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Bulk upload of Statements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2" name="Google Shape;1412;p180"/>
          <p:cNvSpPr/>
          <p:nvPr/>
        </p:nvSpPr>
        <p:spPr>
          <a:xfrm>
            <a:off x="7069675" y="1121825"/>
            <a:ext cx="1907700" cy="2296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274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omprehensive report containing</a:t>
            </a:r>
            <a:br>
              <a:rPr lang="en"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Total Salary Identified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Total Loan/EMI Identified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Count of Statements by each Fraud and Risk Category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1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Enable without disrupting any of the existing flows and go live within 3 weeks</a:t>
            </a:r>
            <a:endParaRPr sz="2240"/>
          </a:p>
        </p:txBody>
      </p:sp>
      <p:graphicFrame>
        <p:nvGraphicFramePr>
          <p:cNvPr id="1418" name="Google Shape;1418;p181"/>
          <p:cNvGraphicFramePr/>
          <p:nvPr/>
        </p:nvGraphicFramePr>
        <p:xfrm>
          <a:off x="218650" y="148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4360150"/>
                <a:gridCol w="821950"/>
                <a:gridCol w="766450"/>
                <a:gridCol w="793550"/>
                <a:gridCol w="942200"/>
                <a:gridCol w="708675"/>
              </a:tblGrid>
              <a:tr h="43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Milestones/Activities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Week 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Week 2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Week 3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Week 4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Week 5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Share signals and current </a:t>
                      </a:r>
                      <a:r>
                        <a:rPr lang="en"/>
                        <a:t>input</a:t>
                      </a:r>
                      <a:r>
                        <a:rPr lang="en"/>
                        <a:t> file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IDfy configures JSON to deliver required keys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UAT of the output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Parallel run (Optional)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9" name="Google Shape;1419;p181"/>
          <p:cNvSpPr/>
          <p:nvPr/>
        </p:nvSpPr>
        <p:spPr>
          <a:xfrm>
            <a:off x="4597500" y="2035875"/>
            <a:ext cx="609600" cy="161100"/>
          </a:xfrm>
          <a:prstGeom prst="homePlat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0" name="Google Shape;1420;p181"/>
          <p:cNvSpPr/>
          <p:nvPr/>
        </p:nvSpPr>
        <p:spPr>
          <a:xfrm>
            <a:off x="5207100" y="2493075"/>
            <a:ext cx="960000" cy="161100"/>
          </a:xfrm>
          <a:prstGeom prst="homePlat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21" name="Google Shape;1421;p181"/>
          <p:cNvCxnSpPr>
            <a:stCxn id="1419" idx="3"/>
            <a:endCxn id="1420" idx="1"/>
          </p:cNvCxnSpPr>
          <p:nvPr/>
        </p:nvCxnSpPr>
        <p:spPr>
          <a:xfrm>
            <a:off x="5207100" y="2116425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22" name="Google Shape;1422;p181"/>
          <p:cNvSpPr/>
          <p:nvPr/>
        </p:nvSpPr>
        <p:spPr>
          <a:xfrm>
            <a:off x="6167100" y="2913825"/>
            <a:ext cx="793800" cy="161100"/>
          </a:xfrm>
          <a:prstGeom prst="homePlat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3" name="Google Shape;1423;p181"/>
          <p:cNvSpPr/>
          <p:nvPr/>
        </p:nvSpPr>
        <p:spPr>
          <a:xfrm>
            <a:off x="6960750" y="3334600"/>
            <a:ext cx="1650900" cy="161100"/>
          </a:xfrm>
          <a:prstGeom prst="homePlate">
            <a:avLst>
              <a:gd fmla="val 50000" name="adj"/>
            </a:avLst>
          </a:prstGeom>
          <a:solidFill>
            <a:srgbClr val="0000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24" name="Google Shape;1424;p181"/>
          <p:cNvCxnSpPr>
            <a:stCxn id="1420" idx="3"/>
            <a:endCxn id="1422" idx="1"/>
          </p:cNvCxnSpPr>
          <p:nvPr/>
        </p:nvCxnSpPr>
        <p:spPr>
          <a:xfrm>
            <a:off x="6167100" y="2573625"/>
            <a:ext cx="0" cy="4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181"/>
          <p:cNvCxnSpPr>
            <a:stCxn id="1422" idx="3"/>
            <a:endCxn id="1423" idx="1"/>
          </p:cNvCxnSpPr>
          <p:nvPr/>
        </p:nvCxnSpPr>
        <p:spPr>
          <a:xfrm>
            <a:off x="6960900" y="2994375"/>
            <a:ext cx="0" cy="42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26" name="Google Shape;1426;p181"/>
          <p:cNvSpPr/>
          <p:nvPr/>
        </p:nvSpPr>
        <p:spPr>
          <a:xfrm>
            <a:off x="8611650" y="3289900"/>
            <a:ext cx="241500" cy="250500"/>
          </a:xfrm>
          <a:prstGeom prst="diamond">
            <a:avLst/>
          </a:prstGeom>
          <a:solidFill>
            <a:srgbClr val="008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7" name="Google Shape;1427;p181"/>
          <p:cNvSpPr txBox="1"/>
          <p:nvPr/>
        </p:nvSpPr>
        <p:spPr>
          <a:xfrm>
            <a:off x="8448600" y="3540400"/>
            <a:ext cx="567600" cy="1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8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</a:t>
            </a:r>
            <a:endParaRPr b="1" sz="1500">
              <a:solidFill>
                <a:srgbClr val="0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8" name="Google Shape;1428;p181"/>
          <p:cNvSpPr txBox="1"/>
          <p:nvPr/>
        </p:nvSpPr>
        <p:spPr>
          <a:xfrm>
            <a:off x="219000" y="1136050"/>
            <a:ext cx="41865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 implementation plan</a:t>
            </a:r>
            <a:endParaRPr b="1" i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9" name="Google Shape;1429;p181"/>
          <p:cNvSpPr txBox="1"/>
          <p:nvPr/>
        </p:nvSpPr>
        <p:spPr>
          <a:xfrm>
            <a:off x="313075" y="4034300"/>
            <a:ext cx="86499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Ability to </a:t>
            </a: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consume inputs from your Account aggregator pipeline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tailor our output as per your LOS accepted schema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ensuring </a:t>
            </a: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zero bandwidth consumption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your teams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82"/>
          <p:cNvSpPr/>
          <p:nvPr/>
        </p:nvSpPr>
        <p:spPr>
          <a:xfrm>
            <a:off x="2345500" y="884400"/>
            <a:ext cx="4826700" cy="376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35" name="Google Shape;1435;p182"/>
          <p:cNvCxnSpPr/>
          <p:nvPr/>
        </p:nvCxnSpPr>
        <p:spPr>
          <a:xfrm rot="10800000">
            <a:off x="3146106" y="3256806"/>
            <a:ext cx="4500" cy="8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182"/>
          <p:cNvSpPr txBox="1"/>
          <p:nvPr>
            <p:ph type="title"/>
          </p:nvPr>
        </p:nvSpPr>
        <p:spPr>
          <a:xfrm>
            <a:off x="131951" y="103725"/>
            <a:ext cx="7956900" cy="520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n" sz="2100"/>
              <a:t>Our </a:t>
            </a:r>
            <a:r>
              <a:rPr lang="en" sz="2100"/>
              <a:t>platform</a:t>
            </a:r>
            <a:r>
              <a:rPr lang="en" sz="2100"/>
              <a:t> is structured for insights, against traditional approach of optimizing for data feeds to LOS</a:t>
            </a:r>
            <a:endParaRPr sz="2100"/>
          </a:p>
        </p:txBody>
      </p:sp>
      <p:sp>
        <p:nvSpPr>
          <p:cNvPr id="1437" name="Google Shape;1437;p182"/>
          <p:cNvSpPr/>
          <p:nvPr/>
        </p:nvSpPr>
        <p:spPr>
          <a:xfrm>
            <a:off x="259350" y="93787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8" name="Google Shape;1438;p182"/>
          <p:cNvSpPr/>
          <p:nvPr/>
        </p:nvSpPr>
        <p:spPr>
          <a:xfrm>
            <a:off x="7798613" y="912313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9" name="Google Shape;1439;p182"/>
          <p:cNvSpPr txBox="1"/>
          <p:nvPr/>
        </p:nvSpPr>
        <p:spPr>
          <a:xfrm>
            <a:off x="340794" y="1857028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PDF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0" name="Google Shape;1440;p182"/>
          <p:cNvSpPr txBox="1"/>
          <p:nvPr/>
        </p:nvSpPr>
        <p:spPr>
          <a:xfrm>
            <a:off x="385925" y="2897803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Netbanking Fetch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1" name="Google Shape;1441;p182"/>
          <p:cNvSpPr txBox="1"/>
          <p:nvPr/>
        </p:nvSpPr>
        <p:spPr>
          <a:xfrm>
            <a:off x="372469" y="3938569"/>
            <a:ext cx="1007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Aggregator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2" name="Google Shape;1442;p182"/>
          <p:cNvSpPr/>
          <p:nvPr/>
        </p:nvSpPr>
        <p:spPr>
          <a:xfrm>
            <a:off x="405163" y="778100"/>
            <a:ext cx="942000" cy="3690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3" name="Google Shape;1443;p182"/>
          <p:cNvSpPr/>
          <p:nvPr/>
        </p:nvSpPr>
        <p:spPr>
          <a:xfrm>
            <a:off x="2817825" y="783150"/>
            <a:ext cx="4080300" cy="3690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Delivering Intelligence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4" name="Google Shape;1444;p182"/>
          <p:cNvSpPr/>
          <p:nvPr/>
        </p:nvSpPr>
        <p:spPr>
          <a:xfrm>
            <a:off x="7967519" y="718563"/>
            <a:ext cx="919500" cy="3690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Modules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5" name="Google Shape;1445;p182"/>
          <p:cNvSpPr txBox="1"/>
          <p:nvPr/>
        </p:nvSpPr>
        <p:spPr>
          <a:xfrm>
            <a:off x="7956275" y="1798100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Dashboard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6" name="Google Shape;1446;p182"/>
          <p:cNvSpPr txBox="1"/>
          <p:nvPr/>
        </p:nvSpPr>
        <p:spPr>
          <a:xfrm>
            <a:off x="7991350" y="2732825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Excel Response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7" name="Google Shape;1447;p182"/>
          <p:cNvSpPr txBox="1"/>
          <p:nvPr/>
        </p:nvSpPr>
        <p:spPr>
          <a:xfrm>
            <a:off x="7904950" y="3819950"/>
            <a:ext cx="1114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JSON Integration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8" name="Google Shape;1448;p182"/>
          <p:cNvSpPr/>
          <p:nvPr/>
        </p:nvSpPr>
        <p:spPr>
          <a:xfrm rot="5400000">
            <a:off x="6291944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49" name="Google Shape;1449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37" y="13856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25" y="2250950"/>
            <a:ext cx="520425" cy="5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1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325" y="34672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1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2300" y="1336673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3" name="Google Shape;1453;p1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82298" y="3369300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1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2675" y="2346500"/>
            <a:ext cx="392000" cy="3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82"/>
          <p:cNvSpPr/>
          <p:nvPr/>
        </p:nvSpPr>
        <p:spPr>
          <a:xfrm rot="5400000">
            <a:off x="674159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6" name="Google Shape;1456;p182"/>
          <p:cNvSpPr txBox="1"/>
          <p:nvPr/>
        </p:nvSpPr>
        <p:spPr>
          <a:xfrm>
            <a:off x="2817813" y="2888253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Consolidated IDfy Data Platform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57" name="Google Shape;1457;p182"/>
          <p:cNvCxnSpPr/>
          <p:nvPr/>
        </p:nvCxnSpPr>
        <p:spPr>
          <a:xfrm rot="10800000">
            <a:off x="4124556" y="3256806"/>
            <a:ext cx="4500" cy="8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8" name="Google Shape;1458;p182"/>
          <p:cNvSpPr txBox="1"/>
          <p:nvPr/>
        </p:nvSpPr>
        <p:spPr>
          <a:xfrm>
            <a:off x="3614875" y="3502550"/>
            <a:ext cx="1089900" cy="3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0505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Connectors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9" name="Google Shape;1459;p182"/>
          <p:cNvSpPr txBox="1"/>
          <p:nvPr/>
        </p:nvSpPr>
        <p:spPr>
          <a:xfrm>
            <a:off x="2644650" y="4020150"/>
            <a:ext cx="10074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Unstructured Public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(Court Records, e-FIR, Socials)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0" name="Google Shape;1460;p182"/>
          <p:cNvSpPr txBox="1"/>
          <p:nvPr/>
        </p:nvSpPr>
        <p:spPr>
          <a:xfrm>
            <a:off x="3548550" y="4020150"/>
            <a:ext cx="11565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(EPFO, GST, Aadhaar, PAN)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1" name="Google Shape;1461;p182"/>
          <p:cNvSpPr txBox="1"/>
          <p:nvPr/>
        </p:nvSpPr>
        <p:spPr>
          <a:xfrm>
            <a:off x="2809724" y="3502500"/>
            <a:ext cx="694500" cy="3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0505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Layer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2" name="Google Shape;1462;p182"/>
          <p:cNvSpPr txBox="1"/>
          <p:nvPr/>
        </p:nvSpPr>
        <p:spPr>
          <a:xfrm>
            <a:off x="2817800" y="2371732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Statement Transaction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63" name="Google Shape;1463;p182"/>
          <p:cNvCxnSpPr>
            <a:stCxn id="1456" idx="0"/>
            <a:endCxn id="1462" idx="2"/>
          </p:cNvCxnSpPr>
          <p:nvPr/>
        </p:nvCxnSpPr>
        <p:spPr>
          <a:xfrm rot="10800000">
            <a:off x="3761313" y="2740353"/>
            <a:ext cx="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4" name="Google Shape;1464;p182"/>
          <p:cNvSpPr txBox="1"/>
          <p:nvPr/>
        </p:nvSpPr>
        <p:spPr>
          <a:xfrm>
            <a:off x="2817813" y="1668600"/>
            <a:ext cx="1887000" cy="55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 Exclusive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(Shell Companies, Demographic Risk Indicators et al)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65" name="Google Shape;1465;p182"/>
          <p:cNvCxnSpPr>
            <a:stCxn id="1464" idx="2"/>
            <a:endCxn id="1462" idx="0"/>
          </p:cNvCxnSpPr>
          <p:nvPr/>
        </p:nvCxnSpPr>
        <p:spPr>
          <a:xfrm>
            <a:off x="3761313" y="2223900"/>
            <a:ext cx="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6" name="Google Shape;1466;p182"/>
          <p:cNvSpPr/>
          <p:nvPr/>
        </p:nvSpPr>
        <p:spPr>
          <a:xfrm>
            <a:off x="2809525" y="1239575"/>
            <a:ext cx="1895400" cy="3690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Consolidation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7" name="Google Shape;1467;p182"/>
          <p:cNvSpPr/>
          <p:nvPr/>
        </p:nvSpPr>
        <p:spPr>
          <a:xfrm>
            <a:off x="4928075" y="1239550"/>
            <a:ext cx="1887000" cy="3690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Insight Generation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8" name="Google Shape;1468;p182"/>
          <p:cNvSpPr txBox="1"/>
          <p:nvPr/>
        </p:nvSpPr>
        <p:spPr>
          <a:xfrm>
            <a:off x="4928075" y="1668600"/>
            <a:ext cx="900000" cy="29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Proprietary AI/ML Layer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“Insights OS” by IDfy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69" name="Google Shape;1469;p1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59887" y="1768568"/>
            <a:ext cx="333876" cy="33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82"/>
          <p:cNvSpPr txBox="1"/>
          <p:nvPr/>
        </p:nvSpPr>
        <p:spPr>
          <a:xfrm>
            <a:off x="5858375" y="2187625"/>
            <a:ext cx="936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Scoring Engines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1" name="Google Shape;1471;p1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59887" y="2748081"/>
            <a:ext cx="333875" cy="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18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59887" y="3766188"/>
            <a:ext cx="333875" cy="33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182"/>
          <p:cNvSpPr txBox="1"/>
          <p:nvPr/>
        </p:nvSpPr>
        <p:spPr>
          <a:xfrm>
            <a:off x="5927375" y="4136788"/>
            <a:ext cx="798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Analysis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4" name="Google Shape;1474;p182"/>
          <p:cNvSpPr txBox="1"/>
          <p:nvPr/>
        </p:nvSpPr>
        <p:spPr>
          <a:xfrm>
            <a:off x="5838575" y="3118700"/>
            <a:ext cx="976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Triangulation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75" name="Google Shape;1475;p182"/>
          <p:cNvCxnSpPr>
            <a:stCxn id="1464" idx="3"/>
          </p:cNvCxnSpPr>
          <p:nvPr/>
        </p:nvCxnSpPr>
        <p:spPr>
          <a:xfrm flipH="1" rot="10800000">
            <a:off x="4704813" y="1837950"/>
            <a:ext cx="228900" cy="1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6" name="Google Shape;1476;p182"/>
          <p:cNvCxnSpPr>
            <a:stCxn id="1462" idx="3"/>
          </p:cNvCxnSpPr>
          <p:nvPr/>
        </p:nvCxnSpPr>
        <p:spPr>
          <a:xfrm>
            <a:off x="4704800" y="2556082"/>
            <a:ext cx="2289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7" name="Google Shape;1477;p182"/>
          <p:cNvCxnSpPr>
            <a:stCxn id="1456" idx="3"/>
            <a:endCxn id="1468" idx="1"/>
          </p:cNvCxnSpPr>
          <p:nvPr/>
        </p:nvCxnSpPr>
        <p:spPr>
          <a:xfrm>
            <a:off x="4704813" y="3072603"/>
            <a:ext cx="223200" cy="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83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Our fraud check library looks beyond just number based </a:t>
            </a:r>
            <a:r>
              <a:rPr lang="en" sz="2240"/>
              <a:t>reconciliations</a:t>
            </a:r>
            <a:r>
              <a:rPr lang="en" sz="2240"/>
              <a:t> and </a:t>
            </a:r>
            <a:r>
              <a:rPr lang="en" sz="2240"/>
              <a:t>summarization</a:t>
            </a:r>
            <a:endParaRPr sz="2240"/>
          </a:p>
        </p:txBody>
      </p:sp>
      <p:sp>
        <p:nvSpPr>
          <p:cNvPr id="1483" name="Google Shape;1483;p183"/>
          <p:cNvSpPr/>
          <p:nvPr/>
        </p:nvSpPr>
        <p:spPr>
          <a:xfrm>
            <a:off x="852100" y="2497949"/>
            <a:ext cx="3463800" cy="1511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4" name="Google Shape;1484;p183"/>
          <p:cNvGrpSpPr/>
          <p:nvPr/>
        </p:nvGrpSpPr>
        <p:grpSpPr>
          <a:xfrm>
            <a:off x="1771645" y="1055811"/>
            <a:ext cx="1607844" cy="966426"/>
            <a:chOff x="3385825" y="1297325"/>
            <a:chExt cx="1739149" cy="1045350"/>
          </a:xfrm>
        </p:grpSpPr>
        <p:grpSp>
          <p:nvGrpSpPr>
            <p:cNvPr id="1485" name="Google Shape;1485;p183"/>
            <p:cNvGrpSpPr/>
            <p:nvPr/>
          </p:nvGrpSpPr>
          <p:grpSpPr>
            <a:xfrm>
              <a:off x="3385825" y="1297325"/>
              <a:ext cx="1739149" cy="1045350"/>
              <a:chOff x="3219325" y="1979700"/>
              <a:chExt cx="1739149" cy="1045350"/>
            </a:xfrm>
          </p:grpSpPr>
          <p:pic>
            <p:nvPicPr>
              <p:cNvPr id="1486" name="Google Shape;1486;p183"/>
              <p:cNvPicPr preferRelativeResize="0"/>
              <p:nvPr/>
            </p:nvPicPr>
            <p:blipFill rotWithShape="1">
              <a:blip r:embed="rId3">
                <a:alphaModFix/>
              </a:blip>
              <a:srcRect b="5110" l="49824" r="3927" t="63091"/>
              <a:stretch/>
            </p:blipFill>
            <p:spPr>
              <a:xfrm>
                <a:off x="3219325" y="1979700"/>
                <a:ext cx="1739149" cy="104535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87" name="Google Shape;1487;p183"/>
              <p:cNvCxnSpPr/>
              <p:nvPr/>
            </p:nvCxnSpPr>
            <p:spPr>
              <a:xfrm flipH="1" rot="10800000">
                <a:off x="3284075" y="3004300"/>
                <a:ext cx="1637400" cy="9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88" name="Google Shape;1488;p183"/>
            <p:cNvSpPr txBox="1"/>
            <p:nvPr/>
          </p:nvSpPr>
          <p:spPr>
            <a:xfrm>
              <a:off x="3617100" y="1637400"/>
              <a:ext cx="2406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3</a:t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1489" name="Google Shape;1489;p183"/>
            <p:cNvSpPr txBox="1"/>
            <p:nvPr/>
          </p:nvSpPr>
          <p:spPr>
            <a:xfrm>
              <a:off x="4135100" y="1364250"/>
              <a:ext cx="2406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2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490" name="Google Shape;1490;p183"/>
            <p:cNvSpPr txBox="1"/>
            <p:nvPr/>
          </p:nvSpPr>
          <p:spPr>
            <a:xfrm>
              <a:off x="4618350" y="1606975"/>
              <a:ext cx="2406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1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491" name="Google Shape;1491;p183"/>
          <p:cNvSpPr txBox="1"/>
          <p:nvPr/>
        </p:nvSpPr>
        <p:spPr>
          <a:xfrm>
            <a:off x="911450" y="2475053"/>
            <a:ext cx="3463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Severity 1: Document shows modified timestamp but no signs of processing post creation.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Severity 2: Document shows signs of processing but no signs of data tampering.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Severity 3: Document shows overall tampering performed, due to mismatch of crucial design aspects throughout the statement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92" name="Google Shape;1492;p183"/>
          <p:cNvSpPr txBox="1"/>
          <p:nvPr/>
        </p:nvSpPr>
        <p:spPr>
          <a:xfrm>
            <a:off x="1716051" y="2022114"/>
            <a:ext cx="17061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Severity : 1 to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3" name="Google Shape;1493;p183"/>
          <p:cNvSpPr/>
          <p:nvPr/>
        </p:nvSpPr>
        <p:spPr>
          <a:xfrm>
            <a:off x="4658900" y="1546828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Blueprint Altered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94" name="Google Shape;1494;p183"/>
          <p:cNvSpPr/>
          <p:nvPr/>
        </p:nvSpPr>
        <p:spPr>
          <a:xfrm>
            <a:off x="4658900" y="2059611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Textual Styling Inconsistent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95" name="Google Shape;1495;p183"/>
          <p:cNvSpPr/>
          <p:nvPr/>
        </p:nvSpPr>
        <p:spPr>
          <a:xfrm>
            <a:off x="4658900" y="2572394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Encryption Not Found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496" name="Google Shape;1496;p183"/>
          <p:cNvSpPr/>
          <p:nvPr/>
        </p:nvSpPr>
        <p:spPr>
          <a:xfrm>
            <a:off x="4658900" y="3076991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Access Changed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497" name="Google Shape;1497;p183"/>
          <p:cNvSpPr/>
          <p:nvPr/>
        </p:nvSpPr>
        <p:spPr>
          <a:xfrm>
            <a:off x="4658900" y="3589761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Trailer Keys Not Matching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498" name="Google Shape;1498;p183"/>
          <p:cNvSpPr/>
          <p:nvPr/>
        </p:nvSpPr>
        <p:spPr>
          <a:xfrm>
            <a:off x="6654503" y="1550927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Author/Producer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99" name="Google Shape;1499;p183"/>
          <p:cNvSpPr/>
          <p:nvPr/>
        </p:nvSpPr>
        <p:spPr>
          <a:xfrm>
            <a:off x="6654503" y="2063710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Position &amp; Color Space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00" name="Google Shape;1500;p183"/>
          <p:cNvSpPr/>
          <p:nvPr/>
        </p:nvSpPr>
        <p:spPr>
          <a:xfrm>
            <a:off x="6654503" y="2576493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Coordinates &amp; Layout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501" name="Google Shape;1501;p183"/>
          <p:cNvSpPr/>
          <p:nvPr/>
        </p:nvSpPr>
        <p:spPr>
          <a:xfrm>
            <a:off x="6654503" y="3081089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 Alignment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502" name="Google Shape;1502;p183"/>
          <p:cNvSpPr/>
          <p:nvPr/>
        </p:nvSpPr>
        <p:spPr>
          <a:xfrm>
            <a:off x="6654503" y="3593860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Version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503" name="Google Shape;1503;p183"/>
          <p:cNvSpPr txBox="1"/>
          <p:nvPr/>
        </p:nvSpPr>
        <p:spPr>
          <a:xfrm>
            <a:off x="4963350" y="1055800"/>
            <a:ext cx="32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Illustrative list of </a:t>
            </a:r>
            <a:r>
              <a:rPr lang="en" sz="1300">
                <a:solidFill>
                  <a:schemeClr val="dk1"/>
                </a:solidFill>
              </a:rPr>
              <a:t> Design Parameters checked for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84"/>
          <p:cNvSpPr txBox="1"/>
          <p:nvPr>
            <p:ph type="title"/>
          </p:nvPr>
        </p:nvSpPr>
        <p:spPr>
          <a:xfrm>
            <a:off x="311524" y="20025"/>
            <a:ext cx="80154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Our algorithms catch underlying risks within </a:t>
            </a:r>
            <a:r>
              <a:rPr lang="en" sz="2200"/>
              <a:t>seemingly</a:t>
            </a:r>
            <a:r>
              <a:rPr lang="en" sz="2200"/>
              <a:t> safe transactions</a:t>
            </a:r>
            <a:endParaRPr sz="2200"/>
          </a:p>
        </p:txBody>
      </p:sp>
      <p:sp>
        <p:nvSpPr>
          <p:cNvPr id="1509" name="Google Shape;1509;p184"/>
          <p:cNvSpPr/>
          <p:nvPr/>
        </p:nvSpPr>
        <p:spPr>
          <a:xfrm>
            <a:off x="898050" y="1234050"/>
            <a:ext cx="7373700" cy="88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STP / Hybrid Loan Journey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0" name="Google Shape;1510;p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640" y="1440843"/>
            <a:ext cx="267012" cy="2670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184"/>
          <p:cNvSpPr txBox="1"/>
          <p:nvPr/>
        </p:nvSpPr>
        <p:spPr>
          <a:xfrm>
            <a:off x="5656639" y="1366606"/>
            <a:ext cx="186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Alert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Google Shape;1512;p184"/>
          <p:cNvSpPr txBox="1"/>
          <p:nvPr/>
        </p:nvSpPr>
        <p:spPr>
          <a:xfrm>
            <a:off x="5195700" y="1687275"/>
            <a:ext cx="26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Risk Detected Based on EPFO Data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3" name="Google Shape;1513;p184"/>
          <p:cNvSpPr txBox="1"/>
          <p:nvPr/>
        </p:nvSpPr>
        <p:spPr>
          <a:xfrm>
            <a:off x="939209" y="1377600"/>
            <a:ext cx="342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Name</a:t>
            </a:r>
            <a:b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and Learn Private Limited (Byju’s)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4" name="Google Shape;1514;p184"/>
          <p:cNvPicPr preferRelativeResize="0"/>
          <p:nvPr/>
        </p:nvPicPr>
        <p:blipFill rotWithShape="1">
          <a:blip r:embed="rId4">
            <a:alphaModFix/>
          </a:blip>
          <a:srcRect b="0" l="-569" r="-1119" t="0"/>
          <a:stretch/>
        </p:blipFill>
        <p:spPr>
          <a:xfrm>
            <a:off x="921125" y="2203750"/>
            <a:ext cx="7350648" cy="258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5" name="Google Shape;1515;p184"/>
          <p:cNvSpPr/>
          <p:nvPr/>
        </p:nvSpPr>
        <p:spPr>
          <a:xfrm>
            <a:off x="1559050" y="4351705"/>
            <a:ext cx="27468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6" name="Google Shape;1516;p184"/>
          <p:cNvSpPr txBox="1"/>
          <p:nvPr/>
        </p:nvSpPr>
        <p:spPr>
          <a:xfrm>
            <a:off x="3287700" y="782450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Illustration</a:t>
            </a:r>
            <a:endParaRPr b="1" i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85"/>
          <p:cNvSpPr txBox="1"/>
          <p:nvPr>
            <p:ph type="title"/>
          </p:nvPr>
        </p:nvSpPr>
        <p:spPr>
          <a:xfrm>
            <a:off x="455050" y="215100"/>
            <a:ext cx="80166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Bring Agility to credit operations - Changes in BRE/LOS handled within days</a:t>
            </a:r>
            <a:endParaRPr sz="2240"/>
          </a:p>
        </p:txBody>
      </p:sp>
      <p:sp>
        <p:nvSpPr>
          <p:cNvPr id="1522" name="Google Shape;1522;p185"/>
          <p:cNvSpPr/>
          <p:nvPr/>
        </p:nvSpPr>
        <p:spPr>
          <a:xfrm>
            <a:off x="406500" y="2278050"/>
            <a:ext cx="1404756" cy="1403730"/>
          </a:xfrm>
          <a:prstGeom prst="flowChartMultidocument">
            <a:avLst/>
          </a:prstGeom>
          <a:solidFill>
            <a:srgbClr val="2742B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3" name="Google Shape;1523;p185"/>
          <p:cNvSpPr/>
          <p:nvPr/>
        </p:nvSpPr>
        <p:spPr>
          <a:xfrm>
            <a:off x="2558325" y="1458075"/>
            <a:ext cx="1350900" cy="305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4" name="Google Shape;1524;p185"/>
          <p:cNvSpPr/>
          <p:nvPr/>
        </p:nvSpPr>
        <p:spPr>
          <a:xfrm>
            <a:off x="2701450" y="1780100"/>
            <a:ext cx="1091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checks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5" name="Google Shape;1525;p185"/>
          <p:cNvSpPr/>
          <p:nvPr/>
        </p:nvSpPr>
        <p:spPr>
          <a:xfrm>
            <a:off x="2701450" y="2618300"/>
            <a:ext cx="1091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Checks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6" name="Google Shape;1526;p185"/>
          <p:cNvSpPr/>
          <p:nvPr/>
        </p:nvSpPr>
        <p:spPr>
          <a:xfrm>
            <a:off x="2701450" y="3608900"/>
            <a:ext cx="1091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Metric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7" name="Google Shape;1527;p185"/>
          <p:cNvSpPr/>
          <p:nvPr/>
        </p:nvSpPr>
        <p:spPr>
          <a:xfrm>
            <a:off x="5453925" y="1458075"/>
            <a:ext cx="1350900" cy="305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8" name="Google Shape;1528;p185"/>
          <p:cNvSpPr txBox="1"/>
          <p:nvPr/>
        </p:nvSpPr>
        <p:spPr>
          <a:xfrm>
            <a:off x="2486775" y="1216550"/>
            <a:ext cx="1404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9" name="Google Shape;1529;p185"/>
          <p:cNvSpPr txBox="1"/>
          <p:nvPr/>
        </p:nvSpPr>
        <p:spPr>
          <a:xfrm>
            <a:off x="5382375" y="1140350"/>
            <a:ext cx="14049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LOS/BRE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30" name="Google Shape;1530;p185"/>
          <p:cNvCxnSpPr>
            <a:endCxn id="1527" idx="1"/>
          </p:cNvCxnSpPr>
          <p:nvPr/>
        </p:nvCxnSpPr>
        <p:spPr>
          <a:xfrm>
            <a:off x="3900225" y="2978775"/>
            <a:ext cx="15537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1" name="Google Shape;1531;p185"/>
          <p:cNvSpPr/>
          <p:nvPr/>
        </p:nvSpPr>
        <p:spPr>
          <a:xfrm>
            <a:off x="4042575" y="2741550"/>
            <a:ext cx="1091400" cy="49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2" name="Google Shape;1532;p185"/>
          <p:cNvSpPr txBox="1"/>
          <p:nvPr/>
        </p:nvSpPr>
        <p:spPr>
          <a:xfrm>
            <a:off x="4232475" y="2750250"/>
            <a:ext cx="7470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Tuner</a:t>
            </a:r>
            <a:endParaRPr i="1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3" name="Google Shape;1533;p185"/>
          <p:cNvSpPr/>
          <p:nvPr/>
        </p:nvSpPr>
        <p:spPr>
          <a:xfrm>
            <a:off x="5657025" y="1941100"/>
            <a:ext cx="948300" cy="241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Helvetica Neue"/>
                <a:ea typeface="Helvetica Neue"/>
                <a:cs typeface="Helvetica Neue"/>
                <a:sym typeface="Helvetica Neue"/>
              </a:rPr>
              <a:t>Fraud flag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4" name="Google Shape;1534;p185"/>
          <p:cNvSpPr/>
          <p:nvPr/>
        </p:nvSpPr>
        <p:spPr>
          <a:xfrm>
            <a:off x="5657025" y="2550700"/>
            <a:ext cx="948300" cy="241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Helvetica Neue"/>
                <a:ea typeface="Helvetica Neue"/>
                <a:cs typeface="Helvetica Neue"/>
                <a:sym typeface="Helvetica Neue"/>
              </a:rPr>
              <a:t>Risk Flags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5" name="Google Shape;1535;p185"/>
          <p:cNvSpPr/>
          <p:nvPr/>
        </p:nvSpPr>
        <p:spPr>
          <a:xfrm>
            <a:off x="5657025" y="3084100"/>
            <a:ext cx="948300" cy="241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Helvetica Neue"/>
                <a:ea typeface="Helvetica Neue"/>
                <a:cs typeface="Helvetica Neue"/>
                <a:sym typeface="Helvetica Neue"/>
              </a:rPr>
              <a:t>Direct metric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6" name="Google Shape;1536;p185"/>
          <p:cNvSpPr/>
          <p:nvPr/>
        </p:nvSpPr>
        <p:spPr>
          <a:xfrm>
            <a:off x="5657025" y="3769900"/>
            <a:ext cx="948300" cy="241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Helvetica Neue"/>
                <a:ea typeface="Helvetica Neue"/>
                <a:cs typeface="Helvetica Neue"/>
                <a:sym typeface="Helvetica Neue"/>
              </a:rPr>
              <a:t>Derived metric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7" name="Google Shape;1537;p185"/>
          <p:cNvSpPr txBox="1"/>
          <p:nvPr/>
        </p:nvSpPr>
        <p:spPr>
          <a:xfrm>
            <a:off x="5648075" y="3363400"/>
            <a:ext cx="10554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AMB, closing balance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8" name="Google Shape;1538;p185"/>
          <p:cNvSpPr txBox="1"/>
          <p:nvPr/>
        </p:nvSpPr>
        <p:spPr>
          <a:xfrm>
            <a:off x="5648075" y="4049200"/>
            <a:ext cx="1055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obligation, income variability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9" name="Google Shape;1539;p185"/>
          <p:cNvSpPr txBox="1"/>
          <p:nvPr/>
        </p:nvSpPr>
        <p:spPr>
          <a:xfrm>
            <a:off x="5648075" y="2144200"/>
            <a:ext cx="1055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Tampering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0" name="Google Shape;1540;p185"/>
          <p:cNvSpPr txBox="1"/>
          <p:nvPr/>
        </p:nvSpPr>
        <p:spPr>
          <a:xfrm>
            <a:off x="5648075" y="2753800"/>
            <a:ext cx="10554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bounce etc.</a:t>
            </a:r>
            <a:endParaRPr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41" name="Google Shape;1541;p185"/>
          <p:cNvCxnSpPr>
            <a:stCxn id="1522" idx="3"/>
            <a:endCxn id="1523" idx="1"/>
          </p:cNvCxnSpPr>
          <p:nvPr/>
        </p:nvCxnSpPr>
        <p:spPr>
          <a:xfrm>
            <a:off x="1811256" y="2979915"/>
            <a:ext cx="7470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2" name="Google Shape;1542;p185"/>
          <p:cNvSpPr txBox="1"/>
          <p:nvPr/>
        </p:nvSpPr>
        <p:spPr>
          <a:xfrm>
            <a:off x="7057775" y="1377575"/>
            <a:ext cx="1959000" cy="3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proxies via bank statement for various scorecard parameters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Triangulate self declared data and estimated from statement to make faster and more confident decision making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Derived numbers enabled at the time of setup and can be further modified using our admin tuner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3" name="Google Shape;1543;p185"/>
          <p:cNvSpPr txBox="1"/>
          <p:nvPr/>
        </p:nvSpPr>
        <p:spPr>
          <a:xfrm>
            <a:off x="384650" y="4508400"/>
            <a:ext cx="8462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can be tweaked as per the use case/scorecard requirement</a:t>
            </a:r>
            <a:endParaRPr i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86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Our service standards have converted our customers into fans </a:t>
            </a:r>
            <a:endParaRPr sz="2240"/>
          </a:p>
        </p:txBody>
      </p:sp>
      <p:sp>
        <p:nvSpPr>
          <p:cNvPr id="1549" name="Google Shape;1549;p186"/>
          <p:cNvSpPr txBox="1"/>
          <p:nvPr/>
        </p:nvSpPr>
        <p:spPr>
          <a:xfrm>
            <a:off x="487750" y="1323600"/>
            <a:ext cx="46179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partner in your transition to the new system</a:t>
            </a:r>
            <a:endParaRPr b="1" sz="15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0" name="Google Shape;1550;p186"/>
          <p:cNvSpPr txBox="1"/>
          <p:nvPr/>
        </p:nvSpPr>
        <p:spPr>
          <a:xfrm>
            <a:off x="371275" y="1887550"/>
            <a:ext cx="4351800" cy="26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" sz="13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involvement of product team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solution your use case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" sz="13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Dedicated customer success manager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not just email support, call the person if you need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" sz="13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week hypercare mode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We review operations and make need based tweaks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b="1" lang="en" sz="13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Quarterly business review </a:t>
            </a: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touchbase on quarterly basis with IDfy leaders to evaluate service standards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1" name="Google Shape;1551;p186"/>
          <p:cNvSpPr/>
          <p:nvPr/>
        </p:nvSpPr>
        <p:spPr>
          <a:xfrm>
            <a:off x="4700575" y="1981200"/>
            <a:ext cx="634500" cy="17421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2" name="Google Shape;1552;p186"/>
          <p:cNvSpPr txBox="1"/>
          <p:nvPr/>
        </p:nvSpPr>
        <p:spPr>
          <a:xfrm>
            <a:off x="5368900" y="1504850"/>
            <a:ext cx="3687600" cy="27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Personalized Support</a:t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Scalable implementation</a:t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 Strategic changes</a:t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Optimized for your end customers</a:t>
            </a:r>
            <a:endParaRPr sz="1700">
              <a:solidFill>
                <a:srgbClr val="FF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87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Have peace of mind on compliance front - We do forward looking compliance</a:t>
            </a:r>
            <a:endParaRPr sz="224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88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Have peace of mind on compliance front - We do forward looking compliance</a:t>
            </a:r>
            <a:endParaRPr sz="224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C43BA"/>
        </a:solidFill>
      </p:bgPr>
    </p:bg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89"/>
          <p:cNvSpPr txBox="1"/>
          <p:nvPr>
            <p:ph type="title"/>
          </p:nvPr>
        </p:nvSpPr>
        <p:spPr>
          <a:xfrm>
            <a:off x="311526" y="2007875"/>
            <a:ext cx="7885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410">
                <a:solidFill>
                  <a:schemeClr val="lt1"/>
                </a:solidFill>
              </a:rPr>
              <a:t>Lets see platform in action</a:t>
            </a:r>
            <a:endParaRPr b="0" sz="19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90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Case – I: </a:t>
            </a:r>
            <a:r>
              <a:rPr lang="en" sz="2200">
                <a:solidFill>
                  <a:schemeClr val="dk1"/>
                </a:solidFill>
              </a:rPr>
              <a:t>One of the below documents is tampered. Which one?</a:t>
            </a:r>
            <a:endParaRPr sz="2200"/>
          </a:p>
        </p:txBody>
      </p:sp>
      <p:pic>
        <p:nvPicPr>
          <p:cNvPr id="1573" name="Google Shape;1573;p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75" y="1163875"/>
            <a:ext cx="4348835" cy="3490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4" name="Google Shape;1574;p1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066" y="1163875"/>
            <a:ext cx="4348835" cy="349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91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Case - I : Did you get it right?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580" name="Google Shape;1580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75" y="1163875"/>
            <a:ext cx="4348835" cy="3490777"/>
          </a:xfrm>
          <a:prstGeom prst="rect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1" name="Google Shape;1581;p1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066" y="1163875"/>
            <a:ext cx="4348835" cy="34908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92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Case - I : Key signals and impact of fraud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587" name="Google Shape;1587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52" y="1187675"/>
            <a:ext cx="4118172" cy="3305651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588" name="Google Shape;1588;p192"/>
          <p:cNvGraphicFramePr/>
          <p:nvPr/>
        </p:nvGraphicFramePr>
        <p:xfrm>
          <a:off x="4712225" y="1184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2008650"/>
              </a:tblGrid>
              <a:tr h="453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Properties not matching with genuine document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Producer Different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PDF Timestamp Not same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Encryption is missing 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User access changed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Trailer Keys &amp; ID Altered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Textual alignment Inconsistent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9" name="Google Shape;1589;p192"/>
          <p:cNvSpPr txBox="1"/>
          <p:nvPr/>
        </p:nvSpPr>
        <p:spPr>
          <a:xfrm>
            <a:off x="7170950" y="1723550"/>
            <a:ext cx="1973100" cy="743400"/>
          </a:xfrm>
          <a:prstGeom prst="rect">
            <a:avLst/>
          </a:prstGeom>
          <a:noFill/>
          <a:ln cap="flat" cmpd="sng" w="952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Checked currently, but inconclusive in tampering detection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0" name="Google Shape;1590;p192"/>
          <p:cNvSpPr txBox="1"/>
          <p:nvPr/>
        </p:nvSpPr>
        <p:spPr>
          <a:xfrm>
            <a:off x="7159375" y="3259925"/>
            <a:ext cx="1973100" cy="548700"/>
          </a:xfrm>
          <a:prstGeom prst="rect">
            <a:avLst/>
          </a:prstGeom>
          <a:noFill/>
          <a:ln cap="flat" cmpd="sng" w="952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Missing from all solutions in the market today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1" name="Google Shape;1591;p192"/>
          <p:cNvSpPr/>
          <p:nvPr/>
        </p:nvSpPr>
        <p:spPr>
          <a:xfrm rot="5400000">
            <a:off x="5994825" y="3386825"/>
            <a:ext cx="1890600" cy="294900"/>
          </a:xfrm>
          <a:prstGeom prst="triangle">
            <a:avLst>
              <a:gd fmla="val 50838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2" name="Google Shape;1592;p192"/>
          <p:cNvSpPr/>
          <p:nvPr/>
        </p:nvSpPr>
        <p:spPr>
          <a:xfrm rot="5400000">
            <a:off x="6475825" y="1961075"/>
            <a:ext cx="940200" cy="294900"/>
          </a:xfrm>
          <a:prstGeom prst="triangle">
            <a:avLst>
              <a:gd fmla="val 50838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93"/>
          <p:cNvSpPr txBox="1"/>
          <p:nvPr>
            <p:ph type="title"/>
          </p:nvPr>
        </p:nvSpPr>
        <p:spPr>
          <a:xfrm>
            <a:off x="311530" y="-60175"/>
            <a:ext cx="7342800" cy="952200"/>
          </a:xfrm>
          <a:prstGeom prst="rect">
            <a:avLst/>
          </a:prstGeom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Case - II : Which profile is more risky?</a:t>
            </a:r>
            <a:endParaRPr sz="2200"/>
          </a:p>
        </p:txBody>
      </p:sp>
      <p:grpSp>
        <p:nvGrpSpPr>
          <p:cNvPr id="1598" name="Google Shape;1598;p193"/>
          <p:cNvGrpSpPr/>
          <p:nvPr/>
        </p:nvGrpSpPr>
        <p:grpSpPr>
          <a:xfrm>
            <a:off x="311522" y="2184937"/>
            <a:ext cx="1260353" cy="1253338"/>
            <a:chOff x="545322" y="1275112"/>
            <a:chExt cx="1260353" cy="1253338"/>
          </a:xfrm>
        </p:grpSpPr>
        <p:pic>
          <p:nvPicPr>
            <p:cNvPr id="1599" name="Google Shape;1599;p1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5322" y="1275112"/>
              <a:ext cx="1149100" cy="114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0" name="Google Shape;1600;p193"/>
            <p:cNvSpPr/>
            <p:nvPr/>
          </p:nvSpPr>
          <p:spPr>
            <a:xfrm>
              <a:off x="1184075" y="1866650"/>
              <a:ext cx="621600" cy="661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601" name="Google Shape;1601;p1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4874" y="1866650"/>
              <a:ext cx="569550" cy="5695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02" name="Google Shape;1602;p193"/>
          <p:cNvGraphicFramePr/>
          <p:nvPr/>
        </p:nvGraphicFramePr>
        <p:xfrm>
          <a:off x="2583750" y="118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746900"/>
                <a:gridCol w="2505825"/>
                <a:gridCol w="563925"/>
                <a:gridCol w="746900"/>
                <a:gridCol w="746900"/>
                <a:gridCol w="746900"/>
              </a:tblGrid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NARRATION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CATEGORY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AMOUNT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29/03/2018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THINK &amp; LEARN PVT LTD SALARY - APR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18000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30/04/2018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THINK &amp; LEARN PVT LTD SALARY - MAY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17573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29/05/2018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THINK &amp; LEARN PVT LTD SALARY - JUN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18000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</a:tbl>
          </a:graphicData>
        </a:graphic>
      </p:graphicFrame>
      <p:sp>
        <p:nvSpPr>
          <p:cNvPr id="1603" name="Google Shape;1603;p193"/>
          <p:cNvSpPr txBox="1"/>
          <p:nvPr/>
        </p:nvSpPr>
        <p:spPr>
          <a:xfrm>
            <a:off x="2583750" y="866425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1 - Salary Detected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04" name="Google Shape;1604;p193"/>
          <p:cNvGraphicFramePr/>
          <p:nvPr/>
        </p:nvGraphicFramePr>
        <p:xfrm>
          <a:off x="2583750" y="31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746900"/>
                <a:gridCol w="2505825"/>
                <a:gridCol w="563925"/>
                <a:gridCol w="746900"/>
                <a:gridCol w="746900"/>
                <a:gridCol w="746900"/>
              </a:tblGrid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NARRATION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CATEGORY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AMOUNT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29/03/2018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GUPTA LOGISTICS SALARY - APRIL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30/04/2018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GUPTA LOGISTICS SALARY - MAY</a:t>
                      </a:r>
                      <a:endParaRPr sz="10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15680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29/05/2018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GUPTA LOGISTICS SALARY - JUN</a:t>
                      </a:r>
                      <a:endParaRPr sz="10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</a:tbl>
          </a:graphicData>
        </a:graphic>
      </p:graphicFrame>
      <p:cxnSp>
        <p:nvCxnSpPr>
          <p:cNvPr id="1605" name="Google Shape;1605;p193"/>
          <p:cNvCxnSpPr/>
          <p:nvPr/>
        </p:nvCxnSpPr>
        <p:spPr>
          <a:xfrm>
            <a:off x="1633350" y="2884450"/>
            <a:ext cx="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606" name="Google Shape;1606;p193"/>
          <p:cNvSpPr txBox="1"/>
          <p:nvPr/>
        </p:nvSpPr>
        <p:spPr>
          <a:xfrm>
            <a:off x="2583750" y="2786900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2 - Salary Detected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94"/>
          <p:cNvSpPr/>
          <p:nvPr/>
        </p:nvSpPr>
        <p:spPr>
          <a:xfrm>
            <a:off x="481050" y="2613625"/>
            <a:ext cx="3746700" cy="121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94"/>
          <p:cNvSpPr txBox="1"/>
          <p:nvPr/>
        </p:nvSpPr>
        <p:spPr>
          <a:xfrm>
            <a:off x="378823" y="301144"/>
            <a:ext cx="810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elvetica Neue"/>
                <a:ea typeface="Helvetica Neue"/>
                <a:cs typeface="Helvetica Neue"/>
                <a:sym typeface="Helvetica Neue"/>
              </a:rPr>
              <a:t>Employment Risk Analysis</a:t>
            </a:r>
            <a:endParaRPr b="1" sz="3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613" name="Google Shape;1613;p194"/>
          <p:cNvGrpSpPr/>
          <p:nvPr/>
        </p:nvGrpSpPr>
        <p:grpSpPr>
          <a:xfrm>
            <a:off x="1431525" y="1347313"/>
            <a:ext cx="1739149" cy="1045350"/>
            <a:chOff x="3385825" y="1297325"/>
            <a:chExt cx="1739149" cy="1045350"/>
          </a:xfrm>
        </p:grpSpPr>
        <p:grpSp>
          <p:nvGrpSpPr>
            <p:cNvPr id="1614" name="Google Shape;1614;p194"/>
            <p:cNvGrpSpPr/>
            <p:nvPr/>
          </p:nvGrpSpPr>
          <p:grpSpPr>
            <a:xfrm>
              <a:off x="3385825" y="1297325"/>
              <a:ext cx="1739149" cy="1045350"/>
              <a:chOff x="3219325" y="1979700"/>
              <a:chExt cx="1739149" cy="1045350"/>
            </a:xfrm>
          </p:grpSpPr>
          <p:pic>
            <p:nvPicPr>
              <p:cNvPr id="1615" name="Google Shape;1615;p194"/>
              <p:cNvPicPr preferRelativeResize="0"/>
              <p:nvPr/>
            </p:nvPicPr>
            <p:blipFill rotWithShape="1">
              <a:blip r:embed="rId3">
                <a:alphaModFix/>
              </a:blip>
              <a:srcRect b="5953" l="3385" r="50365" t="62249"/>
              <a:stretch/>
            </p:blipFill>
            <p:spPr>
              <a:xfrm>
                <a:off x="3219325" y="1979700"/>
                <a:ext cx="1739149" cy="104535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616" name="Google Shape;1616;p194"/>
              <p:cNvCxnSpPr/>
              <p:nvPr/>
            </p:nvCxnSpPr>
            <p:spPr>
              <a:xfrm flipH="1" rot="10800000">
                <a:off x="3284075" y="3004300"/>
                <a:ext cx="1637400" cy="9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17" name="Google Shape;1617;p194"/>
            <p:cNvSpPr txBox="1"/>
            <p:nvPr/>
          </p:nvSpPr>
          <p:spPr>
            <a:xfrm>
              <a:off x="3617100" y="1637400"/>
              <a:ext cx="240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1618" name="Google Shape;1618;p194"/>
            <p:cNvSpPr txBox="1"/>
            <p:nvPr/>
          </p:nvSpPr>
          <p:spPr>
            <a:xfrm>
              <a:off x="4135100" y="1364250"/>
              <a:ext cx="240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619" name="Google Shape;1619;p194"/>
            <p:cNvSpPr txBox="1"/>
            <p:nvPr/>
          </p:nvSpPr>
          <p:spPr>
            <a:xfrm>
              <a:off x="4694550" y="1683175"/>
              <a:ext cx="240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620" name="Google Shape;1620;p194"/>
          <p:cNvSpPr txBox="1"/>
          <p:nvPr/>
        </p:nvSpPr>
        <p:spPr>
          <a:xfrm>
            <a:off x="462550" y="2638725"/>
            <a:ext cx="374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Green : No Risk Found with the income issuer.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Amber: Low to Medium risk found with employer (Decline/ partial default in PF payments)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Red: High Risk employer (Missed PF payments/ Inactive entity)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21" name="Google Shape;1621;p194"/>
          <p:cNvSpPr/>
          <p:nvPr/>
        </p:nvSpPr>
        <p:spPr>
          <a:xfrm>
            <a:off x="4808275" y="1585800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Verified for active presence of the entity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22" name="Google Shape;1622;p194"/>
          <p:cNvSpPr txBox="1"/>
          <p:nvPr/>
        </p:nvSpPr>
        <p:spPr>
          <a:xfrm>
            <a:off x="3170675" y="1960225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No Risk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23" name="Google Shape;1623;p194"/>
          <p:cNvSpPr txBox="1"/>
          <p:nvPr/>
        </p:nvSpPr>
        <p:spPr>
          <a:xfrm>
            <a:off x="675325" y="1925425"/>
            <a:ext cx="75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High Risk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24" name="Google Shape;1624;p194"/>
          <p:cNvSpPr txBox="1"/>
          <p:nvPr/>
        </p:nvSpPr>
        <p:spPr>
          <a:xfrm>
            <a:off x="1923100" y="1081950"/>
            <a:ext cx="75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M/L Risk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625" name="Google Shape;1625;p194"/>
          <p:cNvSpPr/>
          <p:nvPr/>
        </p:nvSpPr>
        <p:spPr>
          <a:xfrm>
            <a:off x="4808275" y="2204488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Checked for PF payments for last 4 months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26" name="Google Shape;1626;p194"/>
          <p:cNvSpPr/>
          <p:nvPr/>
        </p:nvSpPr>
        <p:spPr>
          <a:xfrm>
            <a:off x="4808275" y="2797513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Evaluated the employees count stats for last 4 months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27" name="Google Shape;1627;p194"/>
          <p:cNvSpPr/>
          <p:nvPr/>
        </p:nvSpPr>
        <p:spPr>
          <a:xfrm>
            <a:off x="4808275" y="3390538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Checked against shell company database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28" name="Google Shape;1628;p194"/>
          <p:cNvSpPr/>
          <p:nvPr/>
        </p:nvSpPr>
        <p:spPr>
          <a:xfrm>
            <a:off x="462550" y="4067050"/>
            <a:ext cx="8362800" cy="7968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194"/>
          <p:cNvSpPr txBox="1"/>
          <p:nvPr/>
        </p:nvSpPr>
        <p:spPr>
          <a:xfrm>
            <a:off x="314500" y="4141825"/>
            <a:ext cx="865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an average every one in 100 salary issuers are found to be between low-high risk based on their PF payment data</a:t>
            </a:r>
            <a:endParaRPr sz="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95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Sweeten the deal - Don’t just believe us, it by yourself and than pay us</a:t>
            </a:r>
            <a:endParaRPr sz="224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196"/>
          <p:cNvSpPr txBox="1"/>
          <p:nvPr>
            <p:ph type="title"/>
          </p:nvPr>
        </p:nvSpPr>
        <p:spPr>
          <a:xfrm>
            <a:off x="455050" y="215100"/>
            <a:ext cx="7492500" cy="7494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/>
              <a:t>As fraud and risk experts, w</a:t>
            </a:r>
            <a:r>
              <a:rPr lang="en" sz="2240"/>
              <a:t>e see a need for a massive update in the current lending journeys</a:t>
            </a:r>
            <a:endParaRPr sz="2240"/>
          </a:p>
        </p:txBody>
      </p:sp>
      <p:sp>
        <p:nvSpPr>
          <p:cNvPr id="1640" name="Google Shape;1640;p196"/>
          <p:cNvSpPr txBox="1"/>
          <p:nvPr>
            <p:ph type="title"/>
          </p:nvPr>
        </p:nvSpPr>
        <p:spPr>
          <a:xfrm>
            <a:off x="455050" y="3975100"/>
            <a:ext cx="8519400" cy="749400"/>
          </a:xfrm>
          <a:prstGeom prst="rect">
            <a:avLst/>
          </a:prstGeom>
          <a:solidFill>
            <a:srgbClr val="A4C2F4"/>
          </a:solidFill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600">
                <a:solidFill>
                  <a:schemeClr val="dk1"/>
                </a:solidFill>
              </a:rPr>
              <a:t>Investing in better risk assessment and fraud mitigation will deliver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600">
                <a:solidFill>
                  <a:schemeClr val="dk1"/>
                </a:solidFill>
              </a:rPr>
              <a:t>disproportionate value and unlock new segments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41" name="Google Shape;1641;p196"/>
          <p:cNvSpPr/>
          <p:nvPr/>
        </p:nvSpPr>
        <p:spPr>
          <a:xfrm>
            <a:off x="455050" y="1157263"/>
            <a:ext cx="24735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is becoming more organized and dynamic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2" name="Google Shape;1642;p196"/>
          <p:cNvSpPr/>
          <p:nvPr/>
        </p:nvSpPr>
        <p:spPr>
          <a:xfrm>
            <a:off x="455050" y="2135911"/>
            <a:ext cx="24735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Traditional risk signals insufficient for new segments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3" name="Google Shape;1643;p196"/>
          <p:cNvSpPr/>
          <p:nvPr/>
        </p:nvSpPr>
        <p:spPr>
          <a:xfrm>
            <a:off x="455050" y="3114560"/>
            <a:ext cx="2473500" cy="582300"/>
          </a:xfrm>
          <a:prstGeom prst="rect">
            <a:avLst/>
          </a:prstGeom>
          <a:solidFill>
            <a:srgbClr val="1C43B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Consumer Expectations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Rapidly Evolving</a:t>
            </a:r>
            <a:endParaRPr b="1" sz="1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4" name="Google Shape;1644;p196"/>
          <p:cNvSpPr/>
          <p:nvPr/>
        </p:nvSpPr>
        <p:spPr>
          <a:xfrm>
            <a:off x="2923825" y="1157275"/>
            <a:ext cx="2973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70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fake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documents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payslips and statements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5" name="Google Shape;1645;p196"/>
          <p:cNvSpPr/>
          <p:nvPr/>
        </p:nvSpPr>
        <p:spPr>
          <a:xfrm>
            <a:off x="2923825" y="2135900"/>
            <a:ext cx="2973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70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competition in vanilla segments forcing need for sharper risk assessment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segments have low formal footprints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6" name="Google Shape;1646;p196"/>
          <p:cNvSpPr/>
          <p:nvPr/>
        </p:nvSpPr>
        <p:spPr>
          <a:xfrm>
            <a:off x="2923825" y="3086750"/>
            <a:ext cx="2973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70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Expecting fully digital journeys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moving towards rapid disbursals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7" name="Google Shape;1647;p196"/>
          <p:cNvSpPr/>
          <p:nvPr/>
        </p:nvSpPr>
        <p:spPr>
          <a:xfrm rot="5400000">
            <a:off x="4790600" y="2138650"/>
            <a:ext cx="2643300" cy="473100"/>
          </a:xfrm>
          <a:prstGeom prst="triangle">
            <a:avLst>
              <a:gd fmla="val 50000" name="adj"/>
            </a:avLst>
          </a:pr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8" name="Google Shape;1648;p196"/>
          <p:cNvSpPr/>
          <p:nvPr/>
        </p:nvSpPr>
        <p:spPr>
          <a:xfrm>
            <a:off x="6500950" y="1705450"/>
            <a:ext cx="2473500" cy="13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the other hand, the current tools are static, outdated, and offer very basic analysis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C43BA"/>
        </a:solidFill>
      </p:bgPr>
    </p:bg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97"/>
          <p:cNvSpPr txBox="1"/>
          <p:nvPr>
            <p:ph type="title"/>
          </p:nvPr>
        </p:nvSpPr>
        <p:spPr>
          <a:xfrm>
            <a:off x="311526" y="2007875"/>
            <a:ext cx="7885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410">
                <a:solidFill>
                  <a:schemeClr val="lt1"/>
                </a:solidFill>
              </a:rPr>
              <a:t>Case - I</a:t>
            </a:r>
            <a:endParaRPr b="0" sz="19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98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Case – I: </a:t>
            </a:r>
            <a:r>
              <a:rPr lang="en" sz="2200">
                <a:solidFill>
                  <a:schemeClr val="dk1"/>
                </a:solidFill>
              </a:rPr>
              <a:t>One of the below documents is tampered. Which one?</a:t>
            </a:r>
            <a:endParaRPr sz="2200"/>
          </a:p>
        </p:txBody>
      </p:sp>
      <p:pic>
        <p:nvPicPr>
          <p:cNvPr id="1659" name="Google Shape;1659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75" y="1163875"/>
            <a:ext cx="4348835" cy="349077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0" name="Google Shape;1660;p1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066" y="1163875"/>
            <a:ext cx="4348835" cy="349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199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Case - I : Did you get it right?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666" name="Google Shape;1666;p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75" y="1163875"/>
            <a:ext cx="4348835" cy="3490777"/>
          </a:xfrm>
          <a:prstGeom prst="rect">
            <a:avLst/>
          </a:prstGeom>
          <a:noFill/>
          <a:ln cap="flat" cmpd="sng" w="2857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7" name="Google Shape;1667;p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066" y="1163875"/>
            <a:ext cx="4348835" cy="34908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200"/>
          <p:cNvSpPr/>
          <p:nvPr/>
        </p:nvSpPr>
        <p:spPr>
          <a:xfrm>
            <a:off x="852100" y="2497949"/>
            <a:ext cx="3463800" cy="1511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200"/>
          <p:cNvSpPr txBox="1"/>
          <p:nvPr/>
        </p:nvSpPr>
        <p:spPr>
          <a:xfrm>
            <a:off x="378823" y="301144"/>
            <a:ext cx="810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of catching a sure shot fraud</a:t>
            </a:r>
            <a:endParaRPr b="1"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674" name="Google Shape;1674;p200"/>
          <p:cNvGrpSpPr/>
          <p:nvPr/>
        </p:nvGrpSpPr>
        <p:grpSpPr>
          <a:xfrm>
            <a:off x="1771645" y="1055811"/>
            <a:ext cx="1607844" cy="966426"/>
            <a:chOff x="3385825" y="1297325"/>
            <a:chExt cx="1739149" cy="1045350"/>
          </a:xfrm>
        </p:grpSpPr>
        <p:grpSp>
          <p:nvGrpSpPr>
            <p:cNvPr id="1675" name="Google Shape;1675;p200"/>
            <p:cNvGrpSpPr/>
            <p:nvPr/>
          </p:nvGrpSpPr>
          <p:grpSpPr>
            <a:xfrm>
              <a:off x="3385825" y="1297325"/>
              <a:ext cx="1739149" cy="1045350"/>
              <a:chOff x="3219325" y="1979700"/>
              <a:chExt cx="1739149" cy="1045350"/>
            </a:xfrm>
          </p:grpSpPr>
          <p:pic>
            <p:nvPicPr>
              <p:cNvPr id="1676" name="Google Shape;1676;p200"/>
              <p:cNvPicPr preferRelativeResize="0"/>
              <p:nvPr/>
            </p:nvPicPr>
            <p:blipFill rotWithShape="1">
              <a:blip r:embed="rId3">
                <a:alphaModFix/>
              </a:blip>
              <a:srcRect b="5110" l="49824" r="3927" t="63091"/>
              <a:stretch/>
            </p:blipFill>
            <p:spPr>
              <a:xfrm>
                <a:off x="3219325" y="1979700"/>
                <a:ext cx="1739149" cy="104535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677" name="Google Shape;1677;p200"/>
              <p:cNvCxnSpPr/>
              <p:nvPr/>
            </p:nvCxnSpPr>
            <p:spPr>
              <a:xfrm flipH="1" rot="10800000">
                <a:off x="3284075" y="3004300"/>
                <a:ext cx="1637400" cy="9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78" name="Google Shape;1678;p200"/>
            <p:cNvSpPr txBox="1"/>
            <p:nvPr/>
          </p:nvSpPr>
          <p:spPr>
            <a:xfrm>
              <a:off x="3617100" y="1637400"/>
              <a:ext cx="2406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3</a:t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1679" name="Google Shape;1679;p200"/>
            <p:cNvSpPr txBox="1"/>
            <p:nvPr/>
          </p:nvSpPr>
          <p:spPr>
            <a:xfrm>
              <a:off x="4135100" y="1364250"/>
              <a:ext cx="2406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2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680" name="Google Shape;1680;p200"/>
            <p:cNvSpPr txBox="1"/>
            <p:nvPr/>
          </p:nvSpPr>
          <p:spPr>
            <a:xfrm>
              <a:off x="4618350" y="1606975"/>
              <a:ext cx="240600" cy="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1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681" name="Google Shape;1681;p200"/>
          <p:cNvSpPr txBox="1"/>
          <p:nvPr/>
        </p:nvSpPr>
        <p:spPr>
          <a:xfrm>
            <a:off x="911450" y="2475053"/>
            <a:ext cx="3463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Severity 1: Document shows modified timestamp but no signs of processing post creation.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Severity 2: Document shows signs of processing but no signs of data tampering.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Severity 3: Document shows overall tampering performed, due to mismatch of crucial design aspects throughout the statement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82" name="Google Shape;1682;p200"/>
          <p:cNvSpPr txBox="1"/>
          <p:nvPr/>
        </p:nvSpPr>
        <p:spPr>
          <a:xfrm>
            <a:off x="1716051" y="2022114"/>
            <a:ext cx="17061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Severity : 1 to 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3" name="Google Shape;1683;p200"/>
          <p:cNvSpPr/>
          <p:nvPr/>
        </p:nvSpPr>
        <p:spPr>
          <a:xfrm>
            <a:off x="4658900" y="1546828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Blueprint Altered 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84" name="Google Shape;1684;p200"/>
          <p:cNvSpPr/>
          <p:nvPr/>
        </p:nvSpPr>
        <p:spPr>
          <a:xfrm>
            <a:off x="4658900" y="2059611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Textual Styling Inconsistent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85" name="Google Shape;1685;p200"/>
          <p:cNvSpPr/>
          <p:nvPr/>
        </p:nvSpPr>
        <p:spPr>
          <a:xfrm>
            <a:off x="4658900" y="2572394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Encryption Not Found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686" name="Google Shape;1686;p200"/>
          <p:cNvSpPr/>
          <p:nvPr/>
        </p:nvSpPr>
        <p:spPr>
          <a:xfrm>
            <a:off x="4658900" y="3076991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 Access Changed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687" name="Google Shape;1687;p200"/>
          <p:cNvSpPr/>
          <p:nvPr/>
        </p:nvSpPr>
        <p:spPr>
          <a:xfrm>
            <a:off x="4658900" y="3589761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Trailer Keys Not Matching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688" name="Google Shape;1688;p200"/>
          <p:cNvSpPr/>
          <p:nvPr/>
        </p:nvSpPr>
        <p:spPr>
          <a:xfrm>
            <a:off x="6654503" y="1550927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Author/Producer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89" name="Google Shape;1689;p200"/>
          <p:cNvSpPr/>
          <p:nvPr/>
        </p:nvSpPr>
        <p:spPr>
          <a:xfrm>
            <a:off x="6654503" y="2063710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Position &amp; Color Space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690" name="Google Shape;1690;p200"/>
          <p:cNvSpPr/>
          <p:nvPr/>
        </p:nvSpPr>
        <p:spPr>
          <a:xfrm>
            <a:off x="6654503" y="2576493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Coordinates &amp; Layout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691" name="Google Shape;1691;p200"/>
          <p:cNvSpPr/>
          <p:nvPr/>
        </p:nvSpPr>
        <p:spPr>
          <a:xfrm>
            <a:off x="6654503" y="3081089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 Alignment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692" name="Google Shape;1692;p200"/>
          <p:cNvSpPr/>
          <p:nvPr/>
        </p:nvSpPr>
        <p:spPr>
          <a:xfrm>
            <a:off x="6654503" y="3593860"/>
            <a:ext cx="1929300" cy="415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PDF Version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1693" name="Google Shape;1693;p200"/>
          <p:cNvSpPr txBox="1"/>
          <p:nvPr/>
        </p:nvSpPr>
        <p:spPr>
          <a:xfrm>
            <a:off x="4963350" y="1055800"/>
            <a:ext cx="322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Key Design Parameters checked for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201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Case - I : Key signals and impact of fraud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699" name="Google Shape;1699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052" y="1187675"/>
            <a:ext cx="4118172" cy="3305651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700" name="Google Shape;1700;p201"/>
          <p:cNvGraphicFramePr/>
          <p:nvPr/>
        </p:nvGraphicFramePr>
        <p:xfrm>
          <a:off x="4712225" y="1184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2008650"/>
              </a:tblGrid>
              <a:tr h="453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Properties not matching with genuine document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Producer Different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PDF Timestamp Not same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Encryption is missing 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User access changed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Trailer Keys &amp; ID Altered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Textual alignment Inconsistent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1" name="Google Shape;1701;p201"/>
          <p:cNvSpPr txBox="1"/>
          <p:nvPr/>
        </p:nvSpPr>
        <p:spPr>
          <a:xfrm>
            <a:off x="7170950" y="1723550"/>
            <a:ext cx="1973100" cy="743400"/>
          </a:xfrm>
          <a:prstGeom prst="rect">
            <a:avLst/>
          </a:prstGeom>
          <a:noFill/>
          <a:ln cap="flat" cmpd="sng" w="952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Checked currently, but inconclusive in tampering detection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2" name="Google Shape;1702;p201"/>
          <p:cNvSpPr txBox="1"/>
          <p:nvPr/>
        </p:nvSpPr>
        <p:spPr>
          <a:xfrm>
            <a:off x="7159375" y="3259925"/>
            <a:ext cx="1973100" cy="548700"/>
          </a:xfrm>
          <a:prstGeom prst="rect">
            <a:avLst/>
          </a:prstGeom>
          <a:noFill/>
          <a:ln cap="flat" cmpd="sng" w="952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Missing from all solutions in the market today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3" name="Google Shape;1703;p201"/>
          <p:cNvSpPr/>
          <p:nvPr/>
        </p:nvSpPr>
        <p:spPr>
          <a:xfrm rot="5400000">
            <a:off x="5994825" y="3386825"/>
            <a:ext cx="1890600" cy="294900"/>
          </a:xfrm>
          <a:prstGeom prst="triangle">
            <a:avLst>
              <a:gd fmla="val 50838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4" name="Google Shape;1704;p201"/>
          <p:cNvSpPr/>
          <p:nvPr/>
        </p:nvSpPr>
        <p:spPr>
          <a:xfrm rot="5400000">
            <a:off x="6475825" y="1961075"/>
            <a:ext cx="940200" cy="294900"/>
          </a:xfrm>
          <a:prstGeom prst="triangle">
            <a:avLst>
              <a:gd fmla="val 50838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202"/>
          <p:cNvSpPr txBox="1"/>
          <p:nvPr>
            <p:ph type="title"/>
          </p:nvPr>
        </p:nvSpPr>
        <p:spPr>
          <a:xfrm>
            <a:off x="6256020" y="2216950"/>
            <a:ext cx="18810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Journey</a:t>
            </a:r>
            <a:r>
              <a:rPr b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Education Loan</a:t>
            </a:r>
            <a:br>
              <a:rPr b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 Type</a:t>
            </a:r>
            <a:r>
              <a:rPr b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NBFC</a:t>
            </a:r>
            <a:endParaRPr b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202"/>
          <p:cNvSpPr txBox="1"/>
          <p:nvPr>
            <p:ph type="title"/>
          </p:nvPr>
        </p:nvSpPr>
        <p:spPr>
          <a:xfrm>
            <a:off x="311519" y="962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As seen on one of the Education loan &amp; PL journey</a:t>
            </a:r>
            <a:endParaRPr sz="2200">
              <a:solidFill>
                <a:schemeClr val="dk1"/>
              </a:solidFill>
            </a:endParaRPr>
          </a:p>
        </p:txBody>
      </p:sp>
      <p:graphicFrame>
        <p:nvGraphicFramePr>
          <p:cNvPr id="1711" name="Google Shape;1711;p202"/>
          <p:cNvGraphicFramePr/>
          <p:nvPr/>
        </p:nvGraphicFramePr>
        <p:xfrm>
          <a:off x="540125" y="11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3593775"/>
                <a:gridCol w="2020650"/>
              </a:tblGrid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Statements Considered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10000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Severity - 1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320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Severity - 2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1150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Severity - 3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270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2" name="Google Shape;1712;p202"/>
          <p:cNvSpPr/>
          <p:nvPr/>
        </p:nvSpPr>
        <p:spPr>
          <a:xfrm>
            <a:off x="462550" y="3530425"/>
            <a:ext cx="8362800" cy="5715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02"/>
          <p:cNvSpPr txBox="1"/>
          <p:nvPr/>
        </p:nvSpPr>
        <p:spPr>
          <a:xfrm>
            <a:off x="314500" y="3476650"/>
            <a:ext cx="865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an average </a:t>
            </a:r>
            <a:r>
              <a:rPr b="1" lang="en" sz="1500">
                <a:solidFill>
                  <a:schemeClr val="lt1"/>
                </a:solidFill>
                <a:highlight>
                  <a:srgbClr val="CE101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2.2%</a:t>
            </a: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PDF cases are found to be of </a:t>
            </a:r>
            <a:r>
              <a:rPr b="1" lang="en" sz="1500">
                <a:solidFill>
                  <a:schemeClr val="lt1"/>
                </a:solidFill>
                <a:highlight>
                  <a:srgbClr val="CE101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severity 3</a:t>
            </a: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lending funnel</a:t>
            </a:r>
            <a:endParaRPr sz="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C43BA"/>
        </a:solidFill>
      </p:bgPr>
    </p:bg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203"/>
          <p:cNvSpPr txBox="1"/>
          <p:nvPr>
            <p:ph type="title"/>
          </p:nvPr>
        </p:nvSpPr>
        <p:spPr>
          <a:xfrm>
            <a:off x="311526" y="2007875"/>
            <a:ext cx="7885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410">
                <a:solidFill>
                  <a:schemeClr val="lt1"/>
                </a:solidFill>
              </a:rPr>
              <a:t>Case - II</a:t>
            </a:r>
            <a:endParaRPr b="0" sz="19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204"/>
          <p:cNvSpPr txBox="1"/>
          <p:nvPr>
            <p:ph type="title"/>
          </p:nvPr>
        </p:nvSpPr>
        <p:spPr>
          <a:xfrm>
            <a:off x="311530" y="-60175"/>
            <a:ext cx="7342800" cy="952200"/>
          </a:xfrm>
          <a:prstGeom prst="rect">
            <a:avLst/>
          </a:prstGeom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Case - II : Which profile is more risky?</a:t>
            </a:r>
            <a:endParaRPr sz="2200"/>
          </a:p>
        </p:txBody>
      </p:sp>
      <p:grpSp>
        <p:nvGrpSpPr>
          <p:cNvPr id="1724" name="Google Shape;1724;p204"/>
          <p:cNvGrpSpPr/>
          <p:nvPr/>
        </p:nvGrpSpPr>
        <p:grpSpPr>
          <a:xfrm>
            <a:off x="311522" y="2184937"/>
            <a:ext cx="1260353" cy="1253338"/>
            <a:chOff x="545322" y="1275112"/>
            <a:chExt cx="1260353" cy="1253338"/>
          </a:xfrm>
        </p:grpSpPr>
        <p:pic>
          <p:nvPicPr>
            <p:cNvPr id="1725" name="Google Shape;1725;p2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5322" y="1275112"/>
              <a:ext cx="1149100" cy="114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6" name="Google Shape;1726;p204"/>
            <p:cNvSpPr/>
            <p:nvPr/>
          </p:nvSpPr>
          <p:spPr>
            <a:xfrm>
              <a:off x="1184075" y="1866650"/>
              <a:ext cx="621600" cy="661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727" name="Google Shape;1727;p2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24874" y="1866650"/>
              <a:ext cx="569550" cy="5695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728" name="Google Shape;1728;p204"/>
          <p:cNvGraphicFramePr/>
          <p:nvPr/>
        </p:nvGraphicFramePr>
        <p:xfrm>
          <a:off x="2583750" y="118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746900"/>
                <a:gridCol w="2505825"/>
                <a:gridCol w="563925"/>
                <a:gridCol w="746900"/>
                <a:gridCol w="746900"/>
                <a:gridCol w="746900"/>
              </a:tblGrid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NARRATION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CATEGORY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AMOUNT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29/03/2018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THINK &amp; LEARN PVT LTD SALARY - APR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18000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30/04/2018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THINK &amp; LEARN PVT LTD SALARY - MAY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17573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29/05/2018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THINK &amp; LEARN PVT LTD SALARY - JUN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18000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</a:tbl>
          </a:graphicData>
        </a:graphic>
      </p:graphicFrame>
      <p:sp>
        <p:nvSpPr>
          <p:cNvPr id="1729" name="Google Shape;1729;p204"/>
          <p:cNvSpPr txBox="1"/>
          <p:nvPr/>
        </p:nvSpPr>
        <p:spPr>
          <a:xfrm>
            <a:off x="2583750" y="866425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1 - </a:t>
            </a: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Detected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730" name="Google Shape;1730;p204"/>
          <p:cNvGraphicFramePr/>
          <p:nvPr/>
        </p:nvGraphicFramePr>
        <p:xfrm>
          <a:off x="2583750" y="311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746900"/>
                <a:gridCol w="2505825"/>
                <a:gridCol w="563925"/>
                <a:gridCol w="746900"/>
                <a:gridCol w="746900"/>
                <a:gridCol w="746900"/>
              </a:tblGrid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NARRATION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CATEGORY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AMOUNT</a:t>
                      </a:r>
                      <a:endParaRPr sz="1000">
                        <a:solidFill>
                          <a:srgbClr val="FFFFF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4FB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29/03/2018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GUPTA LOGISTICS SALARY - APRIL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30/04/2018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GUPTA LOGISTICS SALARY - MAY</a:t>
                      </a:r>
                      <a:endParaRPr sz="10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15680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9E9"/>
                    </a:solidFill>
                  </a:tcPr>
                </a:tc>
              </a:tr>
              <a:tr h="23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29/05/2018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GUPTA LOGISTICS SALARY - JUN</a:t>
                      </a:r>
                      <a:endParaRPr sz="10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8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CREDIT</a:t>
                      </a:r>
                      <a:endParaRPr sz="1000">
                        <a:solidFill>
                          <a:srgbClr val="008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SALARY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16000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28575" marL="28575" anchor="ctr">
                    <a:lnL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3F3"/>
                    </a:solidFill>
                  </a:tcPr>
                </a:tc>
              </a:tr>
            </a:tbl>
          </a:graphicData>
        </a:graphic>
      </p:graphicFrame>
      <p:cxnSp>
        <p:nvCxnSpPr>
          <p:cNvPr id="1731" name="Google Shape;1731;p204"/>
          <p:cNvCxnSpPr/>
          <p:nvPr/>
        </p:nvCxnSpPr>
        <p:spPr>
          <a:xfrm>
            <a:off x="1633350" y="2884450"/>
            <a:ext cx="67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732" name="Google Shape;1732;p204"/>
          <p:cNvSpPr txBox="1"/>
          <p:nvPr/>
        </p:nvSpPr>
        <p:spPr>
          <a:xfrm>
            <a:off x="2583750" y="2786900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2 - Salary Detected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05"/>
          <p:cNvSpPr txBox="1"/>
          <p:nvPr>
            <p:ph type="title"/>
          </p:nvPr>
        </p:nvSpPr>
        <p:spPr>
          <a:xfrm>
            <a:off x="311530" y="20025"/>
            <a:ext cx="67680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Case - II : High Risk Salary Issuer</a:t>
            </a:r>
            <a:endParaRPr sz="2200"/>
          </a:p>
        </p:txBody>
      </p:sp>
      <p:sp>
        <p:nvSpPr>
          <p:cNvPr id="1738" name="Google Shape;1738;p205"/>
          <p:cNvSpPr/>
          <p:nvPr/>
        </p:nvSpPr>
        <p:spPr>
          <a:xfrm>
            <a:off x="898050" y="1234050"/>
            <a:ext cx="7373700" cy="88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STP / Hybrid Loan Journey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39" name="Google Shape;1739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640" y="1440843"/>
            <a:ext cx="267012" cy="267008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205"/>
          <p:cNvSpPr txBox="1"/>
          <p:nvPr/>
        </p:nvSpPr>
        <p:spPr>
          <a:xfrm>
            <a:off x="5656639" y="1366606"/>
            <a:ext cx="186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Alert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1" name="Google Shape;1741;p205"/>
          <p:cNvSpPr txBox="1"/>
          <p:nvPr/>
        </p:nvSpPr>
        <p:spPr>
          <a:xfrm>
            <a:off x="5195700" y="1687275"/>
            <a:ext cx="267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Risk Detected Based on EPFO Data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2" name="Google Shape;1742;p205"/>
          <p:cNvSpPr txBox="1"/>
          <p:nvPr/>
        </p:nvSpPr>
        <p:spPr>
          <a:xfrm>
            <a:off x="939209" y="1377600"/>
            <a:ext cx="3429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Name</a:t>
            </a:r>
            <a:b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and Learn Private Limited (Byju’s)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3" name="Google Shape;1743;p205"/>
          <p:cNvPicPr preferRelativeResize="0"/>
          <p:nvPr/>
        </p:nvPicPr>
        <p:blipFill rotWithShape="1">
          <a:blip r:embed="rId4">
            <a:alphaModFix/>
          </a:blip>
          <a:srcRect b="0" l="-569" r="-1119" t="0"/>
          <a:stretch/>
        </p:blipFill>
        <p:spPr>
          <a:xfrm>
            <a:off x="921125" y="2203750"/>
            <a:ext cx="7350648" cy="258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4" name="Google Shape;1744;p205"/>
          <p:cNvSpPr/>
          <p:nvPr/>
        </p:nvSpPr>
        <p:spPr>
          <a:xfrm>
            <a:off x="1559050" y="4351705"/>
            <a:ext cx="27468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5" name="Google Shape;1745;p205"/>
          <p:cNvSpPr txBox="1"/>
          <p:nvPr/>
        </p:nvSpPr>
        <p:spPr>
          <a:xfrm>
            <a:off x="3287700" y="782450"/>
            <a:ext cx="25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1 </a:t>
            </a:r>
            <a:endParaRPr b="1" i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206"/>
          <p:cNvSpPr/>
          <p:nvPr/>
        </p:nvSpPr>
        <p:spPr>
          <a:xfrm>
            <a:off x="481050" y="2613625"/>
            <a:ext cx="3746700" cy="121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206"/>
          <p:cNvSpPr txBox="1"/>
          <p:nvPr/>
        </p:nvSpPr>
        <p:spPr>
          <a:xfrm>
            <a:off x="378823" y="301144"/>
            <a:ext cx="810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Helvetica Neue"/>
                <a:ea typeface="Helvetica Neue"/>
                <a:cs typeface="Helvetica Neue"/>
                <a:sym typeface="Helvetica Neue"/>
              </a:rPr>
              <a:t>Employment Risk Analysis</a:t>
            </a:r>
            <a:endParaRPr b="1" sz="3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52" name="Google Shape;1752;p206"/>
          <p:cNvGrpSpPr/>
          <p:nvPr/>
        </p:nvGrpSpPr>
        <p:grpSpPr>
          <a:xfrm>
            <a:off x="1431525" y="1347313"/>
            <a:ext cx="1739149" cy="1045350"/>
            <a:chOff x="3385825" y="1297325"/>
            <a:chExt cx="1739149" cy="1045350"/>
          </a:xfrm>
        </p:grpSpPr>
        <p:grpSp>
          <p:nvGrpSpPr>
            <p:cNvPr id="1753" name="Google Shape;1753;p206"/>
            <p:cNvGrpSpPr/>
            <p:nvPr/>
          </p:nvGrpSpPr>
          <p:grpSpPr>
            <a:xfrm>
              <a:off x="3385825" y="1297325"/>
              <a:ext cx="1739149" cy="1045350"/>
              <a:chOff x="3219325" y="1979700"/>
              <a:chExt cx="1739149" cy="1045350"/>
            </a:xfrm>
          </p:grpSpPr>
          <p:pic>
            <p:nvPicPr>
              <p:cNvPr id="1754" name="Google Shape;1754;p206"/>
              <p:cNvPicPr preferRelativeResize="0"/>
              <p:nvPr/>
            </p:nvPicPr>
            <p:blipFill rotWithShape="1">
              <a:blip r:embed="rId3">
                <a:alphaModFix/>
              </a:blip>
              <a:srcRect b="5953" l="3385" r="50365" t="62249"/>
              <a:stretch/>
            </p:blipFill>
            <p:spPr>
              <a:xfrm>
                <a:off x="3219325" y="1979700"/>
                <a:ext cx="1739149" cy="104535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55" name="Google Shape;1755;p206"/>
              <p:cNvCxnSpPr/>
              <p:nvPr/>
            </p:nvCxnSpPr>
            <p:spPr>
              <a:xfrm flipH="1" rot="10800000">
                <a:off x="3284075" y="3004300"/>
                <a:ext cx="1637400" cy="9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56" name="Google Shape;1756;p206"/>
            <p:cNvSpPr txBox="1"/>
            <p:nvPr/>
          </p:nvSpPr>
          <p:spPr>
            <a:xfrm>
              <a:off x="3617100" y="1637400"/>
              <a:ext cx="240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</a:endParaRPr>
            </a:p>
          </p:txBody>
        </p:sp>
        <p:sp>
          <p:nvSpPr>
            <p:cNvPr id="1757" name="Google Shape;1757;p206"/>
            <p:cNvSpPr txBox="1"/>
            <p:nvPr/>
          </p:nvSpPr>
          <p:spPr>
            <a:xfrm>
              <a:off x="4135100" y="1364250"/>
              <a:ext cx="240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758" name="Google Shape;1758;p206"/>
            <p:cNvSpPr txBox="1"/>
            <p:nvPr/>
          </p:nvSpPr>
          <p:spPr>
            <a:xfrm>
              <a:off x="4694550" y="1683175"/>
              <a:ext cx="240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759" name="Google Shape;1759;p206"/>
          <p:cNvSpPr txBox="1"/>
          <p:nvPr/>
        </p:nvSpPr>
        <p:spPr>
          <a:xfrm>
            <a:off x="462550" y="2638725"/>
            <a:ext cx="374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Green : No Risk Found with the income issuer.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Amber: Low to Medium risk found with employer (Decline/ partial default in PF payments)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Red: High Risk employer (Missed PF payments/ Inactive entity)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760" name="Google Shape;1760;p206"/>
          <p:cNvSpPr/>
          <p:nvPr/>
        </p:nvSpPr>
        <p:spPr>
          <a:xfrm>
            <a:off x="4808275" y="1585800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Verified for active presence of the entity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61" name="Google Shape;1761;p206"/>
          <p:cNvSpPr txBox="1"/>
          <p:nvPr/>
        </p:nvSpPr>
        <p:spPr>
          <a:xfrm>
            <a:off x="3170675" y="1960225"/>
            <a:ext cx="6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No Risk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62" name="Google Shape;1762;p206"/>
          <p:cNvSpPr txBox="1"/>
          <p:nvPr/>
        </p:nvSpPr>
        <p:spPr>
          <a:xfrm>
            <a:off x="675325" y="1925425"/>
            <a:ext cx="75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High Risk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63" name="Google Shape;1763;p206"/>
          <p:cNvSpPr txBox="1"/>
          <p:nvPr/>
        </p:nvSpPr>
        <p:spPr>
          <a:xfrm>
            <a:off x="1923100" y="1081950"/>
            <a:ext cx="75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M/L Risk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64" name="Google Shape;1764;p206"/>
          <p:cNvSpPr/>
          <p:nvPr/>
        </p:nvSpPr>
        <p:spPr>
          <a:xfrm>
            <a:off x="4808275" y="2204488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Checked for PF payments for last 4 months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65" name="Google Shape;1765;p206"/>
          <p:cNvSpPr/>
          <p:nvPr/>
        </p:nvSpPr>
        <p:spPr>
          <a:xfrm>
            <a:off x="4808275" y="2797513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Evaluated the employees count stats for last 4 months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66" name="Google Shape;1766;p206"/>
          <p:cNvSpPr/>
          <p:nvPr/>
        </p:nvSpPr>
        <p:spPr>
          <a:xfrm>
            <a:off x="4808275" y="3390538"/>
            <a:ext cx="3996300" cy="3978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Checked against shell company database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767" name="Google Shape;1767;p206"/>
          <p:cNvSpPr/>
          <p:nvPr/>
        </p:nvSpPr>
        <p:spPr>
          <a:xfrm>
            <a:off x="462550" y="4067050"/>
            <a:ext cx="8362800" cy="7968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06"/>
          <p:cNvSpPr txBox="1"/>
          <p:nvPr/>
        </p:nvSpPr>
        <p:spPr>
          <a:xfrm>
            <a:off x="314500" y="4141825"/>
            <a:ext cx="865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an average every one in 100 salary issuers are found to be between low-high risk based on their PF payment data</a:t>
            </a:r>
            <a:endParaRPr sz="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207"/>
          <p:cNvSpPr txBox="1"/>
          <p:nvPr>
            <p:ph type="title"/>
          </p:nvPr>
        </p:nvSpPr>
        <p:spPr>
          <a:xfrm>
            <a:off x="2227525" y="3699175"/>
            <a:ext cx="1880400" cy="679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Journey</a:t>
            </a:r>
            <a:r>
              <a:rPr b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</a:t>
            </a:r>
            <a:r>
              <a:rPr b="0"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Loan</a:t>
            </a:r>
            <a:endParaRPr b="0"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207"/>
          <p:cNvSpPr txBox="1"/>
          <p:nvPr>
            <p:ph type="title"/>
          </p:nvPr>
        </p:nvSpPr>
        <p:spPr>
          <a:xfrm>
            <a:off x="311519" y="962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As seen on one of the Education loan &amp; PL journey</a:t>
            </a:r>
            <a:endParaRPr sz="2200">
              <a:solidFill>
                <a:schemeClr val="dk1"/>
              </a:solidFill>
            </a:endParaRPr>
          </a:p>
        </p:txBody>
      </p:sp>
      <p:graphicFrame>
        <p:nvGraphicFramePr>
          <p:cNvPr id="1775" name="Google Shape;1775;p207"/>
          <p:cNvGraphicFramePr/>
          <p:nvPr/>
        </p:nvGraphicFramePr>
        <p:xfrm>
          <a:off x="159125" y="21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2758675"/>
                <a:gridCol w="996650"/>
              </a:tblGrid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Statements Considered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5000</a:t>
                      </a:r>
                      <a:endParaRPr b="1"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Risk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128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Medium Risk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300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Low Risk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65</a:t>
                      </a:r>
                      <a:endParaRPr b="1" sz="1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6" name="Google Shape;1776;p207"/>
          <p:cNvGraphicFramePr/>
          <p:nvPr/>
        </p:nvGraphicFramePr>
        <p:xfrm>
          <a:off x="4107925" y="900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1318175"/>
                <a:gridCol w="3485175"/>
              </a:tblGrid>
              <a:tr h="209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b="1" sz="11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Salary Issuer Name</a:t>
                      </a:r>
                      <a:endParaRPr b="1" sz="11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55CC"/>
                    </a:solidFill>
                  </a:tcPr>
                </a:tc>
              </a:tr>
              <a:tr h="1171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Risk</a:t>
                      </a:r>
                      <a:endParaRPr b="1" sz="11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PLANET PCI INFOTECH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DUTTA AUTOMOBILE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TVISHI SERVICES PRIVATE LIMITED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MACLEODS PHARMACEUTICALS LTD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MAURER STANFIELD INDIA LIMITED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71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Medium Risk</a:t>
                      </a:r>
                      <a:endParaRPr b="1" sz="11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VISIPAK PRIVATE LIMITED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K G T GINGER TRADERS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RVM DIGITAL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KALAMANDIR JEWELLERS LIMITED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 V SANKARALINGA NADAR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8625"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Low Risk</a:t>
                      </a:r>
                      <a:endParaRPr b="1" sz="11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RANJIT BUILDCON LIMITED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KANAKA FOOD MANAGEMENT SERVICES PRIVATE LIMITED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AUTHENTIC OCEAN TREASURE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THE MONTANA GROUP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OM SAINATH PRESSTECH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775">
                <a:tc vMerge="1"/>
                <a:tc vMerge="1"/>
              </a:tr>
              <a:tr h="177775">
                <a:tc vMerge="1"/>
                <a:tc vMerge="1"/>
              </a:tr>
              <a:tr h="177775">
                <a:tc vMerge="1"/>
                <a:tc vMerge="1"/>
              </a:tr>
              <a:tr h="461975"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1" name="Google Shape;1781;p208"/>
          <p:cNvCxnSpPr/>
          <p:nvPr/>
        </p:nvCxnSpPr>
        <p:spPr>
          <a:xfrm flipH="1">
            <a:off x="3322888" y="1630250"/>
            <a:ext cx="300" cy="415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782" name="Google Shape;1782;p208"/>
          <p:cNvCxnSpPr/>
          <p:nvPr/>
        </p:nvCxnSpPr>
        <p:spPr>
          <a:xfrm flipH="1">
            <a:off x="3322875" y="2743050"/>
            <a:ext cx="300" cy="415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783" name="Google Shape;1783;p208"/>
          <p:cNvSpPr txBox="1"/>
          <p:nvPr>
            <p:ph type="title"/>
          </p:nvPr>
        </p:nvSpPr>
        <p:spPr>
          <a:xfrm>
            <a:off x="387725" y="172425"/>
            <a:ext cx="7808400" cy="6723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There are many such issues that current tools are completely missing</a:t>
            </a:r>
            <a:endParaRPr sz="2200"/>
          </a:p>
        </p:txBody>
      </p:sp>
      <p:graphicFrame>
        <p:nvGraphicFramePr>
          <p:cNvPr id="1784" name="Google Shape;1784;p208"/>
          <p:cNvGraphicFramePr/>
          <p:nvPr/>
        </p:nvGraphicFramePr>
        <p:xfrm>
          <a:off x="455050" y="102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2149250"/>
                <a:gridCol w="3142200"/>
                <a:gridCol w="2645725"/>
              </a:tblGrid>
              <a:tr h="55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Process Step</a:t>
                      </a:r>
                      <a:endParaRPr b="1"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Key Gaps</a:t>
                      </a:r>
                      <a:endParaRPr b="1"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Impact</a:t>
                      </a:r>
                      <a:endParaRPr b="1" sz="12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014625">
                <a:tc>
                  <a:txBody>
                    <a:bodyPr/>
                    <a:lstStyle/>
                    <a:p>
                      <a:pPr indent="-17145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 Documents Collection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Tampered bank statements accepted</a:t>
                      </a:r>
                      <a:endParaRPr sz="1100"/>
                    </a:p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SzPts val="1100"/>
                        <a:buChar char="●"/>
                      </a:pPr>
                      <a:r>
                        <a:rPr lang="en" sz="1100"/>
                        <a:t>Illegible</a:t>
                      </a:r>
                      <a:r>
                        <a:rPr lang="en" sz="1100"/>
                        <a:t> documents sent for processing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" sz="1100"/>
                        <a:t>Multiple steps required for customers</a:t>
                      </a:r>
                      <a:endParaRPr sz="1100"/>
                    </a:p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SzPts val="1100"/>
                        <a:buChar char="●"/>
                      </a:pPr>
                      <a:r>
                        <a:rPr lang="en" sz="1100"/>
                        <a:t>Fraud accepted in system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4625">
                <a:tc>
                  <a:txBody>
                    <a:bodyPr/>
                    <a:lstStyle/>
                    <a:p>
                      <a:pPr indent="-17145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 Bank Statement - Extraction</a:t>
                      </a:r>
                      <a:endParaRPr b="1" sz="12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Up to 4 hours required to process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Involves manual support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Limited STP journeys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Poor customer experience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450">
                <a:tc>
                  <a:txBody>
                    <a:bodyPr/>
                    <a:lstStyle/>
                    <a:p>
                      <a:pPr indent="-17145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 Bank Statement - Analysis</a:t>
                      </a:r>
                      <a:endParaRPr b="1" sz="12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Only basic analysis - No deep insights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Incorrect assessment of income and debt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Leaving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value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on the table by not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leveraging insights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184150" lvl="0" marL="17145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Incorrect risk assessment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CEC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209"/>
          <p:cNvSpPr/>
          <p:nvPr/>
        </p:nvSpPr>
        <p:spPr>
          <a:xfrm>
            <a:off x="2345500" y="884400"/>
            <a:ext cx="4826700" cy="376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0" name="Google Shape;1790;p209"/>
          <p:cNvSpPr txBox="1"/>
          <p:nvPr>
            <p:ph type="title"/>
          </p:nvPr>
        </p:nvSpPr>
        <p:spPr>
          <a:xfrm>
            <a:off x="131944" y="103725"/>
            <a:ext cx="7292700" cy="520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n" sz="2100"/>
              <a:t>The current solutions are fundamentally limited by architecture and cannot support any dynamic intelligence</a:t>
            </a:r>
            <a:endParaRPr sz="2100"/>
          </a:p>
        </p:txBody>
      </p:sp>
      <p:sp>
        <p:nvSpPr>
          <p:cNvPr id="1791" name="Google Shape;1791;p209"/>
          <p:cNvSpPr/>
          <p:nvPr/>
        </p:nvSpPr>
        <p:spPr>
          <a:xfrm>
            <a:off x="259350" y="93787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2" name="Google Shape;1792;p209"/>
          <p:cNvSpPr/>
          <p:nvPr/>
        </p:nvSpPr>
        <p:spPr>
          <a:xfrm>
            <a:off x="7798613" y="912313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3" name="Google Shape;1793;p209"/>
          <p:cNvSpPr txBox="1"/>
          <p:nvPr/>
        </p:nvSpPr>
        <p:spPr>
          <a:xfrm>
            <a:off x="340794" y="1857028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PDF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4" name="Google Shape;1794;p209"/>
          <p:cNvSpPr txBox="1"/>
          <p:nvPr/>
        </p:nvSpPr>
        <p:spPr>
          <a:xfrm>
            <a:off x="385925" y="2897803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Netbanking Fetch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5" name="Google Shape;1795;p209"/>
          <p:cNvSpPr txBox="1"/>
          <p:nvPr/>
        </p:nvSpPr>
        <p:spPr>
          <a:xfrm>
            <a:off x="372469" y="3938569"/>
            <a:ext cx="1007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Aggregator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6" name="Google Shape;1796;p209"/>
          <p:cNvSpPr/>
          <p:nvPr/>
        </p:nvSpPr>
        <p:spPr>
          <a:xfrm>
            <a:off x="405163" y="778100"/>
            <a:ext cx="9420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7" name="Google Shape;1797;p209"/>
          <p:cNvSpPr/>
          <p:nvPr/>
        </p:nvSpPr>
        <p:spPr>
          <a:xfrm>
            <a:off x="2741625" y="783150"/>
            <a:ext cx="40803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Solutions - Completely Static Process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8" name="Google Shape;1798;p209"/>
          <p:cNvSpPr/>
          <p:nvPr/>
        </p:nvSpPr>
        <p:spPr>
          <a:xfrm>
            <a:off x="7967519" y="718563"/>
            <a:ext cx="9195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Modules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9" name="Google Shape;1799;p209"/>
          <p:cNvSpPr txBox="1"/>
          <p:nvPr/>
        </p:nvSpPr>
        <p:spPr>
          <a:xfrm>
            <a:off x="7956275" y="1798100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Dashboard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0" name="Google Shape;1800;p209"/>
          <p:cNvSpPr txBox="1"/>
          <p:nvPr/>
        </p:nvSpPr>
        <p:spPr>
          <a:xfrm>
            <a:off x="7991350" y="2732825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Excel Response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1" name="Google Shape;1801;p209"/>
          <p:cNvSpPr txBox="1"/>
          <p:nvPr/>
        </p:nvSpPr>
        <p:spPr>
          <a:xfrm>
            <a:off x="7904950" y="3819950"/>
            <a:ext cx="1114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JSON Integration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2" name="Google Shape;1802;p209"/>
          <p:cNvSpPr/>
          <p:nvPr/>
        </p:nvSpPr>
        <p:spPr>
          <a:xfrm rot="5400000">
            <a:off x="6291944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3" name="Google Shape;1803;p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37" y="13856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2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25" y="2250950"/>
            <a:ext cx="520425" cy="5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2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325" y="34672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2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2300" y="1336673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2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82298" y="3369300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20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2675" y="2346500"/>
            <a:ext cx="392000" cy="3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209"/>
          <p:cNvSpPr/>
          <p:nvPr/>
        </p:nvSpPr>
        <p:spPr>
          <a:xfrm rot="5400000">
            <a:off x="674159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0" name="Google Shape;1810;p209"/>
          <p:cNvSpPr txBox="1"/>
          <p:nvPr/>
        </p:nvSpPr>
        <p:spPr>
          <a:xfrm>
            <a:off x="2817800" y="2371732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Statement Transaction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1" name="Google Shape;1811;p209"/>
          <p:cNvSpPr txBox="1"/>
          <p:nvPr/>
        </p:nvSpPr>
        <p:spPr>
          <a:xfrm>
            <a:off x="5745825" y="2624625"/>
            <a:ext cx="1204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Helvetica Neue"/>
                <a:ea typeface="Helvetica Neue"/>
                <a:cs typeface="Helvetica Neue"/>
                <a:sym typeface="Helvetica Neue"/>
              </a:rPr>
              <a:t>Basic Pre-defined Variable Calculator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12" name="Google Shape;1812;p20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59887" y="2292243"/>
            <a:ext cx="333875" cy="333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3" name="Google Shape;1813;p209"/>
          <p:cNvCxnSpPr/>
          <p:nvPr/>
        </p:nvCxnSpPr>
        <p:spPr>
          <a:xfrm>
            <a:off x="5145075" y="2541607"/>
            <a:ext cx="2289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210"/>
          <p:cNvSpPr/>
          <p:nvPr/>
        </p:nvSpPr>
        <p:spPr>
          <a:xfrm>
            <a:off x="2345500" y="884400"/>
            <a:ext cx="4826700" cy="376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19" name="Google Shape;1819;p210"/>
          <p:cNvCxnSpPr/>
          <p:nvPr/>
        </p:nvCxnSpPr>
        <p:spPr>
          <a:xfrm rot="10800000">
            <a:off x="3146106" y="3256806"/>
            <a:ext cx="4500" cy="8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0" name="Google Shape;1820;p210"/>
          <p:cNvSpPr txBox="1"/>
          <p:nvPr>
            <p:ph type="title"/>
          </p:nvPr>
        </p:nvSpPr>
        <p:spPr>
          <a:xfrm>
            <a:off x="131944" y="103725"/>
            <a:ext cx="7292700" cy="520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n" sz="2100"/>
              <a:t>IDfy’s fundamental architecture is based on highly enriched data from a wide variety of sources</a:t>
            </a:r>
            <a:endParaRPr sz="2100"/>
          </a:p>
        </p:txBody>
      </p:sp>
      <p:sp>
        <p:nvSpPr>
          <p:cNvPr id="1821" name="Google Shape;1821;p210"/>
          <p:cNvSpPr/>
          <p:nvPr/>
        </p:nvSpPr>
        <p:spPr>
          <a:xfrm>
            <a:off x="259350" y="93787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2" name="Google Shape;1822;p210"/>
          <p:cNvSpPr/>
          <p:nvPr/>
        </p:nvSpPr>
        <p:spPr>
          <a:xfrm>
            <a:off x="7798613" y="912313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3" name="Google Shape;1823;p210"/>
          <p:cNvSpPr txBox="1"/>
          <p:nvPr/>
        </p:nvSpPr>
        <p:spPr>
          <a:xfrm>
            <a:off x="340794" y="1857028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PDF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4" name="Google Shape;1824;p210"/>
          <p:cNvSpPr txBox="1"/>
          <p:nvPr/>
        </p:nvSpPr>
        <p:spPr>
          <a:xfrm>
            <a:off x="385925" y="2897803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Netbanking Fetch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5" name="Google Shape;1825;p210"/>
          <p:cNvSpPr txBox="1"/>
          <p:nvPr/>
        </p:nvSpPr>
        <p:spPr>
          <a:xfrm>
            <a:off x="372469" y="3938569"/>
            <a:ext cx="1007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Aggregator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6" name="Google Shape;1826;p210"/>
          <p:cNvSpPr/>
          <p:nvPr/>
        </p:nvSpPr>
        <p:spPr>
          <a:xfrm>
            <a:off x="405163" y="778100"/>
            <a:ext cx="9420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7" name="Google Shape;1827;p210"/>
          <p:cNvSpPr/>
          <p:nvPr/>
        </p:nvSpPr>
        <p:spPr>
          <a:xfrm>
            <a:off x="2817825" y="783150"/>
            <a:ext cx="40803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- 1: Enriching Data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8" name="Google Shape;1828;p210"/>
          <p:cNvSpPr/>
          <p:nvPr/>
        </p:nvSpPr>
        <p:spPr>
          <a:xfrm>
            <a:off x="7967519" y="794763"/>
            <a:ext cx="9195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Modules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9" name="Google Shape;1829;p210"/>
          <p:cNvSpPr txBox="1"/>
          <p:nvPr/>
        </p:nvSpPr>
        <p:spPr>
          <a:xfrm>
            <a:off x="7956275" y="1798100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Dashboard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0" name="Google Shape;1830;p210"/>
          <p:cNvSpPr txBox="1"/>
          <p:nvPr/>
        </p:nvSpPr>
        <p:spPr>
          <a:xfrm>
            <a:off x="7991350" y="2732825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Excel Response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1" name="Google Shape;1831;p210"/>
          <p:cNvSpPr txBox="1"/>
          <p:nvPr/>
        </p:nvSpPr>
        <p:spPr>
          <a:xfrm>
            <a:off x="7904950" y="3819950"/>
            <a:ext cx="1114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JSON Integration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2" name="Google Shape;1832;p210"/>
          <p:cNvSpPr/>
          <p:nvPr/>
        </p:nvSpPr>
        <p:spPr>
          <a:xfrm rot="5400000">
            <a:off x="6291944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3" name="Google Shape;1833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37" y="13856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2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25" y="2250950"/>
            <a:ext cx="520425" cy="5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2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325" y="34672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6" name="Google Shape;1836;p2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2300" y="1336673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2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82298" y="3369300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2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2675" y="2346500"/>
            <a:ext cx="392000" cy="3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210"/>
          <p:cNvSpPr/>
          <p:nvPr/>
        </p:nvSpPr>
        <p:spPr>
          <a:xfrm rot="5400000">
            <a:off x="674159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0" name="Google Shape;1840;p210"/>
          <p:cNvSpPr txBox="1"/>
          <p:nvPr/>
        </p:nvSpPr>
        <p:spPr>
          <a:xfrm>
            <a:off x="2817813" y="2888253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Consolidated IDfy</a:t>
            </a: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Platform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1" name="Google Shape;1841;p210"/>
          <p:cNvCxnSpPr/>
          <p:nvPr/>
        </p:nvCxnSpPr>
        <p:spPr>
          <a:xfrm rot="10800000">
            <a:off x="4124556" y="3256806"/>
            <a:ext cx="4500" cy="8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2" name="Google Shape;1842;p210"/>
          <p:cNvSpPr txBox="1"/>
          <p:nvPr/>
        </p:nvSpPr>
        <p:spPr>
          <a:xfrm>
            <a:off x="3614875" y="3502550"/>
            <a:ext cx="1089900" cy="3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0505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Connectors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3" name="Google Shape;1843;p210"/>
          <p:cNvSpPr txBox="1"/>
          <p:nvPr/>
        </p:nvSpPr>
        <p:spPr>
          <a:xfrm>
            <a:off x="2644650" y="4020150"/>
            <a:ext cx="10074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Unstructured Public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(Court Records, e-FIR, Socials)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4" name="Google Shape;1844;p210"/>
          <p:cNvSpPr txBox="1"/>
          <p:nvPr/>
        </p:nvSpPr>
        <p:spPr>
          <a:xfrm>
            <a:off x="3548550" y="4020150"/>
            <a:ext cx="11565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(EPFO, GST, Aadhaar, PAN)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5" name="Google Shape;1845;p210"/>
          <p:cNvSpPr txBox="1"/>
          <p:nvPr/>
        </p:nvSpPr>
        <p:spPr>
          <a:xfrm>
            <a:off x="2809724" y="3502500"/>
            <a:ext cx="694500" cy="3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0505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Layer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6" name="Google Shape;1846;p210"/>
          <p:cNvSpPr txBox="1"/>
          <p:nvPr/>
        </p:nvSpPr>
        <p:spPr>
          <a:xfrm>
            <a:off x="2817800" y="2371732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Statement Transaction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7" name="Google Shape;1847;p210"/>
          <p:cNvCxnSpPr>
            <a:stCxn id="1840" idx="0"/>
            <a:endCxn id="1846" idx="2"/>
          </p:cNvCxnSpPr>
          <p:nvPr/>
        </p:nvCxnSpPr>
        <p:spPr>
          <a:xfrm rot="10800000">
            <a:off x="3761313" y="2740353"/>
            <a:ext cx="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8" name="Google Shape;1848;p210"/>
          <p:cNvSpPr txBox="1"/>
          <p:nvPr/>
        </p:nvSpPr>
        <p:spPr>
          <a:xfrm>
            <a:off x="2817813" y="1668600"/>
            <a:ext cx="1887000" cy="55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 Exclusive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(Shell Companies, Demographic Risk Indicators et al)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49" name="Google Shape;1849;p210"/>
          <p:cNvCxnSpPr>
            <a:stCxn id="1848" idx="2"/>
            <a:endCxn id="1846" idx="0"/>
          </p:cNvCxnSpPr>
          <p:nvPr/>
        </p:nvCxnSpPr>
        <p:spPr>
          <a:xfrm>
            <a:off x="3761313" y="2223900"/>
            <a:ext cx="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0" name="Google Shape;1850;p210"/>
          <p:cNvSpPr/>
          <p:nvPr/>
        </p:nvSpPr>
        <p:spPr>
          <a:xfrm>
            <a:off x="2809525" y="1239575"/>
            <a:ext cx="18954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Consolidation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1" name="Google Shape;1851;p210"/>
          <p:cNvSpPr txBox="1"/>
          <p:nvPr/>
        </p:nvSpPr>
        <p:spPr>
          <a:xfrm>
            <a:off x="5745825" y="2624625"/>
            <a:ext cx="12045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</a:t>
            </a:r>
            <a:r>
              <a:rPr b="1" lang="en" sz="8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Predefined</a:t>
            </a:r>
            <a:r>
              <a:rPr b="1" lang="en" sz="8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Variable Calculator</a:t>
            </a:r>
            <a:endParaRPr b="1" sz="8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52" name="Google Shape;1852;p210"/>
          <p:cNvPicPr preferRelativeResize="0"/>
          <p:nvPr/>
        </p:nvPicPr>
        <p:blipFill>
          <a:blip r:embed="rId9">
            <a:alphaModFix amt="46000"/>
          </a:blip>
          <a:stretch>
            <a:fillRect/>
          </a:stretch>
        </p:blipFill>
        <p:spPr>
          <a:xfrm>
            <a:off x="6159887" y="2292243"/>
            <a:ext cx="333875" cy="333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3" name="Google Shape;1853;p210"/>
          <p:cNvCxnSpPr/>
          <p:nvPr/>
        </p:nvCxnSpPr>
        <p:spPr>
          <a:xfrm>
            <a:off x="5145075" y="2541607"/>
            <a:ext cx="2289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211"/>
          <p:cNvSpPr/>
          <p:nvPr/>
        </p:nvSpPr>
        <p:spPr>
          <a:xfrm>
            <a:off x="2345500" y="884400"/>
            <a:ext cx="4826700" cy="376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59" name="Google Shape;1859;p211"/>
          <p:cNvCxnSpPr/>
          <p:nvPr/>
        </p:nvCxnSpPr>
        <p:spPr>
          <a:xfrm rot="10800000">
            <a:off x="3146106" y="3256806"/>
            <a:ext cx="4500" cy="8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0" name="Google Shape;1860;p211"/>
          <p:cNvSpPr txBox="1"/>
          <p:nvPr>
            <p:ph type="title"/>
          </p:nvPr>
        </p:nvSpPr>
        <p:spPr>
          <a:xfrm>
            <a:off x="131944" y="103725"/>
            <a:ext cx="7292700" cy="520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n" sz="2100"/>
              <a:t>Our proprietary AI/ML layer</a:t>
            </a:r>
            <a:r>
              <a:rPr lang="en" sz="2100"/>
              <a:t> is designed to give unparalleled insights</a:t>
            </a:r>
            <a:endParaRPr sz="2100"/>
          </a:p>
        </p:txBody>
      </p:sp>
      <p:sp>
        <p:nvSpPr>
          <p:cNvPr id="1861" name="Google Shape;1861;p211"/>
          <p:cNvSpPr/>
          <p:nvPr/>
        </p:nvSpPr>
        <p:spPr>
          <a:xfrm>
            <a:off x="259350" y="93787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2" name="Google Shape;1862;p211"/>
          <p:cNvSpPr/>
          <p:nvPr/>
        </p:nvSpPr>
        <p:spPr>
          <a:xfrm>
            <a:off x="7798613" y="912313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3" name="Google Shape;1863;p211"/>
          <p:cNvSpPr txBox="1"/>
          <p:nvPr/>
        </p:nvSpPr>
        <p:spPr>
          <a:xfrm>
            <a:off x="340794" y="1857028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PDF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4" name="Google Shape;1864;p211"/>
          <p:cNvSpPr txBox="1"/>
          <p:nvPr/>
        </p:nvSpPr>
        <p:spPr>
          <a:xfrm>
            <a:off x="385925" y="2897803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Netbanking Fetch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5" name="Google Shape;1865;p211"/>
          <p:cNvSpPr txBox="1"/>
          <p:nvPr/>
        </p:nvSpPr>
        <p:spPr>
          <a:xfrm>
            <a:off x="372469" y="3938569"/>
            <a:ext cx="1007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Aggregator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6" name="Google Shape;1866;p211"/>
          <p:cNvSpPr/>
          <p:nvPr/>
        </p:nvSpPr>
        <p:spPr>
          <a:xfrm>
            <a:off x="405163" y="778100"/>
            <a:ext cx="9420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7" name="Google Shape;1867;p211"/>
          <p:cNvSpPr/>
          <p:nvPr/>
        </p:nvSpPr>
        <p:spPr>
          <a:xfrm>
            <a:off x="2817825" y="783150"/>
            <a:ext cx="40803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Delivering Intelligence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8" name="Google Shape;1868;p211"/>
          <p:cNvSpPr/>
          <p:nvPr/>
        </p:nvSpPr>
        <p:spPr>
          <a:xfrm>
            <a:off x="7967519" y="718563"/>
            <a:ext cx="9195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Modules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9" name="Google Shape;1869;p211"/>
          <p:cNvSpPr txBox="1"/>
          <p:nvPr/>
        </p:nvSpPr>
        <p:spPr>
          <a:xfrm>
            <a:off x="7956275" y="1798100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Dashboard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0" name="Google Shape;1870;p211"/>
          <p:cNvSpPr txBox="1"/>
          <p:nvPr/>
        </p:nvSpPr>
        <p:spPr>
          <a:xfrm>
            <a:off x="7991350" y="2732825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Excel Response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1" name="Google Shape;1871;p211"/>
          <p:cNvSpPr txBox="1"/>
          <p:nvPr/>
        </p:nvSpPr>
        <p:spPr>
          <a:xfrm>
            <a:off x="7904950" y="3819950"/>
            <a:ext cx="1114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JSON Integration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2" name="Google Shape;1872;p211"/>
          <p:cNvSpPr/>
          <p:nvPr/>
        </p:nvSpPr>
        <p:spPr>
          <a:xfrm rot="5400000">
            <a:off x="6291944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73" name="Google Shape;1873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37" y="13856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" name="Google Shape;1874;p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25" y="2250950"/>
            <a:ext cx="520425" cy="5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5" name="Google Shape;1875;p2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325" y="34672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6" name="Google Shape;1876;p2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2300" y="1336673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7" name="Google Shape;1877;p2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82298" y="3369300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8" name="Google Shape;1878;p2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62675" y="2346500"/>
            <a:ext cx="392000" cy="3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211"/>
          <p:cNvSpPr/>
          <p:nvPr/>
        </p:nvSpPr>
        <p:spPr>
          <a:xfrm rot="5400000">
            <a:off x="674159" y="28595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0" name="Google Shape;1880;p211"/>
          <p:cNvSpPr txBox="1"/>
          <p:nvPr/>
        </p:nvSpPr>
        <p:spPr>
          <a:xfrm>
            <a:off x="2817813" y="2888253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Consolidated IDfy Data Platform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81" name="Google Shape;1881;p211"/>
          <p:cNvCxnSpPr/>
          <p:nvPr/>
        </p:nvCxnSpPr>
        <p:spPr>
          <a:xfrm rot="10800000">
            <a:off x="4124556" y="3256806"/>
            <a:ext cx="4500" cy="8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2" name="Google Shape;1882;p211"/>
          <p:cNvSpPr txBox="1"/>
          <p:nvPr/>
        </p:nvSpPr>
        <p:spPr>
          <a:xfrm>
            <a:off x="3614875" y="3502550"/>
            <a:ext cx="1089900" cy="3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0505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Connectors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3" name="Google Shape;1883;p211"/>
          <p:cNvSpPr txBox="1"/>
          <p:nvPr/>
        </p:nvSpPr>
        <p:spPr>
          <a:xfrm>
            <a:off x="2644650" y="4020150"/>
            <a:ext cx="10074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Unstructured Public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(Court Records, e-FIR, Socials)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4" name="Google Shape;1884;p211"/>
          <p:cNvSpPr txBox="1"/>
          <p:nvPr/>
        </p:nvSpPr>
        <p:spPr>
          <a:xfrm>
            <a:off x="3548550" y="4020150"/>
            <a:ext cx="11565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(EPFO, GST, Aadhaar, PAN)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5" name="Google Shape;1885;p211"/>
          <p:cNvSpPr txBox="1"/>
          <p:nvPr/>
        </p:nvSpPr>
        <p:spPr>
          <a:xfrm>
            <a:off x="2809724" y="3502500"/>
            <a:ext cx="694500" cy="32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50505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Layer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6" name="Google Shape;1886;p211"/>
          <p:cNvSpPr txBox="1"/>
          <p:nvPr/>
        </p:nvSpPr>
        <p:spPr>
          <a:xfrm>
            <a:off x="2817800" y="2371732"/>
            <a:ext cx="1887000" cy="368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Statement Transaction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87" name="Google Shape;1887;p211"/>
          <p:cNvCxnSpPr>
            <a:stCxn id="1880" idx="0"/>
            <a:endCxn id="1886" idx="2"/>
          </p:cNvCxnSpPr>
          <p:nvPr/>
        </p:nvCxnSpPr>
        <p:spPr>
          <a:xfrm rot="10800000">
            <a:off x="3761313" y="2740353"/>
            <a:ext cx="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8" name="Google Shape;1888;p211"/>
          <p:cNvSpPr txBox="1"/>
          <p:nvPr/>
        </p:nvSpPr>
        <p:spPr>
          <a:xfrm>
            <a:off x="2817813" y="1668600"/>
            <a:ext cx="1887000" cy="555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 Exclusive Data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(Shell Companies, Demographic Risk Indicators et al)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89" name="Google Shape;1889;p211"/>
          <p:cNvCxnSpPr>
            <a:stCxn id="1888" idx="2"/>
            <a:endCxn id="1886" idx="0"/>
          </p:cNvCxnSpPr>
          <p:nvPr/>
        </p:nvCxnSpPr>
        <p:spPr>
          <a:xfrm>
            <a:off x="3761313" y="2223900"/>
            <a:ext cx="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0" name="Google Shape;1890;p211"/>
          <p:cNvSpPr/>
          <p:nvPr/>
        </p:nvSpPr>
        <p:spPr>
          <a:xfrm>
            <a:off x="2809525" y="1239575"/>
            <a:ext cx="18954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Consolidation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1" name="Google Shape;1891;p211"/>
          <p:cNvSpPr/>
          <p:nvPr/>
        </p:nvSpPr>
        <p:spPr>
          <a:xfrm>
            <a:off x="4928075" y="1239550"/>
            <a:ext cx="18870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Insight Generation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2" name="Google Shape;1892;p211"/>
          <p:cNvSpPr txBox="1"/>
          <p:nvPr/>
        </p:nvSpPr>
        <p:spPr>
          <a:xfrm>
            <a:off x="4928075" y="1668600"/>
            <a:ext cx="900000" cy="2948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Proprietary AI/ML Layer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“Insights OS” by IDfy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93" name="Google Shape;1893;p2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59887" y="1768568"/>
            <a:ext cx="333876" cy="33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4" name="Google Shape;1894;p211"/>
          <p:cNvSpPr txBox="1"/>
          <p:nvPr/>
        </p:nvSpPr>
        <p:spPr>
          <a:xfrm>
            <a:off x="5858375" y="2187625"/>
            <a:ext cx="936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Scoring Engines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95" name="Google Shape;1895;p21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59887" y="2748081"/>
            <a:ext cx="333875" cy="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6" name="Google Shape;1896;p2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59887" y="3766188"/>
            <a:ext cx="333875" cy="333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211"/>
          <p:cNvSpPr txBox="1"/>
          <p:nvPr/>
        </p:nvSpPr>
        <p:spPr>
          <a:xfrm>
            <a:off x="5927375" y="4136788"/>
            <a:ext cx="798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Analysis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8" name="Google Shape;1898;p211"/>
          <p:cNvSpPr txBox="1"/>
          <p:nvPr/>
        </p:nvSpPr>
        <p:spPr>
          <a:xfrm>
            <a:off x="5838575" y="3118700"/>
            <a:ext cx="976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Triangulation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99" name="Google Shape;1899;p211"/>
          <p:cNvCxnSpPr>
            <a:stCxn id="1888" idx="3"/>
          </p:cNvCxnSpPr>
          <p:nvPr/>
        </p:nvCxnSpPr>
        <p:spPr>
          <a:xfrm flipH="1" rot="10800000">
            <a:off x="4704813" y="1837950"/>
            <a:ext cx="228900" cy="1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0" name="Google Shape;1900;p211"/>
          <p:cNvCxnSpPr>
            <a:stCxn id="1886" idx="3"/>
          </p:cNvCxnSpPr>
          <p:nvPr/>
        </p:nvCxnSpPr>
        <p:spPr>
          <a:xfrm>
            <a:off x="4704800" y="2556082"/>
            <a:ext cx="2289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1" name="Google Shape;1901;p211"/>
          <p:cNvCxnSpPr>
            <a:stCxn id="1880" idx="3"/>
            <a:endCxn id="1892" idx="1"/>
          </p:cNvCxnSpPr>
          <p:nvPr/>
        </p:nvCxnSpPr>
        <p:spPr>
          <a:xfrm>
            <a:off x="4704813" y="3072603"/>
            <a:ext cx="223200" cy="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C43B9"/>
        </a:solidFill>
      </p:bgPr>
    </p:bg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212"/>
          <p:cNvSpPr txBox="1"/>
          <p:nvPr>
            <p:ph type="title"/>
          </p:nvPr>
        </p:nvSpPr>
        <p:spPr>
          <a:xfrm>
            <a:off x="455044" y="2009963"/>
            <a:ext cx="79926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30"/>
              <a:buNone/>
            </a:pPr>
            <a:r>
              <a:rPr i="1" lang="en" sz="2900">
                <a:solidFill>
                  <a:schemeClr val="lt1"/>
                </a:solidFill>
              </a:rPr>
              <a:t>Introducing</a:t>
            </a:r>
            <a:br>
              <a:rPr lang="en" sz="2900">
                <a:solidFill>
                  <a:schemeClr val="lt1"/>
                </a:solidFill>
              </a:rPr>
            </a:br>
            <a:r>
              <a:rPr lang="en" sz="2900">
                <a:solidFill>
                  <a:schemeClr val="lt1"/>
                </a:solidFill>
              </a:rPr>
              <a:t>IDfy’s Transaction Intelligence Platform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1" name="Google Shape;1911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5800" y="1086950"/>
            <a:ext cx="3563425" cy="3563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213"/>
          <p:cNvSpPr txBox="1"/>
          <p:nvPr>
            <p:ph type="title"/>
          </p:nvPr>
        </p:nvSpPr>
        <p:spPr>
          <a:xfrm>
            <a:off x="311519" y="134750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 complete overhaul of bank statement analysis in your journey!</a:t>
            </a:r>
            <a:endParaRPr sz="2200"/>
          </a:p>
        </p:txBody>
      </p:sp>
      <p:sp>
        <p:nvSpPr>
          <p:cNvPr id="1913" name="Google Shape;1913;p213"/>
          <p:cNvSpPr txBox="1"/>
          <p:nvPr/>
        </p:nvSpPr>
        <p:spPr>
          <a:xfrm>
            <a:off x="3417625" y="1408025"/>
            <a:ext cx="51435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lphaUcPeriod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End-to-end platform with enhanced capabilities at each stage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lphaUcPeriod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Unparalleled insights - Above and beyond the bank statement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lphaUcPeriod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Industry leading coverage and hit rate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AutoNum type="alphaUcPeriod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Seamless integration and modular pricing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214"/>
          <p:cNvSpPr txBox="1"/>
          <p:nvPr/>
        </p:nvSpPr>
        <p:spPr>
          <a:xfrm>
            <a:off x="176625" y="219475"/>
            <a:ext cx="82815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End-to-end platform with advanced capabilities at each stage</a:t>
            </a:r>
            <a:endParaRPr b="1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Enhanced Bank Statement Analysis</a:t>
            </a:r>
            <a:endParaRPr b="1" i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19" name="Google Shape;1919;p214"/>
          <p:cNvCxnSpPr/>
          <p:nvPr/>
        </p:nvCxnSpPr>
        <p:spPr>
          <a:xfrm flipH="1" rot="10800000">
            <a:off x="307481" y="2755306"/>
            <a:ext cx="8150700" cy="5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214"/>
          <p:cNvSpPr/>
          <p:nvPr/>
        </p:nvSpPr>
        <p:spPr>
          <a:xfrm>
            <a:off x="486814" y="2600281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1" name="Google Shape;1921;p214"/>
          <p:cNvSpPr/>
          <p:nvPr/>
        </p:nvSpPr>
        <p:spPr>
          <a:xfrm>
            <a:off x="3360599" y="2600281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2" name="Google Shape;1922;p214"/>
          <p:cNvSpPr/>
          <p:nvPr/>
        </p:nvSpPr>
        <p:spPr>
          <a:xfrm>
            <a:off x="4001837" y="2600281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3" name="Google Shape;1923;p214"/>
          <p:cNvSpPr txBox="1"/>
          <p:nvPr/>
        </p:nvSpPr>
        <p:spPr>
          <a:xfrm>
            <a:off x="486814" y="2570822"/>
            <a:ext cx="299400" cy="415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4" name="Google Shape;1924;p214"/>
          <p:cNvSpPr txBox="1"/>
          <p:nvPr/>
        </p:nvSpPr>
        <p:spPr>
          <a:xfrm>
            <a:off x="3360599" y="2570822"/>
            <a:ext cx="299400" cy="415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5" name="Google Shape;1925;p214"/>
          <p:cNvSpPr txBox="1"/>
          <p:nvPr/>
        </p:nvSpPr>
        <p:spPr>
          <a:xfrm>
            <a:off x="4001837" y="2570822"/>
            <a:ext cx="299400" cy="415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6" name="Google Shape;1926;p214"/>
          <p:cNvSpPr txBox="1"/>
          <p:nvPr/>
        </p:nvSpPr>
        <p:spPr>
          <a:xfrm>
            <a:off x="486805" y="1332469"/>
            <a:ext cx="1828500" cy="50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Document Collection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KYC Completion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7" name="Google Shape;1927;p214"/>
          <p:cNvSpPr txBox="1"/>
          <p:nvPr/>
        </p:nvSpPr>
        <p:spPr>
          <a:xfrm>
            <a:off x="1341325" y="3545475"/>
            <a:ext cx="2319000" cy="10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Document Fitness Check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Advanced Tampering Check </a:t>
            </a:r>
            <a:r>
              <a:rPr b="1" lang="en" sz="10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</a:t>
            </a:r>
            <a:r>
              <a:rPr b="1" lang="en" sz="10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lassify</a:t>
            </a:r>
            <a:r>
              <a:rPr b="1" lang="en" sz="10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inconclusive cases to fraud and genuine)</a:t>
            </a:r>
            <a:endParaRPr b="1" sz="10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8" name="Google Shape;1928;p214"/>
          <p:cNvSpPr txBox="1"/>
          <p:nvPr/>
        </p:nvSpPr>
        <p:spPr>
          <a:xfrm>
            <a:off x="4001831" y="1285256"/>
            <a:ext cx="4134900" cy="10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Support for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 Banking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&amp; Account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Aggregator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Format agnostic mode of data extraction for PDF upload</a:t>
            </a:r>
            <a:endParaRPr b="1" sz="11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AI based extraction for Scanned documents leading to lower TAT</a:t>
            </a:r>
            <a:endParaRPr b="1" sz="11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9" name="Google Shape;1929;p214"/>
          <p:cNvSpPr txBox="1"/>
          <p:nvPr/>
        </p:nvSpPr>
        <p:spPr>
          <a:xfrm>
            <a:off x="5744100" y="3545475"/>
            <a:ext cx="2929800" cy="134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Consolidated Analysis with 120+ signals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Fraud checks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Deep insights across fraud, risk, and persona mapping</a:t>
            </a:r>
            <a:endParaRPr b="1" sz="11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Trigulated information against </a:t>
            </a: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</a:t>
            </a:r>
            <a:r>
              <a:rPr b="1" lang="en" sz="11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public and IDfy exclusive databases</a:t>
            </a:r>
            <a:endParaRPr b="1" sz="11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0" name="Google Shape;1930;p214"/>
          <p:cNvSpPr/>
          <p:nvPr/>
        </p:nvSpPr>
        <p:spPr>
          <a:xfrm>
            <a:off x="7763369" y="2535878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1" name="Google Shape;1931;p214"/>
          <p:cNvSpPr txBox="1"/>
          <p:nvPr/>
        </p:nvSpPr>
        <p:spPr>
          <a:xfrm>
            <a:off x="7763369" y="2506419"/>
            <a:ext cx="299400" cy="4155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32" name="Google Shape;1932;p214"/>
          <p:cNvCxnSpPr>
            <a:stCxn id="1923" idx="0"/>
          </p:cNvCxnSpPr>
          <p:nvPr/>
        </p:nvCxnSpPr>
        <p:spPr>
          <a:xfrm flipH="1" rot="10800000">
            <a:off x="636514" y="1867322"/>
            <a:ext cx="5100" cy="7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214"/>
          <p:cNvCxnSpPr>
            <a:endCxn id="1931" idx="2"/>
          </p:cNvCxnSpPr>
          <p:nvPr/>
        </p:nvCxnSpPr>
        <p:spPr>
          <a:xfrm flipH="1" rot="10800000">
            <a:off x="7910669" y="2921919"/>
            <a:ext cx="2400" cy="6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214"/>
          <p:cNvCxnSpPr>
            <a:endCxn id="1924" idx="2"/>
          </p:cNvCxnSpPr>
          <p:nvPr/>
        </p:nvCxnSpPr>
        <p:spPr>
          <a:xfrm flipH="1" rot="10800000">
            <a:off x="3508799" y="2986322"/>
            <a:ext cx="1500" cy="5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214"/>
          <p:cNvCxnSpPr>
            <a:stCxn id="1925" idx="0"/>
          </p:cNvCxnSpPr>
          <p:nvPr/>
        </p:nvCxnSpPr>
        <p:spPr>
          <a:xfrm flipH="1" rot="10800000">
            <a:off x="4151537" y="2383022"/>
            <a:ext cx="3900" cy="1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6" name="Google Shape;1936;p214"/>
          <p:cNvSpPr txBox="1"/>
          <p:nvPr/>
        </p:nvSpPr>
        <p:spPr>
          <a:xfrm>
            <a:off x="369875" y="1006075"/>
            <a:ext cx="194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Module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7" name="Google Shape;1937;p214"/>
          <p:cNvSpPr txBox="1"/>
          <p:nvPr/>
        </p:nvSpPr>
        <p:spPr>
          <a:xfrm>
            <a:off x="3929322" y="961900"/>
            <a:ext cx="168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Extraction Module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8" name="Google Shape;1938;p214"/>
          <p:cNvSpPr txBox="1"/>
          <p:nvPr/>
        </p:nvSpPr>
        <p:spPr>
          <a:xfrm>
            <a:off x="1268827" y="3193510"/>
            <a:ext cx="168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 Module 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9" name="Google Shape;1939;p214"/>
          <p:cNvSpPr txBox="1"/>
          <p:nvPr/>
        </p:nvSpPr>
        <p:spPr>
          <a:xfrm>
            <a:off x="5685631" y="3135722"/>
            <a:ext cx="168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Module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215"/>
          <p:cNvSpPr txBox="1"/>
          <p:nvPr>
            <p:ph type="title"/>
          </p:nvPr>
        </p:nvSpPr>
        <p:spPr>
          <a:xfrm>
            <a:off x="169300" y="138900"/>
            <a:ext cx="8169300" cy="7071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Get deep </a:t>
            </a:r>
            <a:r>
              <a:rPr lang="en" sz="2000"/>
              <a:t>actionable</a:t>
            </a:r>
            <a:r>
              <a:rPr lang="en" sz="2000"/>
              <a:t> insights for better</a:t>
            </a:r>
            <a:r>
              <a:rPr lang="en" sz="2000"/>
              <a:t> underwriting decisions</a:t>
            </a:r>
            <a:endParaRPr sz="2000"/>
          </a:p>
        </p:txBody>
      </p:sp>
      <p:sp>
        <p:nvSpPr>
          <p:cNvPr id="1945" name="Google Shape;1945;p215"/>
          <p:cNvSpPr/>
          <p:nvPr/>
        </p:nvSpPr>
        <p:spPr>
          <a:xfrm>
            <a:off x="253228" y="1618850"/>
            <a:ext cx="4192500" cy="5253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Credit Risk</a:t>
            </a:r>
            <a:endParaRPr b="1"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6" name="Google Shape;1946;p215"/>
          <p:cNvSpPr/>
          <p:nvPr/>
        </p:nvSpPr>
        <p:spPr>
          <a:xfrm>
            <a:off x="4571852" y="1618850"/>
            <a:ext cx="4192500" cy="5253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Signals</a:t>
            </a:r>
            <a:endParaRPr b="1"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7" name="Google Shape;1947;p215"/>
          <p:cNvSpPr/>
          <p:nvPr/>
        </p:nvSpPr>
        <p:spPr>
          <a:xfrm>
            <a:off x="253228" y="2271163"/>
            <a:ext cx="2028900" cy="407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Intent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8" name="Google Shape;1948;p215"/>
          <p:cNvSpPr/>
          <p:nvPr/>
        </p:nvSpPr>
        <p:spPr>
          <a:xfrm>
            <a:off x="2416545" y="2271163"/>
            <a:ext cx="2028900" cy="407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Capability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9" name="Google Shape;1949;p215"/>
          <p:cNvSpPr/>
          <p:nvPr/>
        </p:nvSpPr>
        <p:spPr>
          <a:xfrm>
            <a:off x="4570969" y="2271163"/>
            <a:ext cx="2028900" cy="407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Rejection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0" name="Google Shape;1950;p215"/>
          <p:cNvSpPr/>
          <p:nvPr/>
        </p:nvSpPr>
        <p:spPr>
          <a:xfrm>
            <a:off x="6734285" y="2271163"/>
            <a:ext cx="2028900" cy="407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Suspicious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1" name="Google Shape;1951;p215"/>
          <p:cNvSpPr/>
          <p:nvPr/>
        </p:nvSpPr>
        <p:spPr>
          <a:xfrm>
            <a:off x="253228" y="2805800"/>
            <a:ext cx="2028900" cy="183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4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Cheque Bounces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High Cash Activity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Undisclosed debt obligations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Irregular EMI/Loan payment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EMI Bounces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2" name="Google Shape;1952;p215"/>
          <p:cNvSpPr/>
          <p:nvPr/>
        </p:nvSpPr>
        <p:spPr>
          <a:xfrm>
            <a:off x="2416545" y="2805800"/>
            <a:ext cx="2028900" cy="183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4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</a:t>
            </a: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Burnout Signal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Account Activity  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Cashflow score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Overdraft Usage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High Risk Salary Issuer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3" name="Google Shape;1953;p215"/>
          <p:cNvSpPr/>
          <p:nvPr/>
        </p:nvSpPr>
        <p:spPr>
          <a:xfrm>
            <a:off x="4570969" y="2805800"/>
            <a:ext cx="2028900" cy="183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4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Adv. tampering Check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Triangulation of Income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Fraudulent employer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4" name="Google Shape;1954;p215"/>
          <p:cNvSpPr/>
          <p:nvPr/>
        </p:nvSpPr>
        <p:spPr>
          <a:xfrm>
            <a:off x="6734285" y="2805800"/>
            <a:ext cx="2028900" cy="183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174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Transactions on bank holidays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Transactions crossing the bank prescribed limits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000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Income Irregularities</a:t>
            </a:r>
            <a:endParaRPr b="1" sz="1000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5" name="Google Shape;1955;p215"/>
          <p:cNvSpPr/>
          <p:nvPr/>
        </p:nvSpPr>
        <p:spPr>
          <a:xfrm>
            <a:off x="253812" y="966544"/>
            <a:ext cx="8588100" cy="5253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Insight Categories</a:t>
            </a:r>
            <a:endParaRPr b="1" sz="1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216"/>
          <p:cNvSpPr/>
          <p:nvPr/>
        </p:nvSpPr>
        <p:spPr>
          <a:xfrm>
            <a:off x="314475" y="2769850"/>
            <a:ext cx="4056600" cy="205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961" name="Google Shape;1961;p216"/>
          <p:cNvGraphicFramePr/>
          <p:nvPr/>
        </p:nvGraphicFramePr>
        <p:xfrm>
          <a:off x="299400" y="8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1440850"/>
                <a:gridCol w="3931625"/>
                <a:gridCol w="1057575"/>
                <a:gridCol w="1057575"/>
                <a:gridCol w="1057575"/>
              </a:tblGrid>
              <a:tr h="29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Input Mode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Key Differentiator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TAT</a:t>
                      </a:r>
                      <a:r>
                        <a:rPr b="1" baseline="30000" lang="en" sz="9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baseline="30000" sz="4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Hit Rate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</a:tr>
              <a:tr h="29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E-Statements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Largest repository of standard statements for comparison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10-12</a:t>
                      </a:r>
                      <a:r>
                        <a:rPr b="1" lang="en" sz="900"/>
                        <a:t> secs*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Scanned Statements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LLM powered OCR algorithms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1-1.5</a:t>
                      </a:r>
                      <a:r>
                        <a:rPr b="1" lang="en" sz="900"/>
                        <a:t> mins*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90%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95%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Net Banking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 Agent assisted journey supported; All major banks (</a:t>
                      </a: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24+) integrated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6-8</a:t>
                      </a:r>
                      <a:r>
                        <a:rPr b="1" lang="en" sz="900"/>
                        <a:t> secs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C43B9"/>
                          </a:solidFill>
                        </a:rPr>
                        <a:t>Via AA</a:t>
                      </a:r>
                      <a:endParaRPr b="1" sz="9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 Live with </a:t>
                      </a:r>
                      <a:r>
                        <a:rPr b="1" lang="en" sz="900"/>
                        <a:t>60+ banks</a:t>
                      </a:r>
                      <a:endParaRPr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6-8 secs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85%</a:t>
                      </a:r>
                      <a:r>
                        <a:rPr b="1" baseline="30000" lang="en" sz="900"/>
                        <a:t>2</a:t>
                      </a:r>
                      <a:endParaRPr b="1" baseline="30000" sz="5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99%</a:t>
                      </a:r>
                      <a:endParaRPr b="1" sz="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2" name="Google Shape;1962;p216"/>
          <p:cNvSpPr txBox="1"/>
          <p:nvPr>
            <p:ph type="title"/>
          </p:nvPr>
        </p:nvSpPr>
        <p:spPr>
          <a:xfrm>
            <a:off x="169300" y="-13500"/>
            <a:ext cx="81843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 We offer comprehensive coverage of statements and highest accuracy in detection</a:t>
            </a:r>
            <a:endParaRPr sz="2000"/>
          </a:p>
        </p:txBody>
      </p:sp>
      <p:pic>
        <p:nvPicPr>
          <p:cNvPr id="1963" name="Google Shape;1963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796" y="3569009"/>
            <a:ext cx="295135" cy="26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2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175" y="3187950"/>
            <a:ext cx="295131" cy="2994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216"/>
          <p:cNvSpPr txBox="1"/>
          <p:nvPr/>
        </p:nvSpPr>
        <p:spPr>
          <a:xfrm>
            <a:off x="792504" y="3313085"/>
            <a:ext cx="311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6" name="Google Shape;1966;p216"/>
          <p:cNvSpPr txBox="1"/>
          <p:nvPr/>
        </p:nvSpPr>
        <p:spPr>
          <a:xfrm>
            <a:off x="957365" y="3160675"/>
            <a:ext cx="314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Ability to precisely match your current response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7" name="Google Shape;1967;p216"/>
          <p:cNvSpPr txBox="1"/>
          <p:nvPr/>
        </p:nvSpPr>
        <p:spPr>
          <a:xfrm>
            <a:off x="957362" y="3524470"/>
            <a:ext cx="296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additional training required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68" name="Google Shape;1968;p2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985" y="3943278"/>
            <a:ext cx="295134" cy="2777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216"/>
          <p:cNvSpPr txBox="1"/>
          <p:nvPr/>
        </p:nvSpPr>
        <p:spPr>
          <a:xfrm>
            <a:off x="957365" y="3905150"/>
            <a:ext cx="341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Detailed access to overall funnel with CRO dashboard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0" name="Google Shape;1970;p216"/>
          <p:cNvSpPr txBox="1"/>
          <p:nvPr/>
        </p:nvSpPr>
        <p:spPr>
          <a:xfrm>
            <a:off x="957371" y="4292300"/>
            <a:ext cx="296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Pre-integrated with leading LOS platforms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71" name="Google Shape;1971;p2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985" y="4330407"/>
            <a:ext cx="295134" cy="27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972" name="Google Shape;1972;p216"/>
          <p:cNvSpPr/>
          <p:nvPr/>
        </p:nvSpPr>
        <p:spPr>
          <a:xfrm>
            <a:off x="1436700" y="2723200"/>
            <a:ext cx="1719900" cy="354000"/>
          </a:xfrm>
          <a:prstGeom prst="roundRect">
            <a:avLst>
              <a:gd fmla="val 16667" name="adj"/>
            </a:avLst>
          </a:prstGeom>
          <a:solidFill>
            <a:srgbClr val="1C43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Seamless Integration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3" name="Google Shape;1973;p216"/>
          <p:cNvSpPr/>
          <p:nvPr/>
        </p:nvSpPr>
        <p:spPr>
          <a:xfrm>
            <a:off x="4810275" y="2769850"/>
            <a:ext cx="4056600" cy="205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4" name="Google Shape;1974;p216"/>
          <p:cNvSpPr/>
          <p:nvPr/>
        </p:nvSpPr>
        <p:spPr>
          <a:xfrm>
            <a:off x="5932500" y="2723200"/>
            <a:ext cx="1719900" cy="354000"/>
          </a:xfrm>
          <a:prstGeom prst="roundRect">
            <a:avLst>
              <a:gd fmla="val 16667" name="adj"/>
            </a:avLst>
          </a:prstGeom>
          <a:solidFill>
            <a:srgbClr val="1C43B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Modularly Designed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5" name="Google Shape;1975;p216"/>
          <p:cNvSpPr/>
          <p:nvPr/>
        </p:nvSpPr>
        <p:spPr>
          <a:xfrm>
            <a:off x="5613000" y="3205025"/>
            <a:ext cx="2358900" cy="23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 - Check Module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6" name="Google Shape;1976;p216"/>
          <p:cNvSpPr/>
          <p:nvPr/>
        </p:nvSpPr>
        <p:spPr>
          <a:xfrm>
            <a:off x="5613000" y="3528498"/>
            <a:ext cx="2358900" cy="236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Metadata Module 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7" name="Google Shape;1977;p216"/>
          <p:cNvSpPr/>
          <p:nvPr/>
        </p:nvSpPr>
        <p:spPr>
          <a:xfrm>
            <a:off x="5613000" y="3849367"/>
            <a:ext cx="2358900" cy="18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 All 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8" name="Google Shape;1978;p216"/>
          <p:cNvSpPr/>
          <p:nvPr/>
        </p:nvSpPr>
        <p:spPr>
          <a:xfrm>
            <a:off x="5613000" y="4123978"/>
            <a:ext cx="2358900" cy="23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Check Module 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9" name="Google Shape;1979;p216"/>
          <p:cNvSpPr/>
          <p:nvPr/>
        </p:nvSpPr>
        <p:spPr>
          <a:xfrm>
            <a:off x="5613000" y="4447451"/>
            <a:ext cx="2358900" cy="23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Module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217"/>
          <p:cNvSpPr/>
          <p:nvPr/>
        </p:nvSpPr>
        <p:spPr>
          <a:xfrm>
            <a:off x="2393400" y="543350"/>
            <a:ext cx="4357200" cy="1197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the </a:t>
            </a:r>
            <a:endParaRPr b="1" sz="2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IDfy Challenge!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85" name="Google Shape;1985;p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225" y="3267353"/>
            <a:ext cx="1389949" cy="12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816" y="3314128"/>
            <a:ext cx="1389949" cy="12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2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2075" y="3314138"/>
            <a:ext cx="310150" cy="3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8" name="Google Shape;1988;p217"/>
          <p:cNvSpPr/>
          <p:nvPr/>
        </p:nvSpPr>
        <p:spPr>
          <a:xfrm>
            <a:off x="4382750" y="3827813"/>
            <a:ext cx="310200" cy="24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9" name="Google Shape;1989;p217"/>
          <p:cNvSpPr/>
          <p:nvPr/>
        </p:nvSpPr>
        <p:spPr>
          <a:xfrm>
            <a:off x="2393400" y="2103200"/>
            <a:ext cx="4357200" cy="99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 a free POC with 500 statements, and we guarantee better accuracy and deeper insights!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0" name="Google Shape;1990;p217"/>
          <p:cNvSpPr/>
          <p:nvPr/>
        </p:nvSpPr>
        <p:spPr>
          <a:xfrm>
            <a:off x="4392250" y="1741250"/>
            <a:ext cx="240600" cy="310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218"/>
          <p:cNvSpPr/>
          <p:nvPr/>
        </p:nvSpPr>
        <p:spPr>
          <a:xfrm>
            <a:off x="562186" y="1369219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219"/>
          <p:cNvSpPr txBox="1"/>
          <p:nvPr>
            <p:ph type="title"/>
          </p:nvPr>
        </p:nvSpPr>
        <p:spPr>
          <a:xfrm>
            <a:off x="169300" y="-13500"/>
            <a:ext cx="7672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 </a:t>
            </a:r>
            <a:r>
              <a:rPr lang="en" sz="2000"/>
              <a:t>We offer comprehensive coverage of statements and highest accuracy in detection</a:t>
            </a:r>
            <a:endParaRPr sz="2000"/>
          </a:p>
        </p:txBody>
      </p:sp>
      <p:graphicFrame>
        <p:nvGraphicFramePr>
          <p:cNvPr id="2001" name="Google Shape;2001;p219"/>
          <p:cNvGraphicFramePr/>
          <p:nvPr/>
        </p:nvGraphicFramePr>
        <p:xfrm>
          <a:off x="455025" y="100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1388075"/>
                <a:gridCol w="3787675"/>
                <a:gridCol w="1018850"/>
                <a:gridCol w="1018850"/>
                <a:gridCol w="1018850"/>
              </a:tblGrid>
              <a:tr h="40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Input Mode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Key Differentiator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TAT</a:t>
                      </a:r>
                      <a:r>
                        <a:rPr b="1" baseline="30000" lang="en" sz="1200">
                          <a:solidFill>
                            <a:schemeClr val="lt1"/>
                          </a:solidFill>
                        </a:rPr>
                        <a:t>1</a:t>
                      </a:r>
                      <a:endParaRPr b="1" baseline="30000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Hit Rate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</a:tr>
              <a:tr h="47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C43B9"/>
                          </a:solidFill>
                        </a:rPr>
                        <a:t>E-Statements</a:t>
                      </a:r>
                      <a:endParaRPr b="1" sz="12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 Largest repository of standard statements for comparison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20-30 secs*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C43B9"/>
                          </a:solidFill>
                        </a:rPr>
                        <a:t>Scanned Statements</a:t>
                      </a:r>
                      <a:endParaRPr b="1" sz="12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 LLM powered OCR algorithms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2 - 3 mins*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90%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95%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C43B9"/>
                          </a:solidFill>
                        </a:rPr>
                        <a:t>Net Banking</a:t>
                      </a:r>
                      <a:endParaRPr b="1" sz="12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 Agent assisted journey supported; All major banks (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24+) integrated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10 - 15 secs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C43B9"/>
                          </a:solidFill>
                        </a:rPr>
                        <a:t>Via AA</a:t>
                      </a:r>
                      <a:endParaRPr b="1" sz="1200">
                        <a:solidFill>
                          <a:srgbClr val="1C43B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 Live with </a:t>
                      </a:r>
                      <a:r>
                        <a:rPr b="1" lang="en" sz="1200"/>
                        <a:t>60+ banks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10 - 15 secs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85%</a:t>
                      </a:r>
                      <a:r>
                        <a:rPr b="1" baseline="30000" lang="en" sz="1200"/>
                        <a:t>2</a:t>
                      </a:r>
                      <a:endParaRPr b="1" baseline="30000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2" name="Google Shape;2002;p219"/>
          <p:cNvSpPr txBox="1"/>
          <p:nvPr/>
        </p:nvSpPr>
        <p:spPr>
          <a:xfrm>
            <a:off x="568000" y="4908300"/>
            <a:ext cx="40758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Notes: </a:t>
            </a:r>
            <a:r>
              <a:rPr lang="en" sz="800">
                <a:solidFill>
                  <a:schemeClr val="dk1"/>
                </a:solidFill>
              </a:rPr>
              <a:t>1. </a:t>
            </a:r>
            <a:r>
              <a:rPr lang="en" sz="800">
                <a:solidFill>
                  <a:schemeClr val="dk1"/>
                </a:solidFill>
              </a:rPr>
              <a:t>For a statement of 80 pages 2. </a:t>
            </a:r>
            <a:r>
              <a:rPr lang="en" sz="800">
                <a:solidFill>
                  <a:schemeClr val="dk1"/>
                </a:solidFill>
              </a:rPr>
              <a:t>Bank Uptime Dependence</a:t>
            </a:r>
            <a:endParaRPr/>
          </a:p>
        </p:txBody>
      </p:sp>
      <p:sp>
        <p:nvSpPr>
          <p:cNvPr id="2003" name="Google Shape;2003;p219"/>
          <p:cNvSpPr txBox="1"/>
          <p:nvPr>
            <p:ph type="title"/>
          </p:nvPr>
        </p:nvSpPr>
        <p:spPr>
          <a:xfrm>
            <a:off x="455050" y="3975100"/>
            <a:ext cx="8232300" cy="749400"/>
          </a:xfrm>
          <a:prstGeom prst="rect">
            <a:avLst/>
          </a:prstGeom>
          <a:solidFill>
            <a:srgbClr val="1C4587"/>
          </a:solidFill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600">
                <a:solidFill>
                  <a:schemeClr val="lt1"/>
                </a:solidFill>
              </a:rPr>
              <a:t>With our AI powered extraction, we eliminate all manual intervention and offer the fastest processing times in the industry enabling high STP rates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220"/>
          <p:cNvSpPr txBox="1"/>
          <p:nvPr/>
        </p:nvSpPr>
        <p:spPr>
          <a:xfrm>
            <a:off x="176625" y="219475"/>
            <a:ext cx="82815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Seamless Integration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09" name="Google Shape;2009;p220"/>
          <p:cNvSpPr txBox="1"/>
          <p:nvPr>
            <p:ph idx="4294967295" type="subTitle"/>
          </p:nvPr>
        </p:nvSpPr>
        <p:spPr>
          <a:xfrm>
            <a:off x="6426200" y="1153075"/>
            <a:ext cx="2393400" cy="42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800"/>
              <a:t>Modularly Designed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010" name="Google Shape;2010;p220"/>
          <p:cNvSpPr/>
          <p:nvPr/>
        </p:nvSpPr>
        <p:spPr>
          <a:xfrm>
            <a:off x="6463700" y="1675975"/>
            <a:ext cx="2318400" cy="3579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 - Check Module</a:t>
            </a:r>
            <a:endParaRPr b="1" sz="10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1" name="Google Shape;2011;p220"/>
          <p:cNvSpPr/>
          <p:nvPr/>
        </p:nvSpPr>
        <p:spPr>
          <a:xfrm>
            <a:off x="6463700" y="2160575"/>
            <a:ext cx="2318400" cy="3540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Metadata Module 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2" name="Google Shape;2012;p220"/>
          <p:cNvSpPr/>
          <p:nvPr/>
        </p:nvSpPr>
        <p:spPr>
          <a:xfrm>
            <a:off x="6463700" y="2641275"/>
            <a:ext cx="2318400" cy="2847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 All 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3" name="Google Shape;2013;p220"/>
          <p:cNvSpPr/>
          <p:nvPr/>
        </p:nvSpPr>
        <p:spPr>
          <a:xfrm>
            <a:off x="6463700" y="3052675"/>
            <a:ext cx="2318400" cy="3579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Check</a:t>
            </a:r>
            <a:r>
              <a:rPr b="1" lang="en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Module</a:t>
            </a: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4" name="Google Shape;2014;p220"/>
          <p:cNvSpPr/>
          <p:nvPr/>
        </p:nvSpPr>
        <p:spPr>
          <a:xfrm>
            <a:off x="6463700" y="3537275"/>
            <a:ext cx="2318400" cy="357900"/>
          </a:xfrm>
          <a:prstGeom prst="roundRect">
            <a:avLst>
              <a:gd fmla="val 16667" name="adj"/>
            </a:avLst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</a:t>
            </a:r>
            <a:r>
              <a:rPr b="1" lang="en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Module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15" name="Google Shape;2015;p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00" y="1918725"/>
            <a:ext cx="501250" cy="50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2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525" y="980025"/>
            <a:ext cx="5232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220"/>
          <p:cNvSpPr txBox="1"/>
          <p:nvPr/>
        </p:nvSpPr>
        <p:spPr>
          <a:xfrm>
            <a:off x="1380800" y="1254750"/>
            <a:ext cx="490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8" name="Google Shape;2018;p220"/>
          <p:cNvSpPr txBox="1"/>
          <p:nvPr/>
        </p:nvSpPr>
        <p:spPr>
          <a:xfrm>
            <a:off x="1380788" y="1029688"/>
            <a:ext cx="490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Ability to precisely match your current response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9" name="Google Shape;2019;p220"/>
          <p:cNvSpPr txBox="1"/>
          <p:nvPr/>
        </p:nvSpPr>
        <p:spPr>
          <a:xfrm>
            <a:off x="1380788" y="1992354"/>
            <a:ext cx="490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additional training required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0" name="Google Shape;2020;p2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786" y="2840663"/>
            <a:ext cx="552425" cy="5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220"/>
          <p:cNvSpPr txBox="1"/>
          <p:nvPr/>
        </p:nvSpPr>
        <p:spPr>
          <a:xfrm>
            <a:off x="1396000" y="2955021"/>
            <a:ext cx="490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Detailed access to overall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funnel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CRO dashboard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2" name="Google Shape;2022;p220"/>
          <p:cNvSpPr txBox="1"/>
          <p:nvPr/>
        </p:nvSpPr>
        <p:spPr>
          <a:xfrm>
            <a:off x="1368800" y="3917688"/>
            <a:ext cx="490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Pre-integrated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leading LOS platforms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3" name="Google Shape;2023;p2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376" y="3813776"/>
            <a:ext cx="501250" cy="5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221"/>
          <p:cNvSpPr txBox="1"/>
          <p:nvPr>
            <p:ph type="title"/>
          </p:nvPr>
        </p:nvSpPr>
        <p:spPr>
          <a:xfrm>
            <a:off x="3413246" y="2151900"/>
            <a:ext cx="2317500" cy="8397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52565"/>
        </a:solidFill>
      </p:bgPr>
    </p:bg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222"/>
          <p:cNvSpPr txBox="1"/>
          <p:nvPr>
            <p:ph type="title"/>
          </p:nvPr>
        </p:nvSpPr>
        <p:spPr>
          <a:xfrm>
            <a:off x="169300" y="138900"/>
            <a:ext cx="81693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3. Quick View Scores to analyse the income &amp; debt of the profile intelligently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2034" name="Google Shape;2034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5" name="Google Shape;2035;p222"/>
          <p:cNvSpPr txBox="1"/>
          <p:nvPr>
            <p:ph type="title"/>
          </p:nvPr>
        </p:nvSpPr>
        <p:spPr>
          <a:xfrm>
            <a:off x="169300" y="138900"/>
            <a:ext cx="81693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</a:rPr>
              <a:t>3. Analyse Income &amp; Debt and consume with quick view scores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762" y="887300"/>
            <a:ext cx="1518828" cy="1257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1" name="Google Shape;2041;p223"/>
          <p:cNvGrpSpPr/>
          <p:nvPr/>
        </p:nvGrpSpPr>
        <p:grpSpPr>
          <a:xfrm>
            <a:off x="1930914" y="887300"/>
            <a:ext cx="2272500" cy="1257600"/>
            <a:chOff x="5046864" y="1355075"/>
            <a:chExt cx="2272500" cy="1257600"/>
          </a:xfrm>
        </p:grpSpPr>
        <p:pic>
          <p:nvPicPr>
            <p:cNvPr id="2042" name="Google Shape;2042;p2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61873" y="1355075"/>
              <a:ext cx="1642501" cy="10778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3" name="Google Shape;2043;p223"/>
            <p:cNvSpPr/>
            <p:nvPr/>
          </p:nvSpPr>
          <p:spPr>
            <a:xfrm>
              <a:off x="5046864" y="1355075"/>
              <a:ext cx="2272500" cy="1257600"/>
            </a:xfrm>
            <a:prstGeom prst="rect">
              <a:avLst/>
            </a:prstGeom>
            <a:noFill/>
            <a:ln cap="flat" cmpd="sng" w="19050">
              <a:solidFill>
                <a:srgbClr val="2742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044" name="Google Shape;2044;p223"/>
          <p:cNvSpPr txBox="1"/>
          <p:nvPr/>
        </p:nvSpPr>
        <p:spPr>
          <a:xfrm>
            <a:off x="176625" y="219475"/>
            <a:ext cx="82815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Fraud is getting organized &amp; more equipped everyday</a:t>
            </a:r>
            <a:endParaRPr b="1" sz="1900">
              <a:solidFill>
                <a:schemeClr val="dk1"/>
              </a:solidFill>
            </a:endParaRPr>
          </a:p>
        </p:txBody>
      </p:sp>
      <p:cxnSp>
        <p:nvCxnSpPr>
          <p:cNvPr id="2045" name="Google Shape;2045;p223"/>
          <p:cNvCxnSpPr/>
          <p:nvPr/>
        </p:nvCxnSpPr>
        <p:spPr>
          <a:xfrm>
            <a:off x="353975" y="4712275"/>
            <a:ext cx="8281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046" name="Google Shape;2046;p223"/>
          <p:cNvPicPr preferRelativeResize="0"/>
          <p:nvPr/>
        </p:nvPicPr>
        <p:blipFill rotWithShape="1">
          <a:blip r:embed="rId5">
            <a:alphaModFix/>
          </a:blip>
          <a:srcRect b="8629" l="5550" r="6080" t="6768"/>
          <a:stretch/>
        </p:blipFill>
        <p:spPr>
          <a:xfrm>
            <a:off x="420900" y="2612675"/>
            <a:ext cx="318890" cy="3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223"/>
          <p:cNvSpPr/>
          <p:nvPr/>
        </p:nvSpPr>
        <p:spPr>
          <a:xfrm>
            <a:off x="960200" y="2528225"/>
            <a:ext cx="7497900" cy="497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Fraud Rings are getting more organized, it is not individuals but organizations  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48" name="Google Shape;2048;p223"/>
          <p:cNvPicPr preferRelativeResize="0"/>
          <p:nvPr/>
        </p:nvPicPr>
        <p:blipFill rotWithShape="1">
          <a:blip r:embed="rId5">
            <a:alphaModFix/>
          </a:blip>
          <a:srcRect b="8629" l="5550" r="6080" t="6768"/>
          <a:stretch/>
        </p:blipFill>
        <p:spPr>
          <a:xfrm>
            <a:off x="420900" y="3298475"/>
            <a:ext cx="318890" cy="3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223"/>
          <p:cNvSpPr/>
          <p:nvPr/>
        </p:nvSpPr>
        <p:spPr>
          <a:xfrm>
            <a:off x="960200" y="3214025"/>
            <a:ext cx="7497900" cy="497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Gen-AI led tools used to create hyper-realistic documents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0" name="Google Shape;2050;p223"/>
          <p:cNvPicPr preferRelativeResize="0"/>
          <p:nvPr/>
        </p:nvPicPr>
        <p:blipFill rotWithShape="1">
          <a:blip r:embed="rId5">
            <a:alphaModFix/>
          </a:blip>
          <a:srcRect b="8629" l="5550" r="6080" t="6768"/>
          <a:stretch/>
        </p:blipFill>
        <p:spPr>
          <a:xfrm>
            <a:off x="420900" y="3984275"/>
            <a:ext cx="318890" cy="3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223"/>
          <p:cNvSpPr/>
          <p:nvPr/>
        </p:nvSpPr>
        <p:spPr>
          <a:xfrm>
            <a:off x="960200" y="3899825"/>
            <a:ext cx="7497900" cy="4977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Slow Evolution of existing tools to be able to detect the rapid advances in editing / tampering tools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2" name="Google Shape;2052;p223"/>
          <p:cNvSpPr/>
          <p:nvPr/>
        </p:nvSpPr>
        <p:spPr>
          <a:xfrm>
            <a:off x="4683937" y="887300"/>
            <a:ext cx="2272500" cy="1257600"/>
          </a:xfrm>
          <a:prstGeom prst="rect">
            <a:avLst/>
          </a:prstGeom>
          <a:noFill/>
          <a:ln cap="flat" cmpd="sng" w="19050">
            <a:solidFill>
              <a:srgbClr val="2742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3" name="Google Shape;2053;p223"/>
          <p:cNvSpPr/>
          <p:nvPr/>
        </p:nvSpPr>
        <p:spPr>
          <a:xfrm>
            <a:off x="2193409" y="1960875"/>
            <a:ext cx="1642500" cy="3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Document Fraud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4" name="Google Shape;2054;p223"/>
          <p:cNvSpPr/>
          <p:nvPr/>
        </p:nvSpPr>
        <p:spPr>
          <a:xfrm>
            <a:off x="4938487" y="1960875"/>
            <a:ext cx="1763400" cy="3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Helvetica Neue"/>
                <a:ea typeface="Helvetica Neue"/>
                <a:cs typeface="Helvetica Neue"/>
                <a:sym typeface="Helvetica Neue"/>
              </a:rPr>
              <a:t>Transaction Fraud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224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Document Fraud</a:t>
            </a:r>
            <a:endParaRPr sz="2200"/>
          </a:p>
        </p:txBody>
      </p:sp>
      <p:pic>
        <p:nvPicPr>
          <p:cNvPr id="2060" name="Google Shape;2060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25" y="1185550"/>
            <a:ext cx="4096796" cy="3572337"/>
          </a:xfrm>
          <a:prstGeom prst="rect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1" name="Google Shape;2061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889" y="1207385"/>
            <a:ext cx="4096812" cy="3572340"/>
          </a:xfrm>
          <a:prstGeom prst="rect">
            <a:avLst/>
          </a:prstGeom>
          <a:noFill/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225"/>
          <p:cNvSpPr txBox="1"/>
          <p:nvPr>
            <p:ph type="title"/>
          </p:nvPr>
        </p:nvSpPr>
        <p:spPr>
          <a:xfrm>
            <a:off x="311519" y="15257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There are significant externalities that affect underwriting journey - but current tools remain outdated</a:t>
            </a:r>
            <a:endParaRPr sz="204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226"/>
          <p:cNvSpPr txBox="1"/>
          <p:nvPr>
            <p:ph type="title"/>
          </p:nvPr>
        </p:nvSpPr>
        <p:spPr>
          <a:xfrm>
            <a:off x="397894" y="215100"/>
            <a:ext cx="71088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Persona</a:t>
            </a:r>
            <a:endParaRPr sz="2200"/>
          </a:p>
        </p:txBody>
      </p:sp>
      <p:sp>
        <p:nvSpPr>
          <p:cNvPr id="2072" name="Google Shape;2072;p226"/>
          <p:cNvSpPr txBox="1"/>
          <p:nvPr/>
        </p:nvSpPr>
        <p:spPr>
          <a:xfrm>
            <a:off x="413800" y="1277825"/>
            <a:ext cx="54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Targeted Analysis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3" name="Google Shape;2073;p226"/>
          <p:cNvSpPr txBox="1"/>
          <p:nvPr/>
        </p:nvSpPr>
        <p:spPr>
          <a:xfrm>
            <a:off x="413800" y="1762417"/>
            <a:ext cx="545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 for personalised engagement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4" name="Google Shape;2074;p226"/>
          <p:cNvSpPr txBox="1"/>
          <p:nvPr/>
        </p:nvSpPr>
        <p:spPr>
          <a:xfrm>
            <a:off x="413800" y="2233358"/>
            <a:ext cx="735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●"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Enhanced Marketing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227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0" name="Google Shape;2080;p227"/>
          <p:cNvSpPr txBox="1"/>
          <p:nvPr>
            <p:ph type="title"/>
          </p:nvPr>
        </p:nvSpPr>
        <p:spPr>
          <a:xfrm>
            <a:off x="169300" y="-13500"/>
            <a:ext cx="7672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 We offer highest coverage of sources and accuracy in detection</a:t>
            </a:r>
            <a:endParaRPr sz="2000"/>
          </a:p>
        </p:txBody>
      </p:sp>
      <p:graphicFrame>
        <p:nvGraphicFramePr>
          <p:cNvPr id="2081" name="Google Shape;2081;p227"/>
          <p:cNvGraphicFramePr/>
          <p:nvPr/>
        </p:nvGraphicFramePr>
        <p:xfrm>
          <a:off x="575000" y="100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1332100"/>
                <a:gridCol w="3634900"/>
                <a:gridCol w="977750"/>
                <a:gridCol w="977750"/>
                <a:gridCol w="977750"/>
              </a:tblGrid>
              <a:tr h="33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Input Mode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E0F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Key Differentiator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E0F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TAT</a:t>
                      </a:r>
                      <a:br>
                        <a:rPr b="1" lang="en" sz="1200">
                          <a:solidFill>
                            <a:schemeClr val="lt1"/>
                          </a:solidFill>
                        </a:rPr>
                      </a:br>
                      <a:r>
                        <a:rPr b="1" lang="en" sz="600">
                          <a:solidFill>
                            <a:schemeClr val="lt1"/>
                          </a:solidFill>
                        </a:rPr>
                        <a:t>(for a statement of 80 pages)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E0F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Hit Rate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E0F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Accuracy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CE0F11"/>
                    </a:solidFill>
                  </a:tcPr>
                </a:tc>
              </a:tr>
              <a:tr h="62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CE0F11"/>
                          </a:solidFill>
                        </a:rPr>
                        <a:t>E-Statements</a:t>
                      </a:r>
                      <a:endParaRPr b="1" sz="1200">
                        <a:solidFill>
                          <a:srgbClr val="CE0F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 Largest repository of standard statements for comparison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20-30 secs*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CE0F11"/>
                          </a:solidFill>
                        </a:rPr>
                        <a:t>Scanned Statements</a:t>
                      </a:r>
                      <a:endParaRPr b="1" sz="1200">
                        <a:solidFill>
                          <a:srgbClr val="CE0F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 LLM powered OCR algorithms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2 - 3 mins*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90%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95%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CE0F11"/>
                          </a:solidFill>
                        </a:rPr>
                        <a:t>Net Banking</a:t>
                      </a:r>
                      <a:endParaRPr b="1" sz="1200">
                        <a:solidFill>
                          <a:srgbClr val="CE0F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- Agent assisted journey supported; All major banks (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24+) integrated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10 - 15 secs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CE0F11"/>
                          </a:solidFill>
                        </a:rPr>
                        <a:t>Via AA</a:t>
                      </a:r>
                      <a:endParaRPr b="1" sz="1200">
                        <a:solidFill>
                          <a:srgbClr val="CE0F1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 Live with </a:t>
                      </a:r>
                      <a:r>
                        <a:rPr b="1" lang="en" sz="1200"/>
                        <a:t>60+ banks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10 - 15 secs</a:t>
                      </a:r>
                      <a:endParaRPr b="1"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85%*</a:t>
                      </a:r>
                      <a:endParaRPr b="1" sz="1200"/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(Bank Uptime Dependence)</a:t>
                      </a:r>
                      <a:endParaRPr b="1"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99%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228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7" name="Google Shape;2087;p228"/>
          <p:cNvSpPr txBox="1"/>
          <p:nvPr>
            <p:ph type="title"/>
          </p:nvPr>
        </p:nvSpPr>
        <p:spPr>
          <a:xfrm>
            <a:off x="169301" y="138900"/>
            <a:ext cx="7945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43B9"/>
                </a:solidFill>
              </a:rPr>
              <a:t>1. BSA Pre-Check API</a:t>
            </a:r>
            <a:r>
              <a:rPr lang="en" sz="2000"/>
              <a:t>: Run initial checks on statements before performing analytics</a:t>
            </a:r>
            <a:endParaRPr sz="2000"/>
          </a:p>
        </p:txBody>
      </p:sp>
      <p:sp>
        <p:nvSpPr>
          <p:cNvPr id="2088" name="Google Shape;2088;p228"/>
          <p:cNvSpPr/>
          <p:nvPr/>
        </p:nvSpPr>
        <p:spPr>
          <a:xfrm>
            <a:off x="216301" y="1210325"/>
            <a:ext cx="8727900" cy="387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On average, </a:t>
            </a:r>
            <a:r>
              <a:rPr b="1" lang="en" sz="1300">
                <a:solidFill>
                  <a:srgbClr val="CC0000"/>
                </a:solidFill>
              </a:rPr>
              <a:t>~12% users submit incorrect documents the first time</a:t>
            </a:r>
            <a:r>
              <a:rPr lang="en" sz="1300">
                <a:solidFill>
                  <a:schemeClr val="dk1"/>
                </a:solidFill>
              </a:rPr>
              <a:t> during the loan application process</a:t>
            </a:r>
            <a:endParaRPr sz="1300"/>
          </a:p>
        </p:txBody>
      </p:sp>
      <p:pic>
        <p:nvPicPr>
          <p:cNvPr id="2089" name="Google Shape;2089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325" y="3650578"/>
            <a:ext cx="227322" cy="227322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28"/>
          <p:cNvSpPr/>
          <p:nvPr/>
        </p:nvSpPr>
        <p:spPr>
          <a:xfrm>
            <a:off x="5377652" y="3191388"/>
            <a:ext cx="35505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Tampering Checks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91" name="Google Shape;2091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337" y="4095093"/>
            <a:ext cx="227322" cy="227322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228"/>
          <p:cNvSpPr/>
          <p:nvPr/>
        </p:nvSpPr>
        <p:spPr>
          <a:xfrm>
            <a:off x="5377651" y="3602688"/>
            <a:ext cx="37260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Holder Information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3" name="Google Shape;2093;p228"/>
          <p:cNvSpPr/>
          <p:nvPr/>
        </p:nvSpPr>
        <p:spPr>
          <a:xfrm>
            <a:off x="5053351" y="1832300"/>
            <a:ext cx="37260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these within a TAT of 5-7 Sec</a:t>
            </a:r>
            <a:endParaRPr b="1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4" name="Google Shape;2094;p228"/>
          <p:cNvSpPr/>
          <p:nvPr/>
        </p:nvSpPr>
        <p:spPr>
          <a:xfrm>
            <a:off x="216275" y="1873325"/>
            <a:ext cx="4235700" cy="660900"/>
          </a:xfrm>
          <a:prstGeom prst="roundRect">
            <a:avLst>
              <a:gd fmla="val 880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3B9"/>
                </a:solidFill>
              </a:rPr>
              <a:t>IDfy’s BSA Pre-Check API</a:t>
            </a:r>
            <a:r>
              <a:rPr lang="en" sz="1200">
                <a:solidFill>
                  <a:schemeClr val="dk1"/>
                </a:solidFill>
              </a:rPr>
              <a:t> runs </a:t>
            </a:r>
            <a:r>
              <a:rPr b="1" lang="en" sz="1200">
                <a:solidFill>
                  <a:schemeClr val="dk1"/>
                </a:solidFill>
              </a:rPr>
              <a:t>initial checks on the document</a:t>
            </a:r>
            <a:r>
              <a:rPr lang="en" sz="1200">
                <a:solidFill>
                  <a:schemeClr val="dk1"/>
                </a:solidFill>
              </a:rPr>
              <a:t> has been submitted before getting into analysis</a:t>
            </a:r>
            <a:endParaRPr b="1" sz="13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95" name="Google Shape;2095;p2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01" y="2890613"/>
            <a:ext cx="512100" cy="4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228"/>
          <p:cNvSpPr/>
          <p:nvPr/>
        </p:nvSpPr>
        <p:spPr>
          <a:xfrm>
            <a:off x="750749" y="2900325"/>
            <a:ext cx="3507900" cy="41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 Savings otherwise spent on Analysis of Incorrect Documents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7" name="Google Shape;2097;p228"/>
          <p:cNvSpPr/>
          <p:nvPr/>
        </p:nvSpPr>
        <p:spPr>
          <a:xfrm>
            <a:off x="708275" y="3634369"/>
            <a:ext cx="3507900" cy="41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Reduce Drop-Offs &amp; Improve Overall Customer Experience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98" name="Google Shape;2098;p2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341" y="3652503"/>
            <a:ext cx="378300" cy="3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9" name="Google Shape;2099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325" y="4521852"/>
            <a:ext cx="227322" cy="227322"/>
          </a:xfrm>
          <a:prstGeom prst="rect">
            <a:avLst/>
          </a:prstGeom>
          <a:noFill/>
          <a:ln>
            <a:noFill/>
          </a:ln>
        </p:spPr>
      </p:pic>
      <p:sp>
        <p:nvSpPr>
          <p:cNvPr id="2100" name="Google Shape;2100;p228"/>
          <p:cNvSpPr/>
          <p:nvPr/>
        </p:nvSpPr>
        <p:spPr>
          <a:xfrm>
            <a:off x="5377651" y="4048963"/>
            <a:ext cx="37260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Details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01" name="Google Shape;2101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325" y="3242980"/>
            <a:ext cx="227322" cy="227322"/>
          </a:xfrm>
          <a:prstGeom prst="rect">
            <a:avLst/>
          </a:prstGeom>
          <a:noFill/>
          <a:ln>
            <a:noFill/>
          </a:ln>
        </p:spPr>
      </p:pic>
      <p:sp>
        <p:nvSpPr>
          <p:cNvPr id="2102" name="Google Shape;2102;p228"/>
          <p:cNvSpPr/>
          <p:nvPr/>
        </p:nvSpPr>
        <p:spPr>
          <a:xfrm>
            <a:off x="5377651" y="2754425"/>
            <a:ext cx="37260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for E-statement or Scanned PDF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3" name="Google Shape;2103;p228"/>
          <p:cNvSpPr/>
          <p:nvPr/>
        </p:nvSpPr>
        <p:spPr>
          <a:xfrm>
            <a:off x="5377651" y="2304588"/>
            <a:ext cx="37260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Filter for non statement uploads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4" name="Google Shape;2104;p228"/>
          <p:cNvSpPr/>
          <p:nvPr/>
        </p:nvSpPr>
        <p:spPr>
          <a:xfrm>
            <a:off x="5377652" y="4473963"/>
            <a:ext cx="35505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Statement Start &amp; End date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05" name="Google Shape;2105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325" y="2820318"/>
            <a:ext cx="227322" cy="22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" name="Google Shape;2106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325" y="2359830"/>
            <a:ext cx="227322" cy="2273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7" name="Google Shape;2107;p228"/>
          <p:cNvCxnSpPr/>
          <p:nvPr/>
        </p:nvCxnSpPr>
        <p:spPr>
          <a:xfrm>
            <a:off x="4689950" y="1845650"/>
            <a:ext cx="19200" cy="262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229"/>
          <p:cNvSpPr txBox="1"/>
          <p:nvPr/>
        </p:nvSpPr>
        <p:spPr>
          <a:xfrm>
            <a:off x="176625" y="219475"/>
            <a:ext cx="82815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End-to-end platform with advanced capabilities at each stage</a:t>
            </a:r>
            <a:endParaRPr b="1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Enhanced Bank Statement Analysis</a:t>
            </a:r>
            <a:endParaRPr b="1" i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13" name="Google Shape;2113;p229"/>
          <p:cNvCxnSpPr/>
          <p:nvPr/>
        </p:nvCxnSpPr>
        <p:spPr>
          <a:xfrm flipH="1" rot="10800000">
            <a:off x="307481" y="2755306"/>
            <a:ext cx="8150700" cy="5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4" name="Google Shape;2114;p229"/>
          <p:cNvSpPr/>
          <p:nvPr/>
        </p:nvSpPr>
        <p:spPr>
          <a:xfrm>
            <a:off x="486814" y="2600281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5" name="Google Shape;2115;p229"/>
          <p:cNvSpPr/>
          <p:nvPr/>
        </p:nvSpPr>
        <p:spPr>
          <a:xfrm>
            <a:off x="3360599" y="2600281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6" name="Google Shape;2116;p229"/>
          <p:cNvSpPr/>
          <p:nvPr/>
        </p:nvSpPr>
        <p:spPr>
          <a:xfrm>
            <a:off x="4001837" y="2600281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7" name="Google Shape;2117;p229"/>
          <p:cNvSpPr txBox="1"/>
          <p:nvPr/>
        </p:nvSpPr>
        <p:spPr>
          <a:xfrm>
            <a:off x="486814" y="2570822"/>
            <a:ext cx="299400" cy="415500"/>
          </a:xfrm>
          <a:prstGeom prst="rect">
            <a:avLst/>
          </a:prstGeom>
          <a:solidFill>
            <a:srgbClr val="CE0F1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8" name="Google Shape;2118;p229"/>
          <p:cNvSpPr txBox="1"/>
          <p:nvPr/>
        </p:nvSpPr>
        <p:spPr>
          <a:xfrm>
            <a:off x="3360599" y="2570822"/>
            <a:ext cx="299400" cy="415500"/>
          </a:xfrm>
          <a:prstGeom prst="rect">
            <a:avLst/>
          </a:prstGeom>
          <a:solidFill>
            <a:srgbClr val="CE0F1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9" name="Google Shape;2119;p229"/>
          <p:cNvSpPr txBox="1"/>
          <p:nvPr/>
        </p:nvSpPr>
        <p:spPr>
          <a:xfrm>
            <a:off x="4001837" y="2570822"/>
            <a:ext cx="299400" cy="415500"/>
          </a:xfrm>
          <a:prstGeom prst="rect">
            <a:avLst/>
          </a:prstGeom>
          <a:solidFill>
            <a:srgbClr val="CE0F1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0" name="Google Shape;2120;p229"/>
          <p:cNvSpPr txBox="1"/>
          <p:nvPr/>
        </p:nvSpPr>
        <p:spPr>
          <a:xfrm>
            <a:off x="486805" y="1332469"/>
            <a:ext cx="1828500" cy="50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Document Collection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KYC Completion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1" name="Google Shape;2121;p229"/>
          <p:cNvSpPr txBox="1"/>
          <p:nvPr/>
        </p:nvSpPr>
        <p:spPr>
          <a:xfrm>
            <a:off x="1341331" y="3545468"/>
            <a:ext cx="2319000" cy="70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Document Fitness Check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Document Tampering Check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Advanced Metadata Check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2" name="Google Shape;2122;p229"/>
          <p:cNvSpPr txBox="1"/>
          <p:nvPr/>
        </p:nvSpPr>
        <p:spPr>
          <a:xfrm>
            <a:off x="4001831" y="1285256"/>
            <a:ext cx="4134900" cy="10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Support for E-statement &amp; Scanned documents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AI based format detection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LLM based scanned document extraction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3" name="Google Shape;2123;p229"/>
          <p:cNvSpPr txBox="1"/>
          <p:nvPr/>
        </p:nvSpPr>
        <p:spPr>
          <a:xfrm>
            <a:off x="5744100" y="3545475"/>
            <a:ext cx="2929800" cy="108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Consolidated Analysis with 120+ signals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FCU checks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Pattern based deep scan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Risk Profiling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CE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Triangulation</a:t>
            </a:r>
            <a:endParaRPr b="1" sz="1100">
              <a:solidFill>
                <a:srgbClr val="CE0F1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4" name="Google Shape;2124;p229"/>
          <p:cNvSpPr/>
          <p:nvPr/>
        </p:nvSpPr>
        <p:spPr>
          <a:xfrm>
            <a:off x="7763369" y="2535878"/>
            <a:ext cx="299400" cy="324300"/>
          </a:xfrm>
          <a:prstGeom prst="rect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5" name="Google Shape;2125;p229"/>
          <p:cNvSpPr txBox="1"/>
          <p:nvPr/>
        </p:nvSpPr>
        <p:spPr>
          <a:xfrm>
            <a:off x="7763369" y="2506419"/>
            <a:ext cx="299400" cy="415500"/>
          </a:xfrm>
          <a:prstGeom prst="rect">
            <a:avLst/>
          </a:prstGeom>
          <a:solidFill>
            <a:srgbClr val="CE0F1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26" name="Google Shape;2126;p229"/>
          <p:cNvCxnSpPr>
            <a:stCxn id="2117" idx="0"/>
          </p:cNvCxnSpPr>
          <p:nvPr/>
        </p:nvCxnSpPr>
        <p:spPr>
          <a:xfrm flipH="1" rot="10800000">
            <a:off x="636514" y="1867322"/>
            <a:ext cx="5100" cy="7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229"/>
          <p:cNvCxnSpPr>
            <a:endCxn id="2125" idx="2"/>
          </p:cNvCxnSpPr>
          <p:nvPr/>
        </p:nvCxnSpPr>
        <p:spPr>
          <a:xfrm flipH="1" rot="10800000">
            <a:off x="7910669" y="2921919"/>
            <a:ext cx="2400" cy="6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229"/>
          <p:cNvCxnSpPr>
            <a:endCxn id="2118" idx="2"/>
          </p:cNvCxnSpPr>
          <p:nvPr/>
        </p:nvCxnSpPr>
        <p:spPr>
          <a:xfrm flipH="1" rot="10800000">
            <a:off x="3508799" y="2986322"/>
            <a:ext cx="1500" cy="5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229"/>
          <p:cNvCxnSpPr>
            <a:stCxn id="2119" idx="0"/>
          </p:cNvCxnSpPr>
          <p:nvPr/>
        </p:nvCxnSpPr>
        <p:spPr>
          <a:xfrm flipH="1" rot="10800000">
            <a:off x="4151537" y="2383022"/>
            <a:ext cx="3900" cy="18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0" name="Google Shape;2130;p229"/>
          <p:cNvSpPr txBox="1"/>
          <p:nvPr/>
        </p:nvSpPr>
        <p:spPr>
          <a:xfrm>
            <a:off x="369875" y="1006075"/>
            <a:ext cx="194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Onboarding Module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1" name="Google Shape;2131;p229"/>
          <p:cNvSpPr txBox="1"/>
          <p:nvPr/>
        </p:nvSpPr>
        <p:spPr>
          <a:xfrm>
            <a:off x="3929322" y="961900"/>
            <a:ext cx="168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Extraction Module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2" name="Google Shape;2132;p229"/>
          <p:cNvSpPr txBox="1"/>
          <p:nvPr/>
        </p:nvSpPr>
        <p:spPr>
          <a:xfrm>
            <a:off x="1268827" y="3193510"/>
            <a:ext cx="168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 Module 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3" name="Google Shape;2133;p229"/>
          <p:cNvSpPr txBox="1"/>
          <p:nvPr/>
        </p:nvSpPr>
        <p:spPr>
          <a:xfrm>
            <a:off x="5685631" y="3135722"/>
            <a:ext cx="168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Module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230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39" name="Google Shape;2139;p230"/>
          <p:cNvSpPr txBox="1"/>
          <p:nvPr>
            <p:ph type="title"/>
          </p:nvPr>
        </p:nvSpPr>
        <p:spPr>
          <a:xfrm>
            <a:off x="169301" y="138900"/>
            <a:ext cx="7945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</a:t>
            </a:r>
            <a:r>
              <a:rPr lang="en" sz="2000">
                <a:solidFill>
                  <a:srgbClr val="1C43B9"/>
                </a:solidFill>
              </a:rPr>
              <a:t>BSA Extract-All API</a:t>
            </a:r>
            <a:r>
              <a:rPr lang="en" sz="2000"/>
              <a:t>:  Transaction Level Data from Scanned Statements</a:t>
            </a:r>
            <a:endParaRPr sz="2000"/>
          </a:p>
        </p:txBody>
      </p:sp>
      <p:pic>
        <p:nvPicPr>
          <p:cNvPr id="2140" name="Google Shape;2140;p230"/>
          <p:cNvPicPr preferRelativeResize="0"/>
          <p:nvPr/>
        </p:nvPicPr>
        <p:blipFill rotWithShape="1">
          <a:blip r:embed="rId3">
            <a:alphaModFix/>
          </a:blip>
          <a:srcRect b="0" l="13371" r="13202" t="0"/>
          <a:stretch/>
        </p:blipFill>
        <p:spPr>
          <a:xfrm>
            <a:off x="4309675" y="3858422"/>
            <a:ext cx="510350" cy="557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1" name="Google Shape;2141;p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800" y="2988667"/>
            <a:ext cx="570510" cy="5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2" name="Google Shape;2142;p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7800" y="2282491"/>
            <a:ext cx="570500" cy="496414"/>
          </a:xfrm>
          <a:prstGeom prst="rect">
            <a:avLst/>
          </a:prstGeom>
          <a:noFill/>
          <a:ln>
            <a:noFill/>
          </a:ln>
        </p:spPr>
      </p:pic>
      <p:sp>
        <p:nvSpPr>
          <p:cNvPr id="2143" name="Google Shape;2143;p230"/>
          <p:cNvSpPr/>
          <p:nvPr/>
        </p:nvSpPr>
        <p:spPr>
          <a:xfrm>
            <a:off x="5000025" y="2241878"/>
            <a:ext cx="3646800" cy="564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LLM powered OCR </a:t>
            </a: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 to extract data from scanned statements </a:t>
            </a:r>
            <a:r>
              <a:rPr b="1" lang="en" sz="12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within minutes</a:t>
            </a:r>
            <a:endParaRPr b="1" sz="1200">
              <a:solidFill>
                <a:srgbClr val="1C43B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4" name="Google Shape;2144;p230"/>
          <p:cNvSpPr/>
          <p:nvPr/>
        </p:nvSpPr>
        <p:spPr>
          <a:xfrm>
            <a:off x="5000025" y="3798328"/>
            <a:ext cx="3646800" cy="564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Tampering Checks</a:t>
            </a: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PDF Documents to identify document irregularities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5" name="Google Shape;2145;p230"/>
          <p:cNvSpPr/>
          <p:nvPr/>
        </p:nvSpPr>
        <p:spPr>
          <a:xfrm>
            <a:off x="5000025" y="2975303"/>
            <a:ext cx="3646800" cy="5643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 </a:t>
            </a:r>
            <a:r>
              <a:rPr b="1" lang="en" sz="12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custom bank statement</a:t>
            </a: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" sz="12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templates</a:t>
            </a: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enable data extraction for e-statements</a:t>
            </a:r>
            <a:endParaRPr b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46" name="Google Shape;2146;p2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494" y="1203100"/>
            <a:ext cx="3488430" cy="3488430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230"/>
          <p:cNvSpPr txBox="1"/>
          <p:nvPr/>
        </p:nvSpPr>
        <p:spPr>
          <a:xfrm>
            <a:off x="4585175" y="938700"/>
            <a:ext cx="3666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Everything in Pre-check API 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Tabulation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48" name="Google Shape;2148;p2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7862" y="1069265"/>
            <a:ext cx="227322" cy="227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9" name="Google Shape;2149;p2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7862" y="1495878"/>
            <a:ext cx="227322" cy="22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231"/>
          <p:cNvSpPr txBox="1"/>
          <p:nvPr>
            <p:ph idx="12" type="sldNum"/>
          </p:nvPr>
        </p:nvSpPr>
        <p:spPr>
          <a:xfrm>
            <a:off x="131944" y="4803525"/>
            <a:ext cx="323100" cy="346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55" name="Google Shape;2155;p231"/>
          <p:cNvSpPr txBox="1"/>
          <p:nvPr>
            <p:ph type="title"/>
          </p:nvPr>
        </p:nvSpPr>
        <p:spPr>
          <a:xfrm>
            <a:off x="169301" y="138900"/>
            <a:ext cx="79455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</a:t>
            </a:r>
            <a:r>
              <a:rPr lang="en" sz="2000">
                <a:solidFill>
                  <a:srgbClr val="1C43B9"/>
                </a:solidFill>
              </a:rPr>
              <a:t>BSA Analytics API</a:t>
            </a:r>
            <a:r>
              <a:rPr lang="en" sz="2000"/>
              <a:t>: Perform Comprehensive Analytics on Extracted Transaction Data</a:t>
            </a:r>
            <a:endParaRPr sz="2000"/>
          </a:p>
        </p:txBody>
      </p:sp>
      <p:pic>
        <p:nvPicPr>
          <p:cNvPr id="2156" name="Google Shape;2156;p231"/>
          <p:cNvPicPr preferRelativeResize="0"/>
          <p:nvPr/>
        </p:nvPicPr>
        <p:blipFill rotWithShape="1">
          <a:blip r:embed="rId3">
            <a:alphaModFix/>
          </a:blip>
          <a:srcRect b="1458" l="0" r="45885" t="0"/>
          <a:stretch/>
        </p:blipFill>
        <p:spPr>
          <a:xfrm>
            <a:off x="424075" y="1023425"/>
            <a:ext cx="4321751" cy="385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7" name="Google Shape;2157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592" y="1173417"/>
            <a:ext cx="264474" cy="26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231"/>
          <p:cNvSpPr/>
          <p:nvPr/>
        </p:nvSpPr>
        <p:spPr>
          <a:xfrm>
            <a:off x="5265551" y="1153925"/>
            <a:ext cx="35505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Accurate Salary Detection using Keyword + Pattern recognition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59" name="Google Shape;2159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592" y="1783017"/>
            <a:ext cx="264474" cy="26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60" name="Google Shape;2160;p231"/>
          <p:cNvSpPr/>
          <p:nvPr/>
        </p:nvSpPr>
        <p:spPr>
          <a:xfrm>
            <a:off x="5265550" y="1753800"/>
            <a:ext cx="37260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Accurate Detection of EMI / Obligations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1" name="Google Shape;2161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592" y="2392617"/>
            <a:ext cx="264474" cy="26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31"/>
          <p:cNvSpPr/>
          <p:nvPr/>
        </p:nvSpPr>
        <p:spPr>
          <a:xfrm>
            <a:off x="5265551" y="2363384"/>
            <a:ext cx="35505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Cash Flow Analysis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3" name="Google Shape;2163;p231"/>
          <p:cNvSpPr/>
          <p:nvPr/>
        </p:nvSpPr>
        <p:spPr>
          <a:xfrm>
            <a:off x="4990500" y="3629067"/>
            <a:ext cx="3825600" cy="1074300"/>
          </a:xfrm>
          <a:prstGeom prst="roundRect">
            <a:avLst>
              <a:gd fmla="val 8801" name="adj"/>
            </a:avLst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Customize the output parameters</a:t>
            </a:r>
            <a:r>
              <a:rPr b="1"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&amp; </a:t>
            </a:r>
            <a:r>
              <a:rPr b="1" lang="en" sz="1300">
                <a:solidFill>
                  <a:srgbClr val="1C43B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risk-scores</a:t>
            </a:r>
            <a:r>
              <a:rPr b="1"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per your existing integrations &amp; use-case requirements</a:t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64" name="Google Shape;2164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592" y="3011959"/>
            <a:ext cx="264474" cy="264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231"/>
          <p:cNvSpPr/>
          <p:nvPr/>
        </p:nvSpPr>
        <p:spPr>
          <a:xfrm>
            <a:off x="5265551" y="2982725"/>
            <a:ext cx="3550500" cy="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Fraud Triggers</a:t>
            </a:r>
            <a:endParaRPr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232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  <p:sp>
        <p:nvSpPr>
          <p:cNvPr id="2171" name="Google Shape;2171;p232"/>
          <p:cNvSpPr txBox="1"/>
          <p:nvPr/>
        </p:nvSpPr>
        <p:spPr>
          <a:xfrm>
            <a:off x="176625" y="219475"/>
            <a:ext cx="82815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Product Specifications - Core</a:t>
            </a:r>
            <a:endParaRPr b="1" sz="2400">
              <a:solidFill>
                <a:schemeClr val="dk1"/>
              </a:solidFill>
            </a:endParaRPr>
          </a:p>
        </p:txBody>
      </p:sp>
      <p:graphicFrame>
        <p:nvGraphicFramePr>
          <p:cNvPr id="2172" name="Google Shape;2172;p232"/>
          <p:cNvGraphicFramePr/>
          <p:nvPr/>
        </p:nvGraphicFramePr>
        <p:xfrm>
          <a:off x="952500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760875"/>
                <a:gridCol w="2531000"/>
                <a:gridCol w="3947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Sl no.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Functionality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Details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101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Consumption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Via API Suite OR via Dashboard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Modes of Data Collection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E-Statement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Scanned Document 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Net-Banking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Account Aggregator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Offerings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Pre-Check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Extract-All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FCU Checks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Analysis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233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  <p:sp>
        <p:nvSpPr>
          <p:cNvPr id="2178" name="Google Shape;2178;p233"/>
          <p:cNvSpPr txBox="1"/>
          <p:nvPr/>
        </p:nvSpPr>
        <p:spPr>
          <a:xfrm>
            <a:off x="176625" y="219475"/>
            <a:ext cx="82815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Product Specifications - Core</a:t>
            </a:r>
            <a:endParaRPr b="1" sz="2400">
              <a:solidFill>
                <a:schemeClr val="dk1"/>
              </a:solidFill>
            </a:endParaRPr>
          </a:p>
        </p:txBody>
      </p:sp>
      <p:graphicFrame>
        <p:nvGraphicFramePr>
          <p:cNvPr id="2179" name="Google Shape;2179;p233"/>
          <p:cNvGraphicFramePr/>
          <p:nvPr/>
        </p:nvGraphicFramePr>
        <p:xfrm>
          <a:off x="952500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{104D7E3E-E010-427D-B9FD-51E2891AF019}</a:tableStyleId>
              </a:tblPr>
              <a:tblGrid>
                <a:gridCol w="693425"/>
                <a:gridCol w="2404575"/>
                <a:gridCol w="4141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Sl no.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Functionality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10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</a:rPr>
                        <a:t>Details</a:t>
                      </a:r>
                      <a:endParaRPr b="1" sz="1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E1010"/>
                    </a:solidFill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Fraud Signals covered to detect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Document Fraud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Income / Salary Fraud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User Persona / Lifestyle based Triggers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row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Analysis Capabilities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>
                  <a:txBody>
                    <a:bodyPr/>
                    <a:lstStyle/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Month-wise ratios &amp; EOD - based data-points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Income analytics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Loan, EMI &amp; Debt  transaction detection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Transaction categorisation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Credit &amp; Debit Profiling</a:t>
                      </a:r>
                      <a:endParaRPr sz="1000"/>
                    </a:p>
                    <a:p>
                      <a:pPr indent="-292100" lvl="0" marL="45720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rabicPeriod"/>
                      </a:pPr>
                      <a:r>
                        <a:rPr lang="en" sz="1000"/>
                        <a:t>Scoring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  <a:tr h="381000">
                <a:tc vMerge="1"/>
                <a:tc v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234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 b="0" sz="1100">
              <a:solidFill>
                <a:srgbClr val="000000"/>
              </a:solidFill>
            </a:endParaRPr>
          </a:p>
        </p:txBody>
      </p:sp>
      <p:sp>
        <p:nvSpPr>
          <p:cNvPr id="2185" name="Google Shape;2185;p234"/>
          <p:cNvSpPr txBox="1"/>
          <p:nvPr/>
        </p:nvSpPr>
        <p:spPr>
          <a:xfrm>
            <a:off x="184775" y="147675"/>
            <a:ext cx="8274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Spectrum from risk to sure shot fraud..</a:t>
            </a:r>
            <a:endParaRPr b="1" sz="2400">
              <a:solidFill>
                <a:schemeClr val="dk1"/>
              </a:solidFill>
            </a:endParaRPr>
          </a:p>
        </p:txBody>
      </p:sp>
      <p:cxnSp>
        <p:nvCxnSpPr>
          <p:cNvPr id="2186" name="Google Shape;2186;p234"/>
          <p:cNvCxnSpPr/>
          <p:nvPr/>
        </p:nvCxnSpPr>
        <p:spPr>
          <a:xfrm flipH="1" rot="10800000">
            <a:off x="4516019" y="892950"/>
            <a:ext cx="9300" cy="3764100"/>
          </a:xfrm>
          <a:prstGeom prst="straightConnector1">
            <a:avLst/>
          </a:prstGeom>
          <a:noFill/>
          <a:ln cap="flat" cmpd="sng" w="9525">
            <a:solidFill>
              <a:srgbClr val="1C43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7" name="Google Shape;2187;p234"/>
          <p:cNvSpPr txBox="1"/>
          <p:nvPr/>
        </p:nvSpPr>
        <p:spPr>
          <a:xfrm>
            <a:off x="-377425" y="968146"/>
            <a:ext cx="48459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Metadata Failure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metadata Failure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Font &amp; Format Mismatch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 Recon Failure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Irregular or Multiple Salary detected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Salary Issuer Authenticity Failure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Associated party transactions check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Cheque Bounce detected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EMI Bounce detected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Lifestyle Checks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Transaction Behaviour Checks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Cash Activity Checks</a:t>
            </a:r>
            <a:endParaRPr b="1"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8" name="Google Shape;2188;p234"/>
          <p:cNvSpPr/>
          <p:nvPr/>
        </p:nvSpPr>
        <p:spPr>
          <a:xfrm rot="5400000">
            <a:off x="5040900" y="666550"/>
            <a:ext cx="73200" cy="9474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9" name="Google Shape;2189;p234"/>
          <p:cNvSpPr/>
          <p:nvPr/>
        </p:nvSpPr>
        <p:spPr>
          <a:xfrm rot="5400000">
            <a:off x="5541502" y="449149"/>
            <a:ext cx="75600" cy="19515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0" name="Google Shape;2190;p234"/>
          <p:cNvSpPr/>
          <p:nvPr/>
        </p:nvSpPr>
        <p:spPr>
          <a:xfrm rot="5400000">
            <a:off x="5543232" y="731073"/>
            <a:ext cx="84300" cy="19632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1" name="Google Shape;2191;p234"/>
          <p:cNvSpPr txBox="1"/>
          <p:nvPr/>
        </p:nvSpPr>
        <p:spPr>
          <a:xfrm>
            <a:off x="4302000" y="550200"/>
            <a:ext cx="3132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Fraud severity scale</a:t>
            </a:r>
            <a:endParaRPr b="1" sz="9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	       2		3    </a:t>
            </a:r>
            <a:endParaRPr b="1" sz="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2" name="Google Shape;2192;p234"/>
          <p:cNvSpPr/>
          <p:nvPr/>
        </p:nvSpPr>
        <p:spPr>
          <a:xfrm rot="5400000">
            <a:off x="5054892" y="1557038"/>
            <a:ext cx="86400" cy="9888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3" name="Google Shape;2193;p234"/>
          <p:cNvSpPr/>
          <p:nvPr/>
        </p:nvSpPr>
        <p:spPr>
          <a:xfrm rot="5400000">
            <a:off x="5056542" y="1841135"/>
            <a:ext cx="83100" cy="9888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4" name="Google Shape;2194;p234"/>
          <p:cNvSpPr/>
          <p:nvPr/>
        </p:nvSpPr>
        <p:spPr>
          <a:xfrm rot="5400000">
            <a:off x="5543232" y="1682345"/>
            <a:ext cx="84300" cy="19632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5" name="Google Shape;2195;p234"/>
          <p:cNvSpPr/>
          <p:nvPr/>
        </p:nvSpPr>
        <p:spPr>
          <a:xfrm rot="5400000">
            <a:off x="5045195" y="2475997"/>
            <a:ext cx="93300" cy="9762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6" name="Google Shape;2196;p234"/>
          <p:cNvSpPr/>
          <p:nvPr/>
        </p:nvSpPr>
        <p:spPr>
          <a:xfrm rot="5400000">
            <a:off x="5543232" y="2273649"/>
            <a:ext cx="84300" cy="19632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7" name="Google Shape;2197;p234"/>
          <p:cNvSpPr/>
          <p:nvPr/>
        </p:nvSpPr>
        <p:spPr>
          <a:xfrm rot="5400000">
            <a:off x="5543232" y="2569301"/>
            <a:ext cx="84300" cy="19632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8" name="Google Shape;2198;p234"/>
          <p:cNvSpPr/>
          <p:nvPr/>
        </p:nvSpPr>
        <p:spPr>
          <a:xfrm rot="5400000">
            <a:off x="4688526" y="3687984"/>
            <a:ext cx="84900" cy="2550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9" name="Google Shape;2199;p234"/>
          <p:cNvSpPr/>
          <p:nvPr/>
        </p:nvSpPr>
        <p:spPr>
          <a:xfrm rot="5400000">
            <a:off x="5059340" y="3644354"/>
            <a:ext cx="90000" cy="10014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0" name="Google Shape;2200;p234"/>
          <p:cNvSpPr/>
          <p:nvPr/>
        </p:nvSpPr>
        <p:spPr>
          <a:xfrm rot="5400000">
            <a:off x="5545958" y="3484924"/>
            <a:ext cx="76800" cy="1961100"/>
          </a:xfrm>
          <a:prstGeom prst="rect">
            <a:avLst/>
          </a:prstGeom>
          <a:solidFill>
            <a:srgbClr val="CE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9" name="Google Shape;2209;p236"/>
          <p:cNvGraphicFramePr/>
          <p:nvPr/>
        </p:nvGraphicFramePr>
        <p:xfrm>
          <a:off x="5180450" y="120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{923733C8-E407-47DE-8A6F-B6DA574A5005}</a:tableStyleId>
              </a:tblPr>
              <a:tblGrid>
                <a:gridCol w="3444775"/>
              </a:tblGrid>
              <a:tr h="380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Properties not matching with genuine document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3B9"/>
                    </a:solidFill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Producer Different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PDF Timestamp Not same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Encryption is missing in second doc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User access update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Trailer Keys &amp; ID Altered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Image Blueprint Altered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Textual alignment Inconsistent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Media Layout Modified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210" name="Google Shape;2210;p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39" y="1207085"/>
            <a:ext cx="4096812" cy="357234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1" name="Google Shape;2211;p236"/>
          <p:cNvSpPr txBox="1"/>
          <p:nvPr>
            <p:ph type="title"/>
          </p:nvPr>
        </p:nvSpPr>
        <p:spPr>
          <a:xfrm>
            <a:off x="311519" y="172425"/>
            <a:ext cx="7292700" cy="952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Case - I : Document Fraud Detected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237"/>
          <p:cNvSpPr/>
          <p:nvPr/>
        </p:nvSpPr>
        <p:spPr>
          <a:xfrm>
            <a:off x="4946088" y="86167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7" name="Google Shape;2217;p237"/>
          <p:cNvSpPr/>
          <p:nvPr/>
        </p:nvSpPr>
        <p:spPr>
          <a:xfrm>
            <a:off x="2904375" y="83612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8" name="Google Shape;2218;p237"/>
          <p:cNvSpPr txBox="1"/>
          <p:nvPr>
            <p:ph type="title"/>
          </p:nvPr>
        </p:nvSpPr>
        <p:spPr>
          <a:xfrm>
            <a:off x="131944" y="103725"/>
            <a:ext cx="7292700" cy="520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lang="en" sz="2100"/>
              <a:t>Our proprietary AI/ML layer is designed to give unparalleled insights</a:t>
            </a:r>
            <a:endParaRPr sz="2100"/>
          </a:p>
        </p:txBody>
      </p:sp>
      <p:sp>
        <p:nvSpPr>
          <p:cNvPr id="2219" name="Google Shape;2219;p237"/>
          <p:cNvSpPr/>
          <p:nvPr/>
        </p:nvSpPr>
        <p:spPr>
          <a:xfrm>
            <a:off x="868950" y="861675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0" name="Google Shape;2220;p237"/>
          <p:cNvSpPr/>
          <p:nvPr/>
        </p:nvSpPr>
        <p:spPr>
          <a:xfrm>
            <a:off x="6960413" y="836113"/>
            <a:ext cx="1257300" cy="370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1" name="Google Shape;2221;p237"/>
          <p:cNvSpPr txBox="1"/>
          <p:nvPr/>
        </p:nvSpPr>
        <p:spPr>
          <a:xfrm>
            <a:off x="950394" y="1780828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Upload PDF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2" name="Google Shape;2222;p237"/>
          <p:cNvSpPr txBox="1"/>
          <p:nvPr/>
        </p:nvSpPr>
        <p:spPr>
          <a:xfrm>
            <a:off x="995525" y="2821603"/>
            <a:ext cx="9420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Netbanking Fetch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3" name="Google Shape;2223;p237"/>
          <p:cNvSpPr txBox="1"/>
          <p:nvPr/>
        </p:nvSpPr>
        <p:spPr>
          <a:xfrm>
            <a:off x="982069" y="3862369"/>
            <a:ext cx="10074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Aggregator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4" name="Google Shape;2224;p237"/>
          <p:cNvSpPr/>
          <p:nvPr/>
        </p:nvSpPr>
        <p:spPr>
          <a:xfrm>
            <a:off x="1014763" y="701900"/>
            <a:ext cx="9420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5" name="Google Shape;2225;p237"/>
          <p:cNvSpPr/>
          <p:nvPr/>
        </p:nvSpPr>
        <p:spPr>
          <a:xfrm>
            <a:off x="5119275" y="701900"/>
            <a:ext cx="9765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Intelligence Layer</a:t>
            </a:r>
            <a:endParaRPr b="1" sz="1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6" name="Google Shape;2226;p237"/>
          <p:cNvSpPr/>
          <p:nvPr/>
        </p:nvSpPr>
        <p:spPr>
          <a:xfrm>
            <a:off x="7129319" y="642363"/>
            <a:ext cx="9195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 Modules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7" name="Google Shape;2227;p237"/>
          <p:cNvSpPr txBox="1"/>
          <p:nvPr/>
        </p:nvSpPr>
        <p:spPr>
          <a:xfrm>
            <a:off x="7118075" y="1721900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Dashboard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8" name="Google Shape;2228;p237"/>
          <p:cNvSpPr txBox="1"/>
          <p:nvPr/>
        </p:nvSpPr>
        <p:spPr>
          <a:xfrm>
            <a:off x="7153150" y="2656625"/>
            <a:ext cx="942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Excel Response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9" name="Google Shape;2229;p237"/>
          <p:cNvSpPr txBox="1"/>
          <p:nvPr/>
        </p:nvSpPr>
        <p:spPr>
          <a:xfrm>
            <a:off x="7066750" y="3743750"/>
            <a:ext cx="11148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JSON Integration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0" name="Google Shape;2230;p237"/>
          <p:cNvSpPr/>
          <p:nvPr/>
        </p:nvSpPr>
        <p:spPr>
          <a:xfrm rot="5400000">
            <a:off x="5377544" y="27833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31" name="Google Shape;2231;p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337" y="13094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2" name="Google Shape;2232;p2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125" y="2174750"/>
            <a:ext cx="520425" cy="5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3" name="Google Shape;2233;p2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7925" y="3391050"/>
            <a:ext cx="392000" cy="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4" name="Google Shape;2234;p2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44100" y="1260473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5" name="Google Shape;2235;p2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44098" y="3293100"/>
            <a:ext cx="489949" cy="48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6" name="Google Shape;2236;p2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24475" y="2270300"/>
            <a:ext cx="392000" cy="3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237"/>
          <p:cNvSpPr/>
          <p:nvPr/>
        </p:nvSpPr>
        <p:spPr>
          <a:xfrm rot="5400000">
            <a:off x="1283759" y="27833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8" name="Google Shape;2238;p237"/>
          <p:cNvSpPr txBox="1"/>
          <p:nvPr/>
        </p:nvSpPr>
        <p:spPr>
          <a:xfrm>
            <a:off x="3055500" y="1576700"/>
            <a:ext cx="1007400" cy="831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Bank Statement Extraction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39" name="Google Shape;2239;p237"/>
          <p:cNvCxnSpPr>
            <a:stCxn id="2240" idx="0"/>
            <a:endCxn id="2238" idx="2"/>
          </p:cNvCxnSpPr>
          <p:nvPr/>
        </p:nvCxnSpPr>
        <p:spPr>
          <a:xfrm rot="10800000">
            <a:off x="3559263" y="2408725"/>
            <a:ext cx="9000" cy="71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41" name="Google Shape;2241;p237"/>
          <p:cNvSpPr/>
          <p:nvPr/>
        </p:nvSpPr>
        <p:spPr>
          <a:xfrm>
            <a:off x="3054500" y="701900"/>
            <a:ext cx="1007400" cy="3690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Enrichment</a:t>
            </a:r>
            <a:endParaRPr b="1"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2" name="Google Shape;2242;p2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88587" y="1475393"/>
            <a:ext cx="333876" cy="333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3" name="Google Shape;2243;p237"/>
          <p:cNvSpPr txBox="1"/>
          <p:nvPr/>
        </p:nvSpPr>
        <p:spPr>
          <a:xfrm>
            <a:off x="5087075" y="1894450"/>
            <a:ext cx="936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Scoring Engines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4" name="Google Shape;2244;p2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88587" y="2454906"/>
            <a:ext cx="333875" cy="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5" name="Google Shape;2245;p2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88587" y="3473013"/>
            <a:ext cx="333875" cy="3338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6" name="Google Shape;2246;p237"/>
          <p:cNvSpPr txBox="1"/>
          <p:nvPr/>
        </p:nvSpPr>
        <p:spPr>
          <a:xfrm>
            <a:off x="5156075" y="3843613"/>
            <a:ext cx="798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Analysis</a:t>
            </a:r>
            <a:endParaRPr b="1"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7" name="Google Shape;2247;p237"/>
          <p:cNvSpPr txBox="1"/>
          <p:nvPr/>
        </p:nvSpPr>
        <p:spPr>
          <a:xfrm>
            <a:off x="5067275" y="2825525"/>
            <a:ext cx="976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Triangulation</a:t>
            </a:r>
            <a:endParaRPr b="1" sz="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0" name="Google Shape;2240;p237"/>
          <p:cNvSpPr txBox="1"/>
          <p:nvPr/>
        </p:nvSpPr>
        <p:spPr>
          <a:xfrm>
            <a:off x="3064563" y="3122125"/>
            <a:ext cx="1007400" cy="831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Enrichment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8" name="Google Shape;2248;p237"/>
          <p:cNvSpPr/>
          <p:nvPr/>
        </p:nvSpPr>
        <p:spPr>
          <a:xfrm rot="5400000">
            <a:off x="3303647" y="2725363"/>
            <a:ext cx="2487000" cy="288000"/>
          </a:xfrm>
          <a:prstGeom prst="triangle">
            <a:avLst>
              <a:gd fmla="val 50000" name="adj"/>
            </a:avLst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49" name="Google Shape;2249;p237"/>
          <p:cNvCxnSpPr/>
          <p:nvPr/>
        </p:nvCxnSpPr>
        <p:spPr>
          <a:xfrm flipH="1" rot="10800000">
            <a:off x="978575" y="4798700"/>
            <a:ext cx="7346700" cy="3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0" name="Google Shape;2250;p237"/>
          <p:cNvSpPr txBox="1"/>
          <p:nvPr/>
        </p:nvSpPr>
        <p:spPr>
          <a:xfrm>
            <a:off x="3983700" y="4650500"/>
            <a:ext cx="1114800" cy="3339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20 Secs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